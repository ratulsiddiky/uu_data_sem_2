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4481" r:id="rId2"/>
    <p:sldMasterId id="2147484496" r:id="rId3"/>
  </p:sldMasterIdLst>
  <p:notesMasterIdLst>
    <p:notesMasterId r:id="rId44"/>
  </p:notesMasterIdLst>
  <p:handoutMasterIdLst>
    <p:handoutMasterId r:id="rId45"/>
  </p:handoutMasterIdLst>
  <p:sldIdLst>
    <p:sldId id="392" r:id="rId4"/>
    <p:sldId id="393" r:id="rId5"/>
    <p:sldId id="375" r:id="rId6"/>
    <p:sldId id="374" r:id="rId7"/>
    <p:sldId id="258" r:id="rId8"/>
    <p:sldId id="259" r:id="rId9"/>
    <p:sldId id="260" r:id="rId10"/>
    <p:sldId id="261" r:id="rId11"/>
    <p:sldId id="376" r:id="rId12"/>
    <p:sldId id="262" r:id="rId13"/>
    <p:sldId id="263" r:id="rId14"/>
    <p:sldId id="264" r:id="rId15"/>
    <p:sldId id="265" r:id="rId16"/>
    <p:sldId id="271" r:id="rId17"/>
    <p:sldId id="273" r:id="rId18"/>
    <p:sldId id="288" r:id="rId19"/>
    <p:sldId id="289" r:id="rId20"/>
    <p:sldId id="292" r:id="rId21"/>
    <p:sldId id="329" r:id="rId22"/>
    <p:sldId id="296" r:id="rId23"/>
    <p:sldId id="379" r:id="rId24"/>
    <p:sldId id="331" r:id="rId25"/>
    <p:sldId id="297" r:id="rId26"/>
    <p:sldId id="298" r:id="rId27"/>
    <p:sldId id="299" r:id="rId28"/>
    <p:sldId id="333" r:id="rId29"/>
    <p:sldId id="335" r:id="rId30"/>
    <p:sldId id="301" r:id="rId31"/>
    <p:sldId id="302" r:id="rId32"/>
    <p:sldId id="303" r:id="rId33"/>
    <p:sldId id="306" r:id="rId34"/>
    <p:sldId id="309" r:id="rId35"/>
    <p:sldId id="304" r:id="rId36"/>
    <p:sldId id="341" r:id="rId37"/>
    <p:sldId id="310" r:id="rId38"/>
    <p:sldId id="314" r:id="rId39"/>
    <p:sldId id="316" r:id="rId40"/>
    <p:sldId id="317" r:id="rId41"/>
    <p:sldId id="318" r:id="rId42"/>
    <p:sldId id="391" r:id="rId43"/>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1D5BC7-7B04-43E9-ABA4-82237410A363}" v="5" dt="2024-01-24T18:25:22.7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22" autoAdjust="0"/>
    <p:restoredTop sz="68625" autoAdjust="0"/>
  </p:normalViewPr>
  <p:slideViewPr>
    <p:cSldViewPr>
      <p:cViewPr varScale="1">
        <p:scale>
          <a:sx n="76" d="100"/>
          <a:sy n="76" d="100"/>
        </p:scale>
        <p:origin x="2172" y="84"/>
      </p:cViewPr>
      <p:guideLst>
        <p:guide orient="horz" pos="2160"/>
        <p:guide pos="384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7859FB-537D-FB4D-86DC-1559375A0870}" type="doc">
      <dgm:prSet loTypeId="urn:microsoft.com/office/officeart/2005/8/layout/hierarchy3" loCatId="list" qsTypeId="urn:microsoft.com/office/officeart/2005/8/quickstyle/simple4" qsCatId="simple" csTypeId="urn:microsoft.com/office/officeart/2005/8/colors/accent1_2" csCatId="accent1" phldr="1"/>
      <dgm:spPr/>
      <dgm:t>
        <a:bodyPr/>
        <a:lstStyle/>
        <a:p>
          <a:endParaRPr lang="en-US"/>
        </a:p>
      </dgm:t>
    </dgm:pt>
    <dgm:pt modelId="{E2E857DE-14DF-4348-B91D-6B07A32100CA}">
      <dgm:prSet custT="1"/>
      <dgm:spPr/>
      <dgm:t>
        <a:bodyPr/>
        <a:lstStyle/>
        <a:p>
          <a:pPr rtl="0"/>
          <a:r>
            <a:rPr lang="en-US" sz="3600" dirty="0"/>
            <a:t>Real memory</a:t>
          </a:r>
        </a:p>
      </dgm:t>
    </dgm:pt>
    <dgm:pt modelId="{B1CDA7D0-5EEB-754D-8735-96223C8C1E85}" type="parTrans" cxnId="{427B5CC2-79CD-224D-9F6B-D563C5F8D2FC}">
      <dgm:prSet/>
      <dgm:spPr/>
      <dgm:t>
        <a:bodyPr/>
        <a:lstStyle/>
        <a:p>
          <a:endParaRPr lang="en-US"/>
        </a:p>
      </dgm:t>
    </dgm:pt>
    <dgm:pt modelId="{9D638945-8C30-E040-B572-E076D16608C3}" type="sibTrans" cxnId="{427B5CC2-79CD-224D-9F6B-D563C5F8D2FC}">
      <dgm:prSet/>
      <dgm:spPr/>
      <dgm:t>
        <a:bodyPr/>
        <a:lstStyle/>
        <a:p>
          <a:endParaRPr lang="en-US"/>
        </a:p>
      </dgm:t>
    </dgm:pt>
    <dgm:pt modelId="{8F252449-EE3C-D64E-8051-BC1E354AA83D}">
      <dgm:prSet custT="1"/>
      <dgm:spPr/>
      <dgm:t>
        <a:bodyPr/>
        <a:lstStyle/>
        <a:p>
          <a:pPr rtl="0"/>
          <a:r>
            <a:rPr lang="en-US" sz="2200" dirty="0"/>
            <a:t>Main memory, the actual RAM</a:t>
          </a:r>
        </a:p>
      </dgm:t>
    </dgm:pt>
    <dgm:pt modelId="{023BD5FB-C6E0-8C4C-B8F2-61E800B01AC1}" type="parTrans" cxnId="{E92209DB-E2AF-CB4B-8054-53C33523BA4C}">
      <dgm:prSet/>
      <dgm:spPr/>
      <dgm:t>
        <a:bodyPr/>
        <a:lstStyle/>
        <a:p>
          <a:endParaRPr lang="en-US"/>
        </a:p>
      </dgm:t>
    </dgm:pt>
    <dgm:pt modelId="{4A373626-DB19-C640-B2F1-6E3294EAFDFB}" type="sibTrans" cxnId="{E92209DB-E2AF-CB4B-8054-53C33523BA4C}">
      <dgm:prSet/>
      <dgm:spPr/>
      <dgm:t>
        <a:bodyPr/>
        <a:lstStyle/>
        <a:p>
          <a:endParaRPr lang="en-US"/>
        </a:p>
      </dgm:t>
    </dgm:pt>
    <dgm:pt modelId="{1449C7A1-436E-4746-A320-3E622DC380B6}">
      <dgm:prSet custT="1"/>
      <dgm:spPr/>
      <dgm:t>
        <a:bodyPr/>
        <a:lstStyle/>
        <a:p>
          <a:pPr rtl="0"/>
          <a:r>
            <a:rPr lang="en-US" sz="3600" dirty="0"/>
            <a:t>Virtual memory</a:t>
          </a:r>
        </a:p>
      </dgm:t>
    </dgm:pt>
    <dgm:pt modelId="{99D0015B-9991-C54E-AB72-7F0F589EE25C}" type="parTrans" cxnId="{52DAC1B0-1107-BB49-9178-24431B8E229C}">
      <dgm:prSet/>
      <dgm:spPr/>
      <dgm:t>
        <a:bodyPr/>
        <a:lstStyle/>
        <a:p>
          <a:endParaRPr lang="en-US"/>
        </a:p>
      </dgm:t>
    </dgm:pt>
    <dgm:pt modelId="{F4F0F1E7-BB68-C843-A4B2-BEB1A3169005}" type="sibTrans" cxnId="{52DAC1B0-1107-BB49-9178-24431B8E229C}">
      <dgm:prSet/>
      <dgm:spPr/>
      <dgm:t>
        <a:bodyPr/>
        <a:lstStyle/>
        <a:p>
          <a:endParaRPr lang="en-US"/>
        </a:p>
      </dgm:t>
    </dgm:pt>
    <dgm:pt modelId="{68369A64-CB91-8542-8C21-2E99583CE32E}">
      <dgm:prSet custT="1"/>
      <dgm:spPr/>
      <dgm:t>
        <a:bodyPr/>
        <a:lstStyle/>
        <a:p>
          <a:pPr rtl="0"/>
          <a:r>
            <a:rPr lang="en-US" sz="1800" dirty="0"/>
            <a:t>Memory on disk</a:t>
          </a:r>
        </a:p>
      </dgm:t>
    </dgm:pt>
    <dgm:pt modelId="{D2FF24D7-9AF5-334B-992A-74C018C14DEA}" type="parTrans" cxnId="{032D7F8F-205B-9C49-85D4-DC3F06D6E99C}">
      <dgm:prSet/>
      <dgm:spPr/>
      <dgm:t>
        <a:bodyPr/>
        <a:lstStyle/>
        <a:p>
          <a:endParaRPr lang="en-US"/>
        </a:p>
      </dgm:t>
    </dgm:pt>
    <dgm:pt modelId="{B66D837D-180E-3043-A9B6-2CC0F4C0D4AB}" type="sibTrans" cxnId="{032D7F8F-205B-9C49-85D4-DC3F06D6E99C}">
      <dgm:prSet/>
      <dgm:spPr/>
      <dgm:t>
        <a:bodyPr/>
        <a:lstStyle/>
        <a:p>
          <a:endParaRPr lang="en-US"/>
        </a:p>
      </dgm:t>
    </dgm:pt>
    <dgm:pt modelId="{DA9F44CD-3DEE-2648-B9C1-FC414EB33E1C}">
      <dgm:prSet custT="1"/>
      <dgm:spPr/>
      <dgm:t>
        <a:bodyPr/>
        <a:lstStyle/>
        <a:p>
          <a:pPr rtl="0"/>
          <a:r>
            <a:rPr lang="en-US" sz="1800" dirty="0"/>
            <a:t>Allows for effective multiprogramming and relieves the user of tight constraints of main memory</a:t>
          </a:r>
        </a:p>
      </dgm:t>
    </dgm:pt>
    <dgm:pt modelId="{22117FDD-9410-2245-9E6D-04174AC588DB}" type="parTrans" cxnId="{2195229B-4B4B-C144-8B41-2F0CB62A66E7}">
      <dgm:prSet/>
      <dgm:spPr/>
      <dgm:t>
        <a:bodyPr/>
        <a:lstStyle/>
        <a:p>
          <a:endParaRPr lang="en-US"/>
        </a:p>
      </dgm:t>
    </dgm:pt>
    <dgm:pt modelId="{EA65894C-3CBC-D841-A9C5-6BFBCD6B1915}" type="sibTrans" cxnId="{2195229B-4B4B-C144-8B41-2F0CB62A66E7}">
      <dgm:prSet/>
      <dgm:spPr/>
      <dgm:t>
        <a:bodyPr/>
        <a:lstStyle/>
        <a:p>
          <a:endParaRPr lang="en-US"/>
        </a:p>
      </dgm:t>
    </dgm:pt>
    <dgm:pt modelId="{7CC61702-3ED8-DD42-9C2A-EF411444D980}" type="pres">
      <dgm:prSet presAssocID="{817859FB-537D-FB4D-86DC-1559375A0870}" presName="diagram" presStyleCnt="0">
        <dgm:presLayoutVars>
          <dgm:chPref val="1"/>
          <dgm:dir/>
          <dgm:animOne val="branch"/>
          <dgm:animLvl val="lvl"/>
          <dgm:resizeHandles/>
        </dgm:presLayoutVars>
      </dgm:prSet>
      <dgm:spPr/>
    </dgm:pt>
    <dgm:pt modelId="{1EDC5747-879E-D540-B957-257342313A0D}" type="pres">
      <dgm:prSet presAssocID="{E2E857DE-14DF-4348-B91D-6B07A32100CA}" presName="root" presStyleCnt="0"/>
      <dgm:spPr/>
    </dgm:pt>
    <dgm:pt modelId="{C61F2957-5176-D94C-B910-1B71312C9F5C}" type="pres">
      <dgm:prSet presAssocID="{E2E857DE-14DF-4348-B91D-6B07A32100CA}" presName="rootComposite" presStyleCnt="0"/>
      <dgm:spPr/>
    </dgm:pt>
    <dgm:pt modelId="{61631E0D-D0BE-CB43-B62C-83EFB8F80940}" type="pres">
      <dgm:prSet presAssocID="{E2E857DE-14DF-4348-B91D-6B07A32100CA}" presName="rootText" presStyleLbl="node1" presStyleIdx="0" presStyleCnt="2"/>
      <dgm:spPr/>
    </dgm:pt>
    <dgm:pt modelId="{5578A03A-E7AC-2247-8CA5-901E13739B58}" type="pres">
      <dgm:prSet presAssocID="{E2E857DE-14DF-4348-B91D-6B07A32100CA}" presName="rootConnector" presStyleLbl="node1" presStyleIdx="0" presStyleCnt="2"/>
      <dgm:spPr/>
    </dgm:pt>
    <dgm:pt modelId="{FC217D80-A9BA-8F43-B066-7668E6420C42}" type="pres">
      <dgm:prSet presAssocID="{E2E857DE-14DF-4348-B91D-6B07A32100CA}" presName="childShape" presStyleCnt="0"/>
      <dgm:spPr/>
    </dgm:pt>
    <dgm:pt modelId="{9E617053-E223-AD4D-B846-8B3F09EDFEA2}" type="pres">
      <dgm:prSet presAssocID="{023BD5FB-C6E0-8C4C-B8F2-61E800B01AC1}" presName="Name13" presStyleLbl="parChTrans1D2" presStyleIdx="0" presStyleCnt="3"/>
      <dgm:spPr/>
    </dgm:pt>
    <dgm:pt modelId="{D8BA2A55-C5C8-B047-84A4-F82365A88EC3}" type="pres">
      <dgm:prSet presAssocID="{8F252449-EE3C-D64E-8051-BC1E354AA83D}" presName="childText" presStyleLbl="bgAcc1" presStyleIdx="0" presStyleCnt="3">
        <dgm:presLayoutVars>
          <dgm:bulletEnabled val="1"/>
        </dgm:presLayoutVars>
      </dgm:prSet>
      <dgm:spPr/>
    </dgm:pt>
    <dgm:pt modelId="{870E76AD-4AB3-4F45-9C8B-BE83F1FD96BB}" type="pres">
      <dgm:prSet presAssocID="{1449C7A1-436E-4746-A320-3E622DC380B6}" presName="root" presStyleCnt="0"/>
      <dgm:spPr/>
    </dgm:pt>
    <dgm:pt modelId="{8719F07F-0A41-F44D-BE2E-3ADBFA654210}" type="pres">
      <dgm:prSet presAssocID="{1449C7A1-436E-4746-A320-3E622DC380B6}" presName="rootComposite" presStyleCnt="0"/>
      <dgm:spPr/>
    </dgm:pt>
    <dgm:pt modelId="{017134D0-DFF9-3845-AB67-F92A5FA9DE9B}" type="pres">
      <dgm:prSet presAssocID="{1449C7A1-436E-4746-A320-3E622DC380B6}" presName="rootText" presStyleLbl="node1" presStyleIdx="1" presStyleCnt="2"/>
      <dgm:spPr/>
    </dgm:pt>
    <dgm:pt modelId="{06478F6B-7F6A-5E46-9B3D-A734B7D102B9}" type="pres">
      <dgm:prSet presAssocID="{1449C7A1-436E-4746-A320-3E622DC380B6}" presName="rootConnector" presStyleLbl="node1" presStyleIdx="1" presStyleCnt="2"/>
      <dgm:spPr/>
    </dgm:pt>
    <dgm:pt modelId="{CE042C04-59AB-D348-A33A-B2EED4A9B476}" type="pres">
      <dgm:prSet presAssocID="{1449C7A1-436E-4746-A320-3E622DC380B6}" presName="childShape" presStyleCnt="0"/>
      <dgm:spPr/>
    </dgm:pt>
    <dgm:pt modelId="{B7AEB84D-AAD8-BA46-B49E-AF151B590E4E}" type="pres">
      <dgm:prSet presAssocID="{D2FF24D7-9AF5-334B-992A-74C018C14DEA}" presName="Name13" presStyleLbl="parChTrans1D2" presStyleIdx="1" presStyleCnt="3"/>
      <dgm:spPr/>
    </dgm:pt>
    <dgm:pt modelId="{B4B37434-F97A-BF4F-95EE-4DB3B66FAF0B}" type="pres">
      <dgm:prSet presAssocID="{68369A64-CB91-8542-8C21-2E99583CE32E}" presName="childText" presStyleLbl="bgAcc1" presStyleIdx="1" presStyleCnt="3" custScaleX="113681">
        <dgm:presLayoutVars>
          <dgm:bulletEnabled val="1"/>
        </dgm:presLayoutVars>
      </dgm:prSet>
      <dgm:spPr/>
    </dgm:pt>
    <dgm:pt modelId="{AB53BA07-DF39-3E49-AC02-6A3C4C9B3CB2}" type="pres">
      <dgm:prSet presAssocID="{22117FDD-9410-2245-9E6D-04174AC588DB}" presName="Name13" presStyleLbl="parChTrans1D2" presStyleIdx="2" presStyleCnt="3"/>
      <dgm:spPr/>
    </dgm:pt>
    <dgm:pt modelId="{1EC7D058-138B-5B44-B558-2AD60A3A78E7}" type="pres">
      <dgm:prSet presAssocID="{DA9F44CD-3DEE-2648-B9C1-FC414EB33E1C}" presName="childText" presStyleLbl="bgAcc1" presStyleIdx="2" presStyleCnt="3" custScaleX="121506" custScaleY="111848">
        <dgm:presLayoutVars>
          <dgm:bulletEnabled val="1"/>
        </dgm:presLayoutVars>
      </dgm:prSet>
      <dgm:spPr/>
    </dgm:pt>
  </dgm:ptLst>
  <dgm:cxnLst>
    <dgm:cxn modelId="{300AEB0A-F809-C24D-B4B3-7474D63A115B}" type="presOf" srcId="{22117FDD-9410-2245-9E6D-04174AC588DB}" destId="{AB53BA07-DF39-3E49-AC02-6A3C4C9B3CB2}" srcOrd="0" destOrd="0" presId="urn:microsoft.com/office/officeart/2005/8/layout/hierarchy3"/>
    <dgm:cxn modelId="{DFC01B15-A5E9-1247-96E4-C88B39C589A7}" type="presOf" srcId="{E2E857DE-14DF-4348-B91D-6B07A32100CA}" destId="{5578A03A-E7AC-2247-8CA5-901E13739B58}" srcOrd="1" destOrd="0" presId="urn:microsoft.com/office/officeart/2005/8/layout/hierarchy3"/>
    <dgm:cxn modelId="{C478DF2F-ED9A-E94C-93D5-3D291E3D8A0A}" type="presOf" srcId="{023BD5FB-C6E0-8C4C-B8F2-61E800B01AC1}" destId="{9E617053-E223-AD4D-B846-8B3F09EDFEA2}" srcOrd="0" destOrd="0" presId="urn:microsoft.com/office/officeart/2005/8/layout/hierarchy3"/>
    <dgm:cxn modelId="{91BBCD30-A1C3-3B46-A5D4-51E534CA848D}" type="presOf" srcId="{68369A64-CB91-8542-8C21-2E99583CE32E}" destId="{B4B37434-F97A-BF4F-95EE-4DB3B66FAF0B}" srcOrd="0" destOrd="0" presId="urn:microsoft.com/office/officeart/2005/8/layout/hierarchy3"/>
    <dgm:cxn modelId="{17B5235B-1AFC-7642-BAAA-A28B074A487F}" type="presOf" srcId="{DA9F44CD-3DEE-2648-B9C1-FC414EB33E1C}" destId="{1EC7D058-138B-5B44-B558-2AD60A3A78E7}" srcOrd="0" destOrd="0" presId="urn:microsoft.com/office/officeart/2005/8/layout/hierarchy3"/>
    <dgm:cxn modelId="{A77B4C5D-FCE2-9A4F-A1D1-A4082A72700F}" type="presOf" srcId="{E2E857DE-14DF-4348-B91D-6B07A32100CA}" destId="{61631E0D-D0BE-CB43-B62C-83EFB8F80940}" srcOrd="0" destOrd="0" presId="urn:microsoft.com/office/officeart/2005/8/layout/hierarchy3"/>
    <dgm:cxn modelId="{5E257846-92F5-7445-97EE-A50E2D6F473E}" type="presOf" srcId="{1449C7A1-436E-4746-A320-3E622DC380B6}" destId="{017134D0-DFF9-3845-AB67-F92A5FA9DE9B}" srcOrd="0" destOrd="0" presId="urn:microsoft.com/office/officeart/2005/8/layout/hierarchy3"/>
    <dgm:cxn modelId="{9A20C273-9863-504D-9E23-2CA8037755CB}" type="presOf" srcId="{1449C7A1-436E-4746-A320-3E622DC380B6}" destId="{06478F6B-7F6A-5E46-9B3D-A734B7D102B9}" srcOrd="1" destOrd="0" presId="urn:microsoft.com/office/officeart/2005/8/layout/hierarchy3"/>
    <dgm:cxn modelId="{519BE67D-4CB0-DB4F-9ECC-38ED990777A5}" type="presOf" srcId="{D2FF24D7-9AF5-334B-992A-74C018C14DEA}" destId="{B7AEB84D-AAD8-BA46-B49E-AF151B590E4E}" srcOrd="0" destOrd="0" presId="urn:microsoft.com/office/officeart/2005/8/layout/hierarchy3"/>
    <dgm:cxn modelId="{032D7F8F-205B-9C49-85D4-DC3F06D6E99C}" srcId="{1449C7A1-436E-4746-A320-3E622DC380B6}" destId="{68369A64-CB91-8542-8C21-2E99583CE32E}" srcOrd="0" destOrd="0" parTransId="{D2FF24D7-9AF5-334B-992A-74C018C14DEA}" sibTransId="{B66D837D-180E-3043-A9B6-2CC0F4C0D4AB}"/>
    <dgm:cxn modelId="{2195229B-4B4B-C144-8B41-2F0CB62A66E7}" srcId="{1449C7A1-436E-4746-A320-3E622DC380B6}" destId="{DA9F44CD-3DEE-2648-B9C1-FC414EB33E1C}" srcOrd="1" destOrd="0" parTransId="{22117FDD-9410-2245-9E6D-04174AC588DB}" sibTransId="{EA65894C-3CBC-D841-A9C5-6BFBCD6B1915}"/>
    <dgm:cxn modelId="{83675CA0-B53B-2246-8AF9-446C92ECF55B}" type="presOf" srcId="{817859FB-537D-FB4D-86DC-1559375A0870}" destId="{7CC61702-3ED8-DD42-9C2A-EF411444D980}" srcOrd="0" destOrd="0" presId="urn:microsoft.com/office/officeart/2005/8/layout/hierarchy3"/>
    <dgm:cxn modelId="{52DAC1B0-1107-BB49-9178-24431B8E229C}" srcId="{817859FB-537D-FB4D-86DC-1559375A0870}" destId="{1449C7A1-436E-4746-A320-3E622DC380B6}" srcOrd="1" destOrd="0" parTransId="{99D0015B-9991-C54E-AB72-7F0F589EE25C}" sibTransId="{F4F0F1E7-BB68-C843-A4B2-BEB1A3169005}"/>
    <dgm:cxn modelId="{427B5CC2-79CD-224D-9F6B-D563C5F8D2FC}" srcId="{817859FB-537D-FB4D-86DC-1559375A0870}" destId="{E2E857DE-14DF-4348-B91D-6B07A32100CA}" srcOrd="0" destOrd="0" parTransId="{B1CDA7D0-5EEB-754D-8735-96223C8C1E85}" sibTransId="{9D638945-8C30-E040-B572-E076D16608C3}"/>
    <dgm:cxn modelId="{9D6C04CA-503F-FB47-9EFB-866CAD6FD055}" type="presOf" srcId="{8F252449-EE3C-D64E-8051-BC1E354AA83D}" destId="{D8BA2A55-C5C8-B047-84A4-F82365A88EC3}" srcOrd="0" destOrd="0" presId="urn:microsoft.com/office/officeart/2005/8/layout/hierarchy3"/>
    <dgm:cxn modelId="{E92209DB-E2AF-CB4B-8054-53C33523BA4C}" srcId="{E2E857DE-14DF-4348-B91D-6B07A32100CA}" destId="{8F252449-EE3C-D64E-8051-BC1E354AA83D}" srcOrd="0" destOrd="0" parTransId="{023BD5FB-C6E0-8C4C-B8F2-61E800B01AC1}" sibTransId="{4A373626-DB19-C640-B2F1-6E3294EAFDFB}"/>
    <dgm:cxn modelId="{00DCF6DA-5F98-6342-8202-1563A2DEB8A8}" type="presParOf" srcId="{7CC61702-3ED8-DD42-9C2A-EF411444D980}" destId="{1EDC5747-879E-D540-B957-257342313A0D}" srcOrd="0" destOrd="0" presId="urn:microsoft.com/office/officeart/2005/8/layout/hierarchy3"/>
    <dgm:cxn modelId="{C9BB3C0D-602D-744B-BC62-B2FFDF5B3557}" type="presParOf" srcId="{1EDC5747-879E-D540-B957-257342313A0D}" destId="{C61F2957-5176-D94C-B910-1B71312C9F5C}" srcOrd="0" destOrd="0" presId="urn:microsoft.com/office/officeart/2005/8/layout/hierarchy3"/>
    <dgm:cxn modelId="{80FCA071-B9FD-DC4B-9EDB-1E1AE6A5BD02}" type="presParOf" srcId="{C61F2957-5176-D94C-B910-1B71312C9F5C}" destId="{61631E0D-D0BE-CB43-B62C-83EFB8F80940}" srcOrd="0" destOrd="0" presId="urn:microsoft.com/office/officeart/2005/8/layout/hierarchy3"/>
    <dgm:cxn modelId="{C7F00931-1DF3-F749-B77F-4096D4F3709E}" type="presParOf" srcId="{C61F2957-5176-D94C-B910-1B71312C9F5C}" destId="{5578A03A-E7AC-2247-8CA5-901E13739B58}" srcOrd="1" destOrd="0" presId="urn:microsoft.com/office/officeart/2005/8/layout/hierarchy3"/>
    <dgm:cxn modelId="{15B57366-231E-344E-BEB8-209DA2C0F946}" type="presParOf" srcId="{1EDC5747-879E-D540-B957-257342313A0D}" destId="{FC217D80-A9BA-8F43-B066-7668E6420C42}" srcOrd="1" destOrd="0" presId="urn:microsoft.com/office/officeart/2005/8/layout/hierarchy3"/>
    <dgm:cxn modelId="{855D446D-49A8-7A47-A61E-CA12FA1CD4A0}" type="presParOf" srcId="{FC217D80-A9BA-8F43-B066-7668E6420C42}" destId="{9E617053-E223-AD4D-B846-8B3F09EDFEA2}" srcOrd="0" destOrd="0" presId="urn:microsoft.com/office/officeart/2005/8/layout/hierarchy3"/>
    <dgm:cxn modelId="{5F899EEE-2F04-4546-9BBD-2DB39FA3860E}" type="presParOf" srcId="{FC217D80-A9BA-8F43-B066-7668E6420C42}" destId="{D8BA2A55-C5C8-B047-84A4-F82365A88EC3}" srcOrd="1" destOrd="0" presId="urn:microsoft.com/office/officeart/2005/8/layout/hierarchy3"/>
    <dgm:cxn modelId="{54BDF6C5-A757-0E4F-829F-82D3E0D2644E}" type="presParOf" srcId="{7CC61702-3ED8-DD42-9C2A-EF411444D980}" destId="{870E76AD-4AB3-4F45-9C8B-BE83F1FD96BB}" srcOrd="1" destOrd="0" presId="urn:microsoft.com/office/officeart/2005/8/layout/hierarchy3"/>
    <dgm:cxn modelId="{79C059A7-9C1C-FD4A-8CC9-8DE0611F5092}" type="presParOf" srcId="{870E76AD-4AB3-4F45-9C8B-BE83F1FD96BB}" destId="{8719F07F-0A41-F44D-BE2E-3ADBFA654210}" srcOrd="0" destOrd="0" presId="urn:microsoft.com/office/officeart/2005/8/layout/hierarchy3"/>
    <dgm:cxn modelId="{14125F55-F586-DE4E-AB2F-7212F1154115}" type="presParOf" srcId="{8719F07F-0A41-F44D-BE2E-3ADBFA654210}" destId="{017134D0-DFF9-3845-AB67-F92A5FA9DE9B}" srcOrd="0" destOrd="0" presId="urn:microsoft.com/office/officeart/2005/8/layout/hierarchy3"/>
    <dgm:cxn modelId="{051D3737-427D-F146-BE7E-DCEBC43C0B8C}" type="presParOf" srcId="{8719F07F-0A41-F44D-BE2E-3ADBFA654210}" destId="{06478F6B-7F6A-5E46-9B3D-A734B7D102B9}" srcOrd="1" destOrd="0" presId="urn:microsoft.com/office/officeart/2005/8/layout/hierarchy3"/>
    <dgm:cxn modelId="{3B4E5CB8-D68D-744C-9ACA-A5A30D6FE557}" type="presParOf" srcId="{870E76AD-4AB3-4F45-9C8B-BE83F1FD96BB}" destId="{CE042C04-59AB-D348-A33A-B2EED4A9B476}" srcOrd="1" destOrd="0" presId="urn:microsoft.com/office/officeart/2005/8/layout/hierarchy3"/>
    <dgm:cxn modelId="{47BC1F9A-E5C3-484C-A627-7DC12C20534B}" type="presParOf" srcId="{CE042C04-59AB-D348-A33A-B2EED4A9B476}" destId="{B7AEB84D-AAD8-BA46-B49E-AF151B590E4E}" srcOrd="0" destOrd="0" presId="urn:microsoft.com/office/officeart/2005/8/layout/hierarchy3"/>
    <dgm:cxn modelId="{8DB98703-0755-0247-89BF-4C3A66F1DE52}" type="presParOf" srcId="{CE042C04-59AB-D348-A33A-B2EED4A9B476}" destId="{B4B37434-F97A-BF4F-95EE-4DB3B66FAF0B}" srcOrd="1" destOrd="0" presId="urn:microsoft.com/office/officeart/2005/8/layout/hierarchy3"/>
    <dgm:cxn modelId="{77197D4D-D1A1-4446-88D3-9C897A9C6E8D}" type="presParOf" srcId="{CE042C04-59AB-D348-A33A-B2EED4A9B476}" destId="{AB53BA07-DF39-3E49-AC02-6A3C4C9B3CB2}" srcOrd="2" destOrd="0" presId="urn:microsoft.com/office/officeart/2005/8/layout/hierarchy3"/>
    <dgm:cxn modelId="{EC788754-5FA3-0D4A-9D54-FC892ED6D78D}" type="presParOf" srcId="{CE042C04-59AB-D348-A33A-B2EED4A9B476}" destId="{1EC7D058-138B-5B44-B558-2AD60A3A78E7}"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E42422-30B8-7145-AC45-A97345BECA97}" type="doc">
      <dgm:prSet loTypeId="urn:microsoft.com/office/officeart/2005/8/layout/radial6" loCatId="cycle" qsTypeId="urn:microsoft.com/office/officeart/2005/8/quickstyle/simple4" qsCatId="simple" csTypeId="urn:microsoft.com/office/officeart/2005/8/colors/accent1_2" csCatId="accent1" phldr="1"/>
      <dgm:spPr/>
      <dgm:t>
        <a:bodyPr/>
        <a:lstStyle/>
        <a:p>
          <a:endParaRPr lang="en-US"/>
        </a:p>
      </dgm:t>
    </dgm:pt>
    <dgm:pt modelId="{7FE5BBEE-220B-D443-BE6C-37118C441C07}">
      <dgm:prSet/>
      <dgm:spPr/>
      <dgm:t>
        <a:bodyPr/>
        <a:lstStyle/>
        <a:p>
          <a:pPr rtl="0"/>
          <a:r>
            <a:rPr lang="en-US" dirty="0"/>
            <a:t>A state in which the system spends most of its time swapping process pieces rather than executing instructions</a:t>
          </a:r>
        </a:p>
      </dgm:t>
    </dgm:pt>
    <dgm:pt modelId="{9B2380A5-65EC-E142-9220-E61D3A3D0548}" type="parTrans" cxnId="{E0F565FC-4162-DC41-83C3-F43DCF020C2B}">
      <dgm:prSet/>
      <dgm:spPr/>
      <dgm:t>
        <a:bodyPr/>
        <a:lstStyle/>
        <a:p>
          <a:endParaRPr lang="en-US"/>
        </a:p>
      </dgm:t>
    </dgm:pt>
    <dgm:pt modelId="{3CC8AAAC-E7C2-9142-9DFE-FD06660832E6}" type="sibTrans" cxnId="{E0F565FC-4162-DC41-83C3-F43DCF020C2B}">
      <dgm:prSet/>
      <dgm:spPr/>
      <dgm:t>
        <a:bodyPr/>
        <a:lstStyle/>
        <a:p>
          <a:endParaRPr lang="en-US"/>
        </a:p>
      </dgm:t>
    </dgm:pt>
    <dgm:pt modelId="{C6D5CAE6-89A9-A847-9C0C-17D39BB401D3}">
      <dgm:prSet/>
      <dgm:spPr/>
      <dgm:t>
        <a:bodyPr/>
        <a:lstStyle/>
        <a:p>
          <a:pPr rtl="0"/>
          <a:r>
            <a:rPr lang="en-US" dirty="0"/>
            <a:t>To avoid this, the operating system tries to guess, based on recent history, which pieces are least likely to be used in the near future</a:t>
          </a:r>
        </a:p>
      </dgm:t>
    </dgm:pt>
    <dgm:pt modelId="{1841C1C7-1EA6-F34E-ACB9-3F7354DCA307}" type="parTrans" cxnId="{EAB2EF60-2301-5548-BCF3-98905A1C328C}">
      <dgm:prSet/>
      <dgm:spPr/>
      <dgm:t>
        <a:bodyPr/>
        <a:lstStyle/>
        <a:p>
          <a:endParaRPr lang="en-US"/>
        </a:p>
      </dgm:t>
    </dgm:pt>
    <dgm:pt modelId="{32217BDA-0801-A44B-80AA-3F713413AB4B}" type="sibTrans" cxnId="{EAB2EF60-2301-5548-BCF3-98905A1C328C}">
      <dgm:prSet/>
      <dgm:spPr/>
      <dgm:t>
        <a:bodyPr/>
        <a:lstStyle/>
        <a:p>
          <a:endParaRPr lang="en-US"/>
        </a:p>
      </dgm:t>
    </dgm:pt>
    <dgm:pt modelId="{A92384D2-D1EF-384B-B06B-28D1EA834699}" type="pres">
      <dgm:prSet presAssocID="{F5E42422-30B8-7145-AC45-A97345BECA97}" presName="Name0" presStyleCnt="0">
        <dgm:presLayoutVars>
          <dgm:chMax val="1"/>
          <dgm:dir/>
          <dgm:animLvl val="ctr"/>
          <dgm:resizeHandles val="exact"/>
        </dgm:presLayoutVars>
      </dgm:prSet>
      <dgm:spPr/>
    </dgm:pt>
    <dgm:pt modelId="{C5DECD05-97D0-2848-845E-9EF3FF2F3AC3}" type="pres">
      <dgm:prSet presAssocID="{7FE5BBEE-220B-D443-BE6C-37118C441C07}" presName="centerShape" presStyleLbl="node0" presStyleIdx="0" presStyleCnt="1" custScaleX="122903" custScaleY="122902" custLinFactNeighborX="-14724" custLinFactNeighborY="-7021"/>
      <dgm:spPr/>
    </dgm:pt>
    <dgm:pt modelId="{F6A246D8-D41F-0441-BDEE-6B863BD8F125}" type="pres">
      <dgm:prSet presAssocID="{C6D5CAE6-89A9-A847-9C0C-17D39BB401D3}" presName="oneComp" presStyleCnt="0"/>
      <dgm:spPr/>
    </dgm:pt>
    <dgm:pt modelId="{4370057F-3C2D-4B46-A4AF-491C00B3268F}" type="pres">
      <dgm:prSet presAssocID="{C6D5CAE6-89A9-A847-9C0C-17D39BB401D3}" presName="dummyConnPt" presStyleCnt="0"/>
      <dgm:spPr/>
    </dgm:pt>
    <dgm:pt modelId="{0DE334B6-6615-2A4A-9DE0-59A931F2AE22}" type="pres">
      <dgm:prSet presAssocID="{C6D5CAE6-89A9-A847-9C0C-17D39BB401D3}" presName="oneNode" presStyleLbl="node1" presStyleIdx="0" presStyleCnt="1" custScaleX="202921" custScaleY="196320" custLinFactNeighborX="26948" custLinFactNeighborY="-38173">
        <dgm:presLayoutVars>
          <dgm:bulletEnabled val="1"/>
        </dgm:presLayoutVars>
      </dgm:prSet>
      <dgm:spPr/>
    </dgm:pt>
    <dgm:pt modelId="{12C24D3B-17D8-DC4C-AEB8-15E069D13B1D}" type="pres">
      <dgm:prSet presAssocID="{C6D5CAE6-89A9-A847-9C0C-17D39BB401D3}" presName="dummya" presStyleCnt="0"/>
      <dgm:spPr/>
    </dgm:pt>
    <dgm:pt modelId="{D26502E6-7618-BF42-A8E3-6F4B3C9FEDE3}" type="pres">
      <dgm:prSet presAssocID="{C6D5CAE6-89A9-A847-9C0C-17D39BB401D3}" presName="dummyb" presStyleCnt="0"/>
      <dgm:spPr/>
    </dgm:pt>
    <dgm:pt modelId="{7E7B9BC0-E8AD-D348-9FAB-6FBAFC47FB3B}" type="pres">
      <dgm:prSet presAssocID="{C6D5CAE6-89A9-A847-9C0C-17D39BB401D3}" presName="dummyc" presStyleCnt="0"/>
      <dgm:spPr/>
    </dgm:pt>
    <dgm:pt modelId="{27C19F38-3CF5-3C43-BEA1-8B8F89394CDE}" type="pres">
      <dgm:prSet presAssocID="{32217BDA-0801-A44B-80AA-3F713413AB4B}" presName="singleconn" presStyleLbl="sibTrans2D1" presStyleIdx="0" presStyleCnt="1" custLinFactNeighborX="-16657" custLinFactNeighborY="-6333"/>
      <dgm:spPr/>
    </dgm:pt>
  </dgm:ptLst>
  <dgm:cxnLst>
    <dgm:cxn modelId="{8A1E2F07-C9B6-144D-AB42-C88CFE41A953}" type="presOf" srcId="{C6D5CAE6-89A9-A847-9C0C-17D39BB401D3}" destId="{0DE334B6-6615-2A4A-9DE0-59A931F2AE22}" srcOrd="0" destOrd="0" presId="urn:microsoft.com/office/officeart/2005/8/layout/radial6"/>
    <dgm:cxn modelId="{EAB2EF60-2301-5548-BCF3-98905A1C328C}" srcId="{7FE5BBEE-220B-D443-BE6C-37118C441C07}" destId="{C6D5CAE6-89A9-A847-9C0C-17D39BB401D3}" srcOrd="0" destOrd="0" parTransId="{1841C1C7-1EA6-F34E-ACB9-3F7354DCA307}" sibTransId="{32217BDA-0801-A44B-80AA-3F713413AB4B}"/>
    <dgm:cxn modelId="{F0CB9C74-C802-8D4B-8956-A969A6FE380A}" type="presOf" srcId="{7FE5BBEE-220B-D443-BE6C-37118C441C07}" destId="{C5DECD05-97D0-2848-845E-9EF3FF2F3AC3}" srcOrd="0" destOrd="0" presId="urn:microsoft.com/office/officeart/2005/8/layout/radial6"/>
    <dgm:cxn modelId="{5999F1C2-D0B5-424C-A60F-90A97D93AC96}" type="presOf" srcId="{32217BDA-0801-A44B-80AA-3F713413AB4B}" destId="{27C19F38-3CF5-3C43-BEA1-8B8F89394CDE}" srcOrd="0" destOrd="0" presId="urn:microsoft.com/office/officeart/2005/8/layout/radial6"/>
    <dgm:cxn modelId="{89EAFDCF-B76F-154E-A388-B8569949A8E7}" type="presOf" srcId="{F5E42422-30B8-7145-AC45-A97345BECA97}" destId="{A92384D2-D1EF-384B-B06B-28D1EA834699}" srcOrd="0" destOrd="0" presId="urn:microsoft.com/office/officeart/2005/8/layout/radial6"/>
    <dgm:cxn modelId="{E0F565FC-4162-DC41-83C3-F43DCF020C2B}" srcId="{F5E42422-30B8-7145-AC45-A97345BECA97}" destId="{7FE5BBEE-220B-D443-BE6C-37118C441C07}" srcOrd="0" destOrd="0" parTransId="{9B2380A5-65EC-E142-9220-E61D3A3D0548}" sibTransId="{3CC8AAAC-E7C2-9142-9DFE-FD06660832E6}"/>
    <dgm:cxn modelId="{A7089D51-CE92-1B43-AA8D-745890C0C125}" type="presParOf" srcId="{A92384D2-D1EF-384B-B06B-28D1EA834699}" destId="{C5DECD05-97D0-2848-845E-9EF3FF2F3AC3}" srcOrd="0" destOrd="0" presId="urn:microsoft.com/office/officeart/2005/8/layout/radial6"/>
    <dgm:cxn modelId="{2CD4A523-AEEF-9B41-8279-7CD3204B18BF}" type="presParOf" srcId="{A92384D2-D1EF-384B-B06B-28D1EA834699}" destId="{F6A246D8-D41F-0441-BDEE-6B863BD8F125}" srcOrd="1" destOrd="0" presId="urn:microsoft.com/office/officeart/2005/8/layout/radial6"/>
    <dgm:cxn modelId="{7B49BA77-7EF0-A44C-9E33-B502E49350C9}" type="presParOf" srcId="{F6A246D8-D41F-0441-BDEE-6B863BD8F125}" destId="{4370057F-3C2D-4B46-A4AF-491C00B3268F}" srcOrd="0" destOrd="0" presId="urn:microsoft.com/office/officeart/2005/8/layout/radial6"/>
    <dgm:cxn modelId="{249E36D8-A025-6B4B-ACDA-08E316FD54FF}" type="presParOf" srcId="{F6A246D8-D41F-0441-BDEE-6B863BD8F125}" destId="{0DE334B6-6615-2A4A-9DE0-59A931F2AE22}" srcOrd="1" destOrd="0" presId="urn:microsoft.com/office/officeart/2005/8/layout/radial6"/>
    <dgm:cxn modelId="{454152A4-89AF-2841-8555-D4C7A35FD57D}" type="presParOf" srcId="{A92384D2-D1EF-384B-B06B-28D1EA834699}" destId="{12C24D3B-17D8-DC4C-AEB8-15E069D13B1D}" srcOrd="2" destOrd="0" presId="urn:microsoft.com/office/officeart/2005/8/layout/radial6"/>
    <dgm:cxn modelId="{19291B55-35C3-2644-8CE0-A1B876B9C7C4}" type="presParOf" srcId="{A92384D2-D1EF-384B-B06B-28D1EA834699}" destId="{D26502E6-7618-BF42-A8E3-6F4B3C9FEDE3}" srcOrd="3" destOrd="0" presId="urn:microsoft.com/office/officeart/2005/8/layout/radial6"/>
    <dgm:cxn modelId="{BD54A4ED-AEE0-6643-9172-CE4CCFD95012}" type="presParOf" srcId="{A92384D2-D1EF-384B-B06B-28D1EA834699}" destId="{7E7B9BC0-E8AD-D348-9FAB-6FBAFC47FB3B}" srcOrd="4" destOrd="0" presId="urn:microsoft.com/office/officeart/2005/8/layout/radial6"/>
    <dgm:cxn modelId="{9934FC69-B85B-DD47-802C-7FD2AE13D695}" type="presParOf" srcId="{A92384D2-D1EF-384B-B06B-28D1EA834699}" destId="{27C19F38-3CF5-3C43-BEA1-8B8F89394CDE}" srcOrd="5"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C2EA0D-E077-6348-BA79-BA16D38530D4}"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40FCB96B-CEFE-7E4B-B6C4-72B134326C6F}">
      <dgm:prSet/>
      <dgm:spPr/>
      <dgm:t>
        <a:bodyPr/>
        <a:lstStyle/>
        <a:p>
          <a:pPr rtl="0"/>
          <a:r>
            <a:rPr lang="en-US" dirty="0"/>
            <a:t>For virtual memory to be practical and effective:</a:t>
          </a:r>
        </a:p>
      </dgm:t>
    </dgm:pt>
    <dgm:pt modelId="{C9417D73-A2E5-7B4D-8358-06B4E74BC7C6}" type="parTrans" cxnId="{F657E8B6-E88D-A24F-936B-D179ED04E6EB}">
      <dgm:prSet/>
      <dgm:spPr/>
      <dgm:t>
        <a:bodyPr/>
        <a:lstStyle/>
        <a:p>
          <a:endParaRPr lang="en-US"/>
        </a:p>
      </dgm:t>
    </dgm:pt>
    <dgm:pt modelId="{69544D86-1256-3F48-A771-E724DB1CA2DE}" type="sibTrans" cxnId="{F657E8B6-E88D-A24F-936B-D179ED04E6EB}">
      <dgm:prSet/>
      <dgm:spPr/>
      <dgm:t>
        <a:bodyPr/>
        <a:lstStyle/>
        <a:p>
          <a:endParaRPr lang="en-US"/>
        </a:p>
      </dgm:t>
    </dgm:pt>
    <dgm:pt modelId="{A65B3CA6-C8EA-5D42-8F4E-0102F2DE9322}">
      <dgm:prSet/>
      <dgm:spPr>
        <a:solidFill>
          <a:schemeClr val="bg1"/>
        </a:solidFill>
        <a:ln>
          <a:solidFill>
            <a:schemeClr val="accent6">
              <a:lumMod val="75000"/>
            </a:schemeClr>
          </a:solidFill>
        </a:ln>
      </dgm:spPr>
      <dgm:t>
        <a:bodyPr/>
        <a:lstStyle/>
        <a:p>
          <a:pPr rtl="0"/>
          <a:r>
            <a:rPr lang="en-US" dirty="0"/>
            <a:t>Hardware must support paging and segmentation </a:t>
          </a:r>
        </a:p>
      </dgm:t>
    </dgm:pt>
    <dgm:pt modelId="{B3D7A046-02E2-2E4D-9411-176EE1AAA375}" type="parTrans" cxnId="{8F22BA0E-D040-234C-97E9-8C11708BD870}">
      <dgm:prSet/>
      <dgm:spPr/>
      <dgm:t>
        <a:bodyPr/>
        <a:lstStyle/>
        <a:p>
          <a:endParaRPr lang="en-US"/>
        </a:p>
      </dgm:t>
    </dgm:pt>
    <dgm:pt modelId="{20BF5A68-55E8-AB44-B7F1-CCC893911E55}" type="sibTrans" cxnId="{8F22BA0E-D040-234C-97E9-8C11708BD870}">
      <dgm:prSet/>
      <dgm:spPr/>
      <dgm:t>
        <a:bodyPr/>
        <a:lstStyle/>
        <a:p>
          <a:endParaRPr lang="en-US"/>
        </a:p>
      </dgm:t>
    </dgm:pt>
    <dgm:pt modelId="{711AAEF7-EE06-A74F-94E2-FE7BB5CC08EF}">
      <dgm:prSet/>
      <dgm:spPr>
        <a:solidFill>
          <a:schemeClr val="bg1"/>
        </a:solidFill>
        <a:ln>
          <a:solidFill>
            <a:schemeClr val="accent6">
              <a:lumMod val="75000"/>
            </a:schemeClr>
          </a:solidFill>
        </a:ln>
      </dgm:spPr>
      <dgm:t>
        <a:bodyPr/>
        <a:lstStyle/>
        <a:p>
          <a:pPr rtl="0"/>
          <a:r>
            <a:rPr lang="en-US" dirty="0"/>
            <a:t>Operating system must include software for managing the movement of pages and/or segments between secondary memory and main memory</a:t>
          </a:r>
        </a:p>
      </dgm:t>
    </dgm:pt>
    <dgm:pt modelId="{ECD1ADCD-25FE-444C-AF69-9877D8D116DB}" type="parTrans" cxnId="{212E4CD0-FF39-DD4A-B47A-1F0AE6D7118E}">
      <dgm:prSet/>
      <dgm:spPr/>
      <dgm:t>
        <a:bodyPr/>
        <a:lstStyle/>
        <a:p>
          <a:endParaRPr lang="en-US"/>
        </a:p>
      </dgm:t>
    </dgm:pt>
    <dgm:pt modelId="{6B773E1D-5061-744D-AB7E-84F87CE4918D}" type="sibTrans" cxnId="{212E4CD0-FF39-DD4A-B47A-1F0AE6D7118E}">
      <dgm:prSet/>
      <dgm:spPr/>
      <dgm:t>
        <a:bodyPr/>
        <a:lstStyle/>
        <a:p>
          <a:endParaRPr lang="en-US"/>
        </a:p>
      </dgm:t>
    </dgm:pt>
    <dgm:pt modelId="{36FED3B4-8B3D-7D4C-85F3-E811FCA5BAAC}" type="pres">
      <dgm:prSet presAssocID="{AFC2EA0D-E077-6348-BA79-BA16D38530D4}" presName="Name0" presStyleCnt="0">
        <dgm:presLayoutVars>
          <dgm:dir/>
          <dgm:animLvl val="lvl"/>
          <dgm:resizeHandles val="exact"/>
        </dgm:presLayoutVars>
      </dgm:prSet>
      <dgm:spPr/>
    </dgm:pt>
    <dgm:pt modelId="{AF89B28B-27E3-D04F-8F9C-2FEFAD162F79}" type="pres">
      <dgm:prSet presAssocID="{40FCB96B-CEFE-7E4B-B6C4-72B134326C6F}" presName="composite" presStyleCnt="0"/>
      <dgm:spPr/>
    </dgm:pt>
    <dgm:pt modelId="{25D7E9AD-3FF4-B340-AFEC-D83943AB2430}" type="pres">
      <dgm:prSet presAssocID="{40FCB96B-CEFE-7E4B-B6C4-72B134326C6F}" presName="parTx" presStyleLbl="alignNode1" presStyleIdx="0" presStyleCnt="1">
        <dgm:presLayoutVars>
          <dgm:chMax val="0"/>
          <dgm:chPref val="0"/>
          <dgm:bulletEnabled val="1"/>
        </dgm:presLayoutVars>
      </dgm:prSet>
      <dgm:spPr/>
    </dgm:pt>
    <dgm:pt modelId="{B46E4BCB-7BAA-C945-A329-7D44D749EC35}" type="pres">
      <dgm:prSet presAssocID="{40FCB96B-CEFE-7E4B-B6C4-72B134326C6F}" presName="desTx" presStyleLbl="alignAccFollowNode1" presStyleIdx="0" presStyleCnt="1">
        <dgm:presLayoutVars>
          <dgm:bulletEnabled val="1"/>
        </dgm:presLayoutVars>
      </dgm:prSet>
      <dgm:spPr/>
    </dgm:pt>
  </dgm:ptLst>
  <dgm:cxnLst>
    <dgm:cxn modelId="{9055B20A-2980-D442-9679-CE272575447D}" type="presOf" srcId="{A65B3CA6-C8EA-5D42-8F4E-0102F2DE9322}" destId="{B46E4BCB-7BAA-C945-A329-7D44D749EC35}" srcOrd="0" destOrd="0" presId="urn:microsoft.com/office/officeart/2005/8/layout/hList1"/>
    <dgm:cxn modelId="{8F22BA0E-D040-234C-97E9-8C11708BD870}" srcId="{40FCB96B-CEFE-7E4B-B6C4-72B134326C6F}" destId="{A65B3CA6-C8EA-5D42-8F4E-0102F2DE9322}" srcOrd="0" destOrd="0" parTransId="{B3D7A046-02E2-2E4D-9411-176EE1AAA375}" sibTransId="{20BF5A68-55E8-AB44-B7F1-CCC893911E55}"/>
    <dgm:cxn modelId="{F657E8B6-E88D-A24F-936B-D179ED04E6EB}" srcId="{AFC2EA0D-E077-6348-BA79-BA16D38530D4}" destId="{40FCB96B-CEFE-7E4B-B6C4-72B134326C6F}" srcOrd="0" destOrd="0" parTransId="{C9417D73-A2E5-7B4D-8358-06B4E74BC7C6}" sibTransId="{69544D86-1256-3F48-A771-E724DB1CA2DE}"/>
    <dgm:cxn modelId="{C617C8C0-D56D-434C-974C-919F5CA85FCE}" type="presOf" srcId="{711AAEF7-EE06-A74F-94E2-FE7BB5CC08EF}" destId="{B46E4BCB-7BAA-C945-A329-7D44D749EC35}" srcOrd="0" destOrd="1" presId="urn:microsoft.com/office/officeart/2005/8/layout/hList1"/>
    <dgm:cxn modelId="{A9D691C8-BAD1-F54F-9AC0-686331A29DD9}" type="presOf" srcId="{40FCB96B-CEFE-7E4B-B6C4-72B134326C6F}" destId="{25D7E9AD-3FF4-B340-AFEC-D83943AB2430}" srcOrd="0" destOrd="0" presId="urn:microsoft.com/office/officeart/2005/8/layout/hList1"/>
    <dgm:cxn modelId="{212E4CD0-FF39-DD4A-B47A-1F0AE6D7118E}" srcId="{40FCB96B-CEFE-7E4B-B6C4-72B134326C6F}" destId="{711AAEF7-EE06-A74F-94E2-FE7BB5CC08EF}" srcOrd="1" destOrd="0" parTransId="{ECD1ADCD-25FE-444C-AF69-9877D8D116DB}" sibTransId="{6B773E1D-5061-744D-AB7E-84F87CE4918D}"/>
    <dgm:cxn modelId="{07E864E8-C7F6-BC42-A599-4B1D6A7BCBC7}" type="presOf" srcId="{AFC2EA0D-E077-6348-BA79-BA16D38530D4}" destId="{36FED3B4-8B3D-7D4C-85F3-E811FCA5BAAC}" srcOrd="0" destOrd="0" presId="urn:microsoft.com/office/officeart/2005/8/layout/hList1"/>
    <dgm:cxn modelId="{F86005AF-6F07-724F-8C1E-C96C4F86524A}" type="presParOf" srcId="{36FED3B4-8B3D-7D4C-85F3-E811FCA5BAAC}" destId="{AF89B28B-27E3-D04F-8F9C-2FEFAD162F79}" srcOrd="0" destOrd="0" presId="urn:microsoft.com/office/officeart/2005/8/layout/hList1"/>
    <dgm:cxn modelId="{DE196362-017B-5342-BA11-048C979BC968}" type="presParOf" srcId="{AF89B28B-27E3-D04F-8F9C-2FEFAD162F79}" destId="{25D7E9AD-3FF4-B340-AFEC-D83943AB2430}" srcOrd="0" destOrd="0" presId="urn:microsoft.com/office/officeart/2005/8/layout/hList1"/>
    <dgm:cxn modelId="{36F6A005-5757-D249-8A6F-FC4A78B835C1}" type="presParOf" srcId="{AF89B28B-27E3-D04F-8F9C-2FEFAD162F79}" destId="{B46E4BCB-7BAA-C945-A329-7D44D749EC3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581AA77-07DA-2142-96A5-49CC6B15946F}" type="doc">
      <dgm:prSet loTypeId="urn:microsoft.com/office/officeart/2005/8/layout/chevron1" loCatId="process" qsTypeId="urn:microsoft.com/office/officeart/2005/8/quickstyle/simple4" qsCatId="simple" csTypeId="urn:microsoft.com/office/officeart/2005/8/colors/accent1_2" csCatId="accent1" phldr="1"/>
      <dgm:spPr/>
      <dgm:t>
        <a:bodyPr/>
        <a:lstStyle/>
        <a:p>
          <a:endParaRPr lang="en-US"/>
        </a:p>
      </dgm:t>
    </dgm:pt>
    <dgm:pt modelId="{D120E8D3-24E9-1949-A11E-AEDC36548878}">
      <dgm:prSet phldrT="[Text]"/>
      <dgm:spPr>
        <a:solidFill>
          <a:schemeClr val="accent6"/>
        </a:solidFill>
      </dgm:spPr>
      <dgm:t>
        <a:bodyPr/>
        <a:lstStyle/>
        <a:p>
          <a:r>
            <a:rPr lang="en-US" dirty="0"/>
            <a:t>Page number</a:t>
          </a:r>
        </a:p>
      </dgm:t>
    </dgm:pt>
    <dgm:pt modelId="{0FF2646A-4BE6-494D-9265-1A619671013C}" type="parTrans" cxnId="{DD2F4EFD-4844-A047-BC3B-103B4F861170}">
      <dgm:prSet/>
      <dgm:spPr/>
      <dgm:t>
        <a:bodyPr/>
        <a:lstStyle/>
        <a:p>
          <a:endParaRPr lang="en-US"/>
        </a:p>
      </dgm:t>
    </dgm:pt>
    <dgm:pt modelId="{272D528E-4010-9842-B116-85D5F7883787}" type="sibTrans" cxnId="{DD2F4EFD-4844-A047-BC3B-103B4F861170}">
      <dgm:prSet/>
      <dgm:spPr/>
      <dgm:t>
        <a:bodyPr/>
        <a:lstStyle/>
        <a:p>
          <a:endParaRPr lang="en-US"/>
        </a:p>
      </dgm:t>
    </dgm:pt>
    <dgm:pt modelId="{D8A33B25-0E4D-B04A-BCE3-E19DE50E9F74}">
      <dgm:prSet/>
      <dgm:spPr/>
      <dgm:t>
        <a:bodyPr/>
        <a:lstStyle/>
        <a:p>
          <a:r>
            <a:rPr lang="en-US" dirty="0"/>
            <a:t>Process identifier</a:t>
          </a:r>
        </a:p>
      </dgm:t>
    </dgm:pt>
    <dgm:pt modelId="{C54E160A-AE13-AA4A-A35D-3A1A7F93D370}" type="parTrans" cxnId="{EF3A9E1D-ECCD-FA4A-A5B5-4EE89D7141B9}">
      <dgm:prSet/>
      <dgm:spPr/>
      <dgm:t>
        <a:bodyPr/>
        <a:lstStyle/>
        <a:p>
          <a:endParaRPr lang="en-US"/>
        </a:p>
      </dgm:t>
    </dgm:pt>
    <dgm:pt modelId="{2B6AF75F-D056-0843-ADE1-22FCBA373D51}" type="sibTrans" cxnId="{EF3A9E1D-ECCD-FA4A-A5B5-4EE89D7141B9}">
      <dgm:prSet/>
      <dgm:spPr/>
      <dgm:t>
        <a:bodyPr/>
        <a:lstStyle/>
        <a:p>
          <a:endParaRPr lang="en-US"/>
        </a:p>
      </dgm:t>
    </dgm:pt>
    <dgm:pt modelId="{450DC066-D072-2846-A95B-4F23A895F9D4}">
      <dgm:prSet/>
      <dgm:spPr/>
      <dgm:t>
        <a:bodyPr/>
        <a:lstStyle/>
        <a:p>
          <a:r>
            <a:rPr lang="en-NZ" dirty="0"/>
            <a:t>The process that owns this page</a:t>
          </a:r>
        </a:p>
      </dgm:t>
    </dgm:pt>
    <dgm:pt modelId="{2BD053F5-3F26-0C4F-8DEB-F18FF4375857}" type="parTrans" cxnId="{6181FA2F-42E1-2E41-A878-0CB4536B0119}">
      <dgm:prSet/>
      <dgm:spPr/>
      <dgm:t>
        <a:bodyPr/>
        <a:lstStyle/>
        <a:p>
          <a:endParaRPr lang="en-US"/>
        </a:p>
      </dgm:t>
    </dgm:pt>
    <dgm:pt modelId="{CD6EA102-7A61-F444-8777-E25DFE80DA44}" type="sibTrans" cxnId="{6181FA2F-42E1-2E41-A878-0CB4536B0119}">
      <dgm:prSet/>
      <dgm:spPr/>
      <dgm:t>
        <a:bodyPr/>
        <a:lstStyle/>
        <a:p>
          <a:endParaRPr lang="en-US"/>
        </a:p>
      </dgm:t>
    </dgm:pt>
    <dgm:pt modelId="{09417694-75BB-374C-9447-7A8C104BB20D}">
      <dgm:prSet/>
      <dgm:spPr>
        <a:solidFill>
          <a:schemeClr val="accent1"/>
        </a:solidFill>
      </dgm:spPr>
      <dgm:t>
        <a:bodyPr/>
        <a:lstStyle/>
        <a:p>
          <a:r>
            <a:rPr lang="en-US" dirty="0"/>
            <a:t>Control bits</a:t>
          </a:r>
        </a:p>
      </dgm:t>
    </dgm:pt>
    <dgm:pt modelId="{EB447890-8F5B-8240-92FE-10B318308115}" type="parTrans" cxnId="{5747B466-12F3-B447-8971-76576D63AF5D}">
      <dgm:prSet/>
      <dgm:spPr/>
      <dgm:t>
        <a:bodyPr/>
        <a:lstStyle/>
        <a:p>
          <a:endParaRPr lang="en-US"/>
        </a:p>
      </dgm:t>
    </dgm:pt>
    <dgm:pt modelId="{D87310E4-5F4B-6D45-8394-22CAD98DA861}" type="sibTrans" cxnId="{5747B466-12F3-B447-8971-76576D63AF5D}">
      <dgm:prSet/>
      <dgm:spPr/>
      <dgm:t>
        <a:bodyPr/>
        <a:lstStyle/>
        <a:p>
          <a:endParaRPr lang="en-US"/>
        </a:p>
      </dgm:t>
    </dgm:pt>
    <dgm:pt modelId="{43C34199-651A-8D4F-A298-A1625BEA1769}">
      <dgm:prSet/>
      <dgm:spPr/>
      <dgm:t>
        <a:bodyPr/>
        <a:lstStyle/>
        <a:p>
          <a:r>
            <a:rPr lang="en-NZ" dirty="0"/>
            <a:t>Includes flags and protection and locking information</a:t>
          </a:r>
          <a:endParaRPr lang="en-US" dirty="0"/>
        </a:p>
      </dgm:t>
    </dgm:pt>
    <dgm:pt modelId="{72CB8B4B-F6E3-D946-8267-C3C6D5752854}" type="parTrans" cxnId="{19F713F4-EFB8-0340-AF3D-91D505E963CB}">
      <dgm:prSet/>
      <dgm:spPr/>
      <dgm:t>
        <a:bodyPr/>
        <a:lstStyle/>
        <a:p>
          <a:endParaRPr lang="en-US"/>
        </a:p>
      </dgm:t>
    </dgm:pt>
    <dgm:pt modelId="{11256ADB-6FED-5043-889A-3059F465029A}" type="sibTrans" cxnId="{19F713F4-EFB8-0340-AF3D-91D505E963CB}">
      <dgm:prSet/>
      <dgm:spPr/>
      <dgm:t>
        <a:bodyPr/>
        <a:lstStyle/>
        <a:p>
          <a:endParaRPr lang="en-US"/>
        </a:p>
      </dgm:t>
    </dgm:pt>
    <dgm:pt modelId="{1FADDC4D-66A3-814C-AFBF-41B63772ABF5}">
      <dgm:prSet/>
      <dgm:spPr>
        <a:solidFill>
          <a:schemeClr val="accent6"/>
        </a:solidFill>
      </dgm:spPr>
      <dgm:t>
        <a:bodyPr/>
        <a:lstStyle/>
        <a:p>
          <a:r>
            <a:rPr lang="en-US"/>
            <a:t>Chain pointer</a:t>
          </a:r>
          <a:endParaRPr lang="en-US" dirty="0"/>
        </a:p>
      </dgm:t>
    </dgm:pt>
    <dgm:pt modelId="{B9632BC2-D3F9-C548-A201-169B1171A673}" type="parTrans" cxnId="{DAD45610-8220-3348-B795-919A8D3B8599}">
      <dgm:prSet/>
      <dgm:spPr/>
      <dgm:t>
        <a:bodyPr/>
        <a:lstStyle/>
        <a:p>
          <a:endParaRPr lang="en-US"/>
        </a:p>
      </dgm:t>
    </dgm:pt>
    <dgm:pt modelId="{D2C6B560-278A-5E4D-ACD7-0DC9D75E9919}" type="sibTrans" cxnId="{DAD45610-8220-3348-B795-919A8D3B8599}">
      <dgm:prSet/>
      <dgm:spPr/>
      <dgm:t>
        <a:bodyPr/>
        <a:lstStyle/>
        <a:p>
          <a:endParaRPr lang="en-US"/>
        </a:p>
      </dgm:t>
    </dgm:pt>
    <dgm:pt modelId="{E8BBD288-510C-6F4B-974E-9EB6FDAE9ECF}">
      <dgm:prSet/>
      <dgm:spPr/>
      <dgm:t>
        <a:bodyPr/>
        <a:lstStyle/>
        <a:p>
          <a:r>
            <a:rPr lang="en-NZ" dirty="0"/>
            <a:t>The index value of the next entry in the chain</a:t>
          </a:r>
          <a:endParaRPr lang="en-US" dirty="0"/>
        </a:p>
      </dgm:t>
    </dgm:pt>
    <dgm:pt modelId="{562D6E1C-2D55-2D43-863C-D6BE6028D1FC}" type="parTrans" cxnId="{36DB6C3A-D272-044F-8C57-1336AAD3BE76}">
      <dgm:prSet/>
      <dgm:spPr/>
      <dgm:t>
        <a:bodyPr/>
        <a:lstStyle/>
        <a:p>
          <a:endParaRPr lang="en-US"/>
        </a:p>
      </dgm:t>
    </dgm:pt>
    <dgm:pt modelId="{12040787-25C2-5A4D-BBB1-26251F4C2ECC}" type="sibTrans" cxnId="{36DB6C3A-D272-044F-8C57-1336AAD3BE76}">
      <dgm:prSet/>
      <dgm:spPr/>
      <dgm:t>
        <a:bodyPr/>
        <a:lstStyle/>
        <a:p>
          <a:endParaRPr lang="en-US"/>
        </a:p>
      </dgm:t>
    </dgm:pt>
    <dgm:pt modelId="{C056616E-34AB-D848-9960-0BCC43307BE1}" type="pres">
      <dgm:prSet presAssocID="{F581AA77-07DA-2142-96A5-49CC6B15946F}" presName="Name0" presStyleCnt="0">
        <dgm:presLayoutVars>
          <dgm:dir/>
          <dgm:animLvl val="lvl"/>
          <dgm:resizeHandles val="exact"/>
        </dgm:presLayoutVars>
      </dgm:prSet>
      <dgm:spPr/>
    </dgm:pt>
    <dgm:pt modelId="{BA002ADF-51AF-934D-B800-DEB8A054188D}" type="pres">
      <dgm:prSet presAssocID="{D120E8D3-24E9-1949-A11E-AEDC36548878}" presName="composite" presStyleCnt="0"/>
      <dgm:spPr/>
    </dgm:pt>
    <dgm:pt modelId="{A4D7E7A2-94C8-6449-B815-A75A1C804EEF}" type="pres">
      <dgm:prSet presAssocID="{D120E8D3-24E9-1949-A11E-AEDC36548878}" presName="parTx" presStyleLbl="node1" presStyleIdx="0" presStyleCnt="4">
        <dgm:presLayoutVars>
          <dgm:chMax val="0"/>
          <dgm:chPref val="0"/>
          <dgm:bulletEnabled val="1"/>
        </dgm:presLayoutVars>
      </dgm:prSet>
      <dgm:spPr/>
    </dgm:pt>
    <dgm:pt modelId="{3D995D19-7DC5-4342-8C7E-884934FFA9AF}" type="pres">
      <dgm:prSet presAssocID="{D120E8D3-24E9-1949-A11E-AEDC36548878}" presName="desTx" presStyleLbl="revTx" presStyleIdx="0" presStyleCnt="3">
        <dgm:presLayoutVars>
          <dgm:bulletEnabled val="1"/>
        </dgm:presLayoutVars>
      </dgm:prSet>
      <dgm:spPr/>
    </dgm:pt>
    <dgm:pt modelId="{BF4E8943-7FF7-0B48-9470-6655CBDD83D2}" type="pres">
      <dgm:prSet presAssocID="{272D528E-4010-9842-B116-85D5F7883787}" presName="space" presStyleCnt="0"/>
      <dgm:spPr/>
    </dgm:pt>
    <dgm:pt modelId="{89FDFD00-DD75-DC43-90FE-8CAE5A426339}" type="pres">
      <dgm:prSet presAssocID="{D8A33B25-0E4D-B04A-BCE3-E19DE50E9F74}" presName="composite" presStyleCnt="0"/>
      <dgm:spPr/>
    </dgm:pt>
    <dgm:pt modelId="{EE339B2B-776F-DD41-B17A-16E3F91452EC}" type="pres">
      <dgm:prSet presAssocID="{D8A33B25-0E4D-B04A-BCE3-E19DE50E9F74}" presName="parTx" presStyleLbl="node1" presStyleIdx="1" presStyleCnt="4">
        <dgm:presLayoutVars>
          <dgm:chMax val="0"/>
          <dgm:chPref val="0"/>
          <dgm:bulletEnabled val="1"/>
        </dgm:presLayoutVars>
      </dgm:prSet>
      <dgm:spPr/>
    </dgm:pt>
    <dgm:pt modelId="{F277B540-B5D5-CF42-B739-45F4DBE2427C}" type="pres">
      <dgm:prSet presAssocID="{D8A33B25-0E4D-B04A-BCE3-E19DE50E9F74}" presName="desTx" presStyleLbl="revTx" presStyleIdx="0" presStyleCnt="3">
        <dgm:presLayoutVars>
          <dgm:bulletEnabled val="1"/>
        </dgm:presLayoutVars>
      </dgm:prSet>
      <dgm:spPr/>
    </dgm:pt>
    <dgm:pt modelId="{F6F6DC32-7868-AA4F-9242-9DEF1FDD8EE1}" type="pres">
      <dgm:prSet presAssocID="{2B6AF75F-D056-0843-ADE1-22FCBA373D51}" presName="space" presStyleCnt="0"/>
      <dgm:spPr/>
    </dgm:pt>
    <dgm:pt modelId="{A8865112-5013-8A4E-BA27-F4D4FE2917B0}" type="pres">
      <dgm:prSet presAssocID="{09417694-75BB-374C-9447-7A8C104BB20D}" presName="composite" presStyleCnt="0"/>
      <dgm:spPr/>
    </dgm:pt>
    <dgm:pt modelId="{FA0BD477-E17C-9046-8416-8129B3958C7A}" type="pres">
      <dgm:prSet presAssocID="{09417694-75BB-374C-9447-7A8C104BB20D}" presName="parTx" presStyleLbl="node1" presStyleIdx="2" presStyleCnt="4">
        <dgm:presLayoutVars>
          <dgm:chMax val="0"/>
          <dgm:chPref val="0"/>
          <dgm:bulletEnabled val="1"/>
        </dgm:presLayoutVars>
      </dgm:prSet>
      <dgm:spPr/>
    </dgm:pt>
    <dgm:pt modelId="{3744A542-2291-5A41-9CE1-FBAA98039FEC}" type="pres">
      <dgm:prSet presAssocID="{09417694-75BB-374C-9447-7A8C104BB20D}" presName="desTx" presStyleLbl="revTx" presStyleIdx="1" presStyleCnt="3">
        <dgm:presLayoutVars>
          <dgm:bulletEnabled val="1"/>
        </dgm:presLayoutVars>
      </dgm:prSet>
      <dgm:spPr/>
    </dgm:pt>
    <dgm:pt modelId="{92F9D02F-F706-7F44-A676-0EC861187D63}" type="pres">
      <dgm:prSet presAssocID="{D87310E4-5F4B-6D45-8394-22CAD98DA861}" presName="space" presStyleCnt="0"/>
      <dgm:spPr/>
    </dgm:pt>
    <dgm:pt modelId="{2FC605C3-5EF4-1943-97B6-4965A2F767F5}" type="pres">
      <dgm:prSet presAssocID="{1FADDC4D-66A3-814C-AFBF-41B63772ABF5}" presName="composite" presStyleCnt="0"/>
      <dgm:spPr/>
    </dgm:pt>
    <dgm:pt modelId="{4497DCE3-38DE-B342-B75A-262B32B84D6F}" type="pres">
      <dgm:prSet presAssocID="{1FADDC4D-66A3-814C-AFBF-41B63772ABF5}" presName="parTx" presStyleLbl="node1" presStyleIdx="3" presStyleCnt="4">
        <dgm:presLayoutVars>
          <dgm:chMax val="0"/>
          <dgm:chPref val="0"/>
          <dgm:bulletEnabled val="1"/>
        </dgm:presLayoutVars>
      </dgm:prSet>
      <dgm:spPr/>
    </dgm:pt>
    <dgm:pt modelId="{D3897995-0BC0-F747-93A9-7187BB897C7C}" type="pres">
      <dgm:prSet presAssocID="{1FADDC4D-66A3-814C-AFBF-41B63772ABF5}" presName="desTx" presStyleLbl="revTx" presStyleIdx="2" presStyleCnt="3">
        <dgm:presLayoutVars>
          <dgm:bulletEnabled val="1"/>
        </dgm:presLayoutVars>
      </dgm:prSet>
      <dgm:spPr/>
    </dgm:pt>
  </dgm:ptLst>
  <dgm:cxnLst>
    <dgm:cxn modelId="{DAD45610-8220-3348-B795-919A8D3B8599}" srcId="{F581AA77-07DA-2142-96A5-49CC6B15946F}" destId="{1FADDC4D-66A3-814C-AFBF-41B63772ABF5}" srcOrd="3" destOrd="0" parTransId="{B9632BC2-D3F9-C548-A201-169B1171A673}" sibTransId="{D2C6B560-278A-5E4D-ACD7-0DC9D75E9919}"/>
    <dgm:cxn modelId="{EF3A9E1D-ECCD-FA4A-A5B5-4EE89D7141B9}" srcId="{F581AA77-07DA-2142-96A5-49CC6B15946F}" destId="{D8A33B25-0E4D-B04A-BCE3-E19DE50E9F74}" srcOrd="1" destOrd="0" parTransId="{C54E160A-AE13-AA4A-A35D-3A1A7F93D370}" sibTransId="{2B6AF75F-D056-0843-ADE1-22FCBA373D51}"/>
    <dgm:cxn modelId="{6181FA2F-42E1-2E41-A878-0CB4536B0119}" srcId="{D8A33B25-0E4D-B04A-BCE3-E19DE50E9F74}" destId="{450DC066-D072-2846-A95B-4F23A895F9D4}" srcOrd="0" destOrd="0" parTransId="{2BD053F5-3F26-0C4F-8DEB-F18FF4375857}" sibTransId="{CD6EA102-7A61-F444-8777-E25DFE80DA44}"/>
    <dgm:cxn modelId="{36DB6C3A-D272-044F-8C57-1336AAD3BE76}" srcId="{1FADDC4D-66A3-814C-AFBF-41B63772ABF5}" destId="{E8BBD288-510C-6F4B-974E-9EB6FDAE9ECF}" srcOrd="0" destOrd="0" parTransId="{562D6E1C-2D55-2D43-863C-D6BE6028D1FC}" sibTransId="{12040787-25C2-5A4D-BBB1-26251F4C2ECC}"/>
    <dgm:cxn modelId="{2F0F165B-B057-DE45-8E4A-8EC9E8A143CD}" type="presOf" srcId="{D120E8D3-24E9-1949-A11E-AEDC36548878}" destId="{A4D7E7A2-94C8-6449-B815-A75A1C804EEF}" srcOrd="0" destOrd="0" presId="urn:microsoft.com/office/officeart/2005/8/layout/chevron1"/>
    <dgm:cxn modelId="{4145DF5C-FF76-3D4C-89FA-12AAD0EBACFC}" type="presOf" srcId="{F581AA77-07DA-2142-96A5-49CC6B15946F}" destId="{C056616E-34AB-D848-9960-0BCC43307BE1}" srcOrd="0" destOrd="0" presId="urn:microsoft.com/office/officeart/2005/8/layout/chevron1"/>
    <dgm:cxn modelId="{BC2FEF43-8A8C-C24D-8B93-DAB3683189D9}" type="presOf" srcId="{43C34199-651A-8D4F-A298-A1625BEA1769}" destId="{3744A542-2291-5A41-9CE1-FBAA98039FEC}" srcOrd="0" destOrd="0" presId="urn:microsoft.com/office/officeart/2005/8/layout/chevron1"/>
    <dgm:cxn modelId="{5747B466-12F3-B447-8971-76576D63AF5D}" srcId="{F581AA77-07DA-2142-96A5-49CC6B15946F}" destId="{09417694-75BB-374C-9447-7A8C104BB20D}" srcOrd="2" destOrd="0" parTransId="{EB447890-8F5B-8240-92FE-10B318308115}" sibTransId="{D87310E4-5F4B-6D45-8394-22CAD98DA861}"/>
    <dgm:cxn modelId="{66ED646D-F71C-BF43-92CB-6BFD51C66ED8}" type="presOf" srcId="{1FADDC4D-66A3-814C-AFBF-41B63772ABF5}" destId="{4497DCE3-38DE-B342-B75A-262B32B84D6F}" srcOrd="0" destOrd="0" presId="urn:microsoft.com/office/officeart/2005/8/layout/chevron1"/>
    <dgm:cxn modelId="{65397D91-59CB-5648-B876-86AC5E0B374B}" type="presOf" srcId="{E8BBD288-510C-6F4B-974E-9EB6FDAE9ECF}" destId="{D3897995-0BC0-F747-93A9-7187BB897C7C}" srcOrd="0" destOrd="0" presId="urn:microsoft.com/office/officeart/2005/8/layout/chevron1"/>
    <dgm:cxn modelId="{C8FB9FA8-B1BB-7549-87EF-0FCBA64E1BDF}" type="presOf" srcId="{450DC066-D072-2846-A95B-4F23A895F9D4}" destId="{F277B540-B5D5-CF42-B739-45F4DBE2427C}" srcOrd="0" destOrd="0" presId="urn:microsoft.com/office/officeart/2005/8/layout/chevron1"/>
    <dgm:cxn modelId="{136BE2C1-5C52-8C44-BCF5-184C217D9FF8}" type="presOf" srcId="{09417694-75BB-374C-9447-7A8C104BB20D}" destId="{FA0BD477-E17C-9046-8416-8129B3958C7A}" srcOrd="0" destOrd="0" presId="urn:microsoft.com/office/officeart/2005/8/layout/chevron1"/>
    <dgm:cxn modelId="{860230DE-FA1D-4F48-A032-6968E219E0ED}" type="presOf" srcId="{D8A33B25-0E4D-B04A-BCE3-E19DE50E9F74}" destId="{EE339B2B-776F-DD41-B17A-16E3F91452EC}" srcOrd="0" destOrd="0" presId="urn:microsoft.com/office/officeart/2005/8/layout/chevron1"/>
    <dgm:cxn modelId="{19F713F4-EFB8-0340-AF3D-91D505E963CB}" srcId="{09417694-75BB-374C-9447-7A8C104BB20D}" destId="{43C34199-651A-8D4F-A298-A1625BEA1769}" srcOrd="0" destOrd="0" parTransId="{72CB8B4B-F6E3-D946-8267-C3C6D5752854}" sibTransId="{11256ADB-6FED-5043-889A-3059F465029A}"/>
    <dgm:cxn modelId="{DD2F4EFD-4844-A047-BC3B-103B4F861170}" srcId="{F581AA77-07DA-2142-96A5-49CC6B15946F}" destId="{D120E8D3-24E9-1949-A11E-AEDC36548878}" srcOrd="0" destOrd="0" parTransId="{0FF2646A-4BE6-494D-9265-1A619671013C}" sibTransId="{272D528E-4010-9842-B116-85D5F7883787}"/>
    <dgm:cxn modelId="{6E4453FA-4898-BE46-821B-F8D278331044}" type="presParOf" srcId="{C056616E-34AB-D848-9960-0BCC43307BE1}" destId="{BA002ADF-51AF-934D-B800-DEB8A054188D}" srcOrd="0" destOrd="0" presId="urn:microsoft.com/office/officeart/2005/8/layout/chevron1"/>
    <dgm:cxn modelId="{F3570422-48AF-834A-880E-8F7B043E2A1D}" type="presParOf" srcId="{BA002ADF-51AF-934D-B800-DEB8A054188D}" destId="{A4D7E7A2-94C8-6449-B815-A75A1C804EEF}" srcOrd="0" destOrd="0" presId="urn:microsoft.com/office/officeart/2005/8/layout/chevron1"/>
    <dgm:cxn modelId="{C95E1DCA-96B6-5045-96A6-1F39CF1A57FD}" type="presParOf" srcId="{BA002ADF-51AF-934D-B800-DEB8A054188D}" destId="{3D995D19-7DC5-4342-8C7E-884934FFA9AF}" srcOrd="1" destOrd="0" presId="urn:microsoft.com/office/officeart/2005/8/layout/chevron1"/>
    <dgm:cxn modelId="{4AC49D7A-B341-8C4C-A018-A6EEC4831BB8}" type="presParOf" srcId="{C056616E-34AB-D848-9960-0BCC43307BE1}" destId="{BF4E8943-7FF7-0B48-9470-6655CBDD83D2}" srcOrd="1" destOrd="0" presId="urn:microsoft.com/office/officeart/2005/8/layout/chevron1"/>
    <dgm:cxn modelId="{02C7130F-C3A2-D947-AD3E-AB83813A7942}" type="presParOf" srcId="{C056616E-34AB-D848-9960-0BCC43307BE1}" destId="{89FDFD00-DD75-DC43-90FE-8CAE5A426339}" srcOrd="2" destOrd="0" presId="urn:microsoft.com/office/officeart/2005/8/layout/chevron1"/>
    <dgm:cxn modelId="{162BDDF5-9A15-9749-BFD3-5F14659C599D}" type="presParOf" srcId="{89FDFD00-DD75-DC43-90FE-8CAE5A426339}" destId="{EE339B2B-776F-DD41-B17A-16E3F91452EC}" srcOrd="0" destOrd="0" presId="urn:microsoft.com/office/officeart/2005/8/layout/chevron1"/>
    <dgm:cxn modelId="{CFC9690D-BEE8-8941-93AF-7A79E3DE9152}" type="presParOf" srcId="{89FDFD00-DD75-DC43-90FE-8CAE5A426339}" destId="{F277B540-B5D5-CF42-B739-45F4DBE2427C}" srcOrd="1" destOrd="0" presId="urn:microsoft.com/office/officeart/2005/8/layout/chevron1"/>
    <dgm:cxn modelId="{1E226D88-638F-CD40-9768-06C5E863F7FC}" type="presParOf" srcId="{C056616E-34AB-D848-9960-0BCC43307BE1}" destId="{F6F6DC32-7868-AA4F-9242-9DEF1FDD8EE1}" srcOrd="3" destOrd="0" presId="urn:microsoft.com/office/officeart/2005/8/layout/chevron1"/>
    <dgm:cxn modelId="{08236EE3-7C16-FB48-99EE-27DE2CB292C3}" type="presParOf" srcId="{C056616E-34AB-D848-9960-0BCC43307BE1}" destId="{A8865112-5013-8A4E-BA27-F4D4FE2917B0}" srcOrd="4" destOrd="0" presId="urn:microsoft.com/office/officeart/2005/8/layout/chevron1"/>
    <dgm:cxn modelId="{A455BF40-8D39-9B40-915C-518464C4F5C6}" type="presParOf" srcId="{A8865112-5013-8A4E-BA27-F4D4FE2917B0}" destId="{FA0BD477-E17C-9046-8416-8129B3958C7A}" srcOrd="0" destOrd="0" presId="urn:microsoft.com/office/officeart/2005/8/layout/chevron1"/>
    <dgm:cxn modelId="{12BB5BDB-21C1-7A47-A0A2-A1F00EAB10A5}" type="presParOf" srcId="{A8865112-5013-8A4E-BA27-F4D4FE2917B0}" destId="{3744A542-2291-5A41-9CE1-FBAA98039FEC}" srcOrd="1" destOrd="0" presId="urn:microsoft.com/office/officeart/2005/8/layout/chevron1"/>
    <dgm:cxn modelId="{2B3E68C9-BDB3-6A4B-A7A2-E7BD3E996484}" type="presParOf" srcId="{C056616E-34AB-D848-9960-0BCC43307BE1}" destId="{92F9D02F-F706-7F44-A676-0EC861187D63}" srcOrd="5" destOrd="0" presId="urn:microsoft.com/office/officeart/2005/8/layout/chevron1"/>
    <dgm:cxn modelId="{4CB2C589-9EC6-9744-A9DD-6C9903892156}" type="presParOf" srcId="{C056616E-34AB-D848-9960-0BCC43307BE1}" destId="{2FC605C3-5EF4-1943-97B6-4965A2F767F5}" srcOrd="6" destOrd="0" presId="urn:microsoft.com/office/officeart/2005/8/layout/chevron1"/>
    <dgm:cxn modelId="{C2474374-7761-9045-84FB-1C42EB4072C0}" type="presParOf" srcId="{2FC605C3-5EF4-1943-97B6-4965A2F767F5}" destId="{4497DCE3-38DE-B342-B75A-262B32B84D6F}" srcOrd="0" destOrd="0" presId="urn:microsoft.com/office/officeart/2005/8/layout/chevron1"/>
    <dgm:cxn modelId="{31718279-DA23-9C4E-9656-87E58832C585}" type="presParOf" srcId="{2FC605C3-5EF4-1943-97B6-4965A2F767F5}" destId="{D3897995-0BC0-F747-93A9-7187BB897C7C}" srcOrd="1"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B0F948F-59C5-504A-A819-C3222257C0AD}" type="doc">
      <dgm:prSet loTypeId="urn:microsoft.com/office/officeart/2005/8/layout/hierarchy5" loCatId="hierarchy" qsTypeId="urn:microsoft.com/office/officeart/2005/8/quickstyle/simple4" qsCatId="simple" csTypeId="urn:microsoft.com/office/officeart/2005/8/colors/accent1_2" csCatId="accent1" phldr="1"/>
      <dgm:spPr/>
      <dgm:t>
        <a:bodyPr/>
        <a:lstStyle/>
        <a:p>
          <a:endParaRPr lang="en-US"/>
        </a:p>
      </dgm:t>
    </dgm:pt>
    <dgm:pt modelId="{2275CDEE-68EB-D345-A170-8D7851B5B366}">
      <dgm:prSet phldrT="[Text]" custT="1"/>
      <dgm:spPr>
        <a:solidFill>
          <a:schemeClr val="accent4">
            <a:lumMod val="50000"/>
          </a:schemeClr>
        </a:solidFill>
      </dgm:spPr>
      <dgm:t>
        <a:bodyPr/>
        <a:lstStyle/>
        <a:p>
          <a:r>
            <a:rPr lang="en-US" sz="2200" dirty="0"/>
            <a:t>In a combined paging/segmentation system a user’s address space is broken up into a number of segments. Each segment is broken up into a number of fixed-sized pages which are equal in length to a main memory frame</a:t>
          </a:r>
        </a:p>
      </dgm:t>
    </dgm:pt>
    <dgm:pt modelId="{4B3E9F9D-1BB7-354D-8326-B77785D729BA}" type="parTrans" cxnId="{3E1ED69C-7277-404A-A4C3-871F243067FF}">
      <dgm:prSet/>
      <dgm:spPr/>
      <dgm:t>
        <a:bodyPr/>
        <a:lstStyle/>
        <a:p>
          <a:endParaRPr lang="en-US"/>
        </a:p>
      </dgm:t>
    </dgm:pt>
    <dgm:pt modelId="{30A08914-744A-D047-BB1F-02E7BEB9DDCE}" type="sibTrans" cxnId="{3E1ED69C-7277-404A-A4C3-871F243067FF}">
      <dgm:prSet/>
      <dgm:spPr/>
      <dgm:t>
        <a:bodyPr/>
        <a:lstStyle/>
        <a:p>
          <a:endParaRPr lang="en-US"/>
        </a:p>
      </dgm:t>
    </dgm:pt>
    <dgm:pt modelId="{D322EA15-3033-4341-B8B6-248C36BA6C2B}">
      <dgm:prSet custT="1"/>
      <dgm:spPr/>
      <dgm:t>
        <a:bodyPr/>
        <a:lstStyle/>
        <a:p>
          <a:r>
            <a:rPr lang="en-US" sz="1800" dirty="0"/>
            <a:t>Segmentation is visible to the programmer</a:t>
          </a:r>
        </a:p>
      </dgm:t>
    </dgm:pt>
    <dgm:pt modelId="{3FB52000-0A77-1548-8CA4-7E00B08DC4C7}" type="parTrans" cxnId="{2DE55CF7-2D05-124A-895D-907969115EA2}">
      <dgm:prSet/>
      <dgm:spPr/>
      <dgm:t>
        <a:bodyPr/>
        <a:lstStyle/>
        <a:p>
          <a:endParaRPr lang="en-US"/>
        </a:p>
      </dgm:t>
    </dgm:pt>
    <dgm:pt modelId="{AE8A2AB5-41FD-BB40-A3D0-ACE782BA9FC2}" type="sibTrans" cxnId="{2DE55CF7-2D05-124A-895D-907969115EA2}">
      <dgm:prSet/>
      <dgm:spPr/>
      <dgm:t>
        <a:bodyPr/>
        <a:lstStyle/>
        <a:p>
          <a:endParaRPr lang="en-US"/>
        </a:p>
      </dgm:t>
    </dgm:pt>
    <dgm:pt modelId="{FBC420F0-B3CC-094B-B113-F7AD9AFF1F65}">
      <dgm:prSet custT="1"/>
      <dgm:spPr/>
      <dgm:t>
        <a:bodyPr/>
        <a:lstStyle/>
        <a:p>
          <a:r>
            <a:rPr lang="en-US" sz="1800" dirty="0"/>
            <a:t>Paging is transparent to the programmer</a:t>
          </a:r>
        </a:p>
      </dgm:t>
    </dgm:pt>
    <dgm:pt modelId="{ADAFB166-8754-3441-A9D6-724C18E4746E}" type="parTrans" cxnId="{0973166F-3EE3-D447-B6A4-2098CBA591A2}">
      <dgm:prSet/>
      <dgm:spPr/>
      <dgm:t>
        <a:bodyPr/>
        <a:lstStyle/>
        <a:p>
          <a:endParaRPr lang="en-US"/>
        </a:p>
      </dgm:t>
    </dgm:pt>
    <dgm:pt modelId="{BCBDDBFF-CE6C-7B47-BD1E-8595D7769704}" type="sibTrans" cxnId="{0973166F-3EE3-D447-B6A4-2098CBA591A2}">
      <dgm:prSet/>
      <dgm:spPr/>
      <dgm:t>
        <a:bodyPr/>
        <a:lstStyle/>
        <a:p>
          <a:endParaRPr lang="en-US"/>
        </a:p>
      </dgm:t>
    </dgm:pt>
    <dgm:pt modelId="{5E0F28B1-3F75-504A-AABC-CD8C7E9CDBF4}" type="pres">
      <dgm:prSet presAssocID="{BB0F948F-59C5-504A-A819-C3222257C0AD}" presName="mainComposite" presStyleCnt="0">
        <dgm:presLayoutVars>
          <dgm:chPref val="1"/>
          <dgm:dir/>
          <dgm:animOne val="branch"/>
          <dgm:animLvl val="lvl"/>
          <dgm:resizeHandles val="exact"/>
        </dgm:presLayoutVars>
      </dgm:prSet>
      <dgm:spPr/>
    </dgm:pt>
    <dgm:pt modelId="{36C4D4F6-307E-FB4D-B0EF-54CCAE6C41ED}" type="pres">
      <dgm:prSet presAssocID="{BB0F948F-59C5-504A-A819-C3222257C0AD}" presName="hierFlow" presStyleCnt="0"/>
      <dgm:spPr/>
    </dgm:pt>
    <dgm:pt modelId="{85D2371A-BF0F-A14E-9A2B-EBC24D28518D}" type="pres">
      <dgm:prSet presAssocID="{BB0F948F-59C5-504A-A819-C3222257C0AD}" presName="hierChild1" presStyleCnt="0">
        <dgm:presLayoutVars>
          <dgm:chPref val="1"/>
          <dgm:animOne val="branch"/>
          <dgm:animLvl val="lvl"/>
        </dgm:presLayoutVars>
      </dgm:prSet>
      <dgm:spPr/>
    </dgm:pt>
    <dgm:pt modelId="{2A780AB7-0B60-1549-BE67-A02DC437033F}" type="pres">
      <dgm:prSet presAssocID="{2275CDEE-68EB-D345-A170-8D7851B5B366}" presName="Name17" presStyleCnt="0"/>
      <dgm:spPr/>
    </dgm:pt>
    <dgm:pt modelId="{BE16B99C-4EAC-7F47-8867-A4C76D9F80B9}" type="pres">
      <dgm:prSet presAssocID="{2275CDEE-68EB-D345-A170-8D7851B5B366}" presName="level1Shape" presStyleLbl="node0" presStyleIdx="0" presStyleCnt="1" custScaleX="107592" custScaleY="180147">
        <dgm:presLayoutVars>
          <dgm:chPref val="3"/>
        </dgm:presLayoutVars>
      </dgm:prSet>
      <dgm:spPr/>
    </dgm:pt>
    <dgm:pt modelId="{46606BAE-AC36-E041-9994-4708BB3D5C3C}" type="pres">
      <dgm:prSet presAssocID="{2275CDEE-68EB-D345-A170-8D7851B5B366}" presName="hierChild2" presStyleCnt="0"/>
      <dgm:spPr/>
    </dgm:pt>
    <dgm:pt modelId="{D9DAF0E8-88AE-9D49-97D7-BB2E2BAD5635}" type="pres">
      <dgm:prSet presAssocID="{3FB52000-0A77-1548-8CA4-7E00B08DC4C7}" presName="Name25" presStyleLbl="parChTrans1D2" presStyleIdx="0" presStyleCnt="2"/>
      <dgm:spPr/>
    </dgm:pt>
    <dgm:pt modelId="{CBC4E109-D074-5547-996B-94C1923E7BA1}" type="pres">
      <dgm:prSet presAssocID="{3FB52000-0A77-1548-8CA4-7E00B08DC4C7}" presName="connTx" presStyleLbl="parChTrans1D2" presStyleIdx="0" presStyleCnt="2"/>
      <dgm:spPr/>
    </dgm:pt>
    <dgm:pt modelId="{31CB4DB6-764B-CB4C-9376-63030974CD8A}" type="pres">
      <dgm:prSet presAssocID="{D322EA15-3033-4341-B8B6-248C36BA6C2B}" presName="Name30" presStyleCnt="0"/>
      <dgm:spPr/>
    </dgm:pt>
    <dgm:pt modelId="{4877654D-7D28-164B-92B9-382C31F42FCB}" type="pres">
      <dgm:prSet presAssocID="{D322EA15-3033-4341-B8B6-248C36BA6C2B}" presName="level2Shape" presStyleLbl="node2" presStyleIdx="0" presStyleCnt="2" custScaleX="89792" custScaleY="70399"/>
      <dgm:spPr/>
    </dgm:pt>
    <dgm:pt modelId="{270C1A6A-64ED-2945-B66C-A57204640FE5}" type="pres">
      <dgm:prSet presAssocID="{D322EA15-3033-4341-B8B6-248C36BA6C2B}" presName="hierChild3" presStyleCnt="0"/>
      <dgm:spPr/>
    </dgm:pt>
    <dgm:pt modelId="{46DC0573-937E-AD4B-991E-D1C6705C9487}" type="pres">
      <dgm:prSet presAssocID="{ADAFB166-8754-3441-A9D6-724C18E4746E}" presName="Name25" presStyleLbl="parChTrans1D2" presStyleIdx="1" presStyleCnt="2"/>
      <dgm:spPr/>
    </dgm:pt>
    <dgm:pt modelId="{4664B0F1-D798-3846-AF8F-B6646E46D270}" type="pres">
      <dgm:prSet presAssocID="{ADAFB166-8754-3441-A9D6-724C18E4746E}" presName="connTx" presStyleLbl="parChTrans1D2" presStyleIdx="1" presStyleCnt="2"/>
      <dgm:spPr/>
    </dgm:pt>
    <dgm:pt modelId="{6D17E579-CC47-404D-ABE2-06B453D6E79A}" type="pres">
      <dgm:prSet presAssocID="{FBC420F0-B3CC-094B-B113-F7AD9AFF1F65}" presName="Name30" presStyleCnt="0"/>
      <dgm:spPr/>
    </dgm:pt>
    <dgm:pt modelId="{EDE292BD-4C6C-2B42-BD10-FDE3CE5FB6C6}" type="pres">
      <dgm:prSet presAssocID="{FBC420F0-B3CC-094B-B113-F7AD9AFF1F65}" presName="level2Shape" presStyleLbl="node2" presStyleIdx="1" presStyleCnt="2" custScaleX="89970" custScaleY="71736"/>
      <dgm:spPr/>
    </dgm:pt>
    <dgm:pt modelId="{A45A240B-41C8-8A40-B815-09FBB631487A}" type="pres">
      <dgm:prSet presAssocID="{FBC420F0-B3CC-094B-B113-F7AD9AFF1F65}" presName="hierChild3" presStyleCnt="0"/>
      <dgm:spPr/>
    </dgm:pt>
    <dgm:pt modelId="{C7B2103C-5DF0-174D-92E4-C4F08AB6A7F6}" type="pres">
      <dgm:prSet presAssocID="{BB0F948F-59C5-504A-A819-C3222257C0AD}" presName="bgShapesFlow" presStyleCnt="0"/>
      <dgm:spPr/>
    </dgm:pt>
  </dgm:ptLst>
  <dgm:cxnLst>
    <dgm:cxn modelId="{68781037-8DAF-2640-B332-44F325063286}" type="presOf" srcId="{BB0F948F-59C5-504A-A819-C3222257C0AD}" destId="{5E0F28B1-3F75-504A-AABC-CD8C7E9CDBF4}" srcOrd="0" destOrd="0" presId="urn:microsoft.com/office/officeart/2005/8/layout/hierarchy5"/>
    <dgm:cxn modelId="{564FC639-E357-D742-B6A2-0C8F94FB5770}" type="presOf" srcId="{D322EA15-3033-4341-B8B6-248C36BA6C2B}" destId="{4877654D-7D28-164B-92B9-382C31F42FCB}" srcOrd="0" destOrd="0" presId="urn:microsoft.com/office/officeart/2005/8/layout/hierarchy5"/>
    <dgm:cxn modelId="{0973166F-3EE3-D447-B6A4-2098CBA591A2}" srcId="{2275CDEE-68EB-D345-A170-8D7851B5B366}" destId="{FBC420F0-B3CC-094B-B113-F7AD9AFF1F65}" srcOrd="1" destOrd="0" parTransId="{ADAFB166-8754-3441-A9D6-724C18E4746E}" sibTransId="{BCBDDBFF-CE6C-7B47-BD1E-8595D7769704}"/>
    <dgm:cxn modelId="{C3D8309A-7756-2143-9B07-4D5F0C5CBCCF}" type="presOf" srcId="{ADAFB166-8754-3441-A9D6-724C18E4746E}" destId="{46DC0573-937E-AD4B-991E-D1C6705C9487}" srcOrd="0" destOrd="0" presId="urn:microsoft.com/office/officeart/2005/8/layout/hierarchy5"/>
    <dgm:cxn modelId="{3E1ED69C-7277-404A-A4C3-871F243067FF}" srcId="{BB0F948F-59C5-504A-A819-C3222257C0AD}" destId="{2275CDEE-68EB-D345-A170-8D7851B5B366}" srcOrd="0" destOrd="0" parTransId="{4B3E9F9D-1BB7-354D-8326-B77785D729BA}" sibTransId="{30A08914-744A-D047-BB1F-02E7BEB9DDCE}"/>
    <dgm:cxn modelId="{B973B89E-4EB6-214D-B68D-93D1BAC4CD0B}" type="presOf" srcId="{3FB52000-0A77-1548-8CA4-7E00B08DC4C7}" destId="{D9DAF0E8-88AE-9D49-97D7-BB2E2BAD5635}" srcOrd="0" destOrd="0" presId="urn:microsoft.com/office/officeart/2005/8/layout/hierarchy5"/>
    <dgm:cxn modelId="{B97ACFA3-DDE7-3A42-94D1-90C2BBA6E9EC}" type="presOf" srcId="{2275CDEE-68EB-D345-A170-8D7851B5B366}" destId="{BE16B99C-4EAC-7F47-8867-A4C76D9F80B9}" srcOrd="0" destOrd="0" presId="urn:microsoft.com/office/officeart/2005/8/layout/hierarchy5"/>
    <dgm:cxn modelId="{9B8C6AA5-2662-0443-8634-CD0E3934345B}" type="presOf" srcId="{3FB52000-0A77-1548-8CA4-7E00B08DC4C7}" destId="{CBC4E109-D074-5547-996B-94C1923E7BA1}" srcOrd="1" destOrd="0" presId="urn:microsoft.com/office/officeart/2005/8/layout/hierarchy5"/>
    <dgm:cxn modelId="{5A7C08C2-D676-A940-935E-C409344E1B26}" type="presOf" srcId="{FBC420F0-B3CC-094B-B113-F7AD9AFF1F65}" destId="{EDE292BD-4C6C-2B42-BD10-FDE3CE5FB6C6}" srcOrd="0" destOrd="0" presId="urn:microsoft.com/office/officeart/2005/8/layout/hierarchy5"/>
    <dgm:cxn modelId="{4AEC7BD7-0EC7-344A-9E23-BF5EF2C2B158}" type="presOf" srcId="{ADAFB166-8754-3441-A9D6-724C18E4746E}" destId="{4664B0F1-D798-3846-AF8F-B6646E46D270}" srcOrd="1" destOrd="0" presId="urn:microsoft.com/office/officeart/2005/8/layout/hierarchy5"/>
    <dgm:cxn modelId="{2DE55CF7-2D05-124A-895D-907969115EA2}" srcId="{2275CDEE-68EB-D345-A170-8D7851B5B366}" destId="{D322EA15-3033-4341-B8B6-248C36BA6C2B}" srcOrd="0" destOrd="0" parTransId="{3FB52000-0A77-1548-8CA4-7E00B08DC4C7}" sibTransId="{AE8A2AB5-41FD-BB40-A3D0-ACE782BA9FC2}"/>
    <dgm:cxn modelId="{25B53F07-2240-9041-B0BC-DF2822EF9DEA}" type="presParOf" srcId="{5E0F28B1-3F75-504A-AABC-CD8C7E9CDBF4}" destId="{36C4D4F6-307E-FB4D-B0EF-54CCAE6C41ED}" srcOrd="0" destOrd="0" presId="urn:microsoft.com/office/officeart/2005/8/layout/hierarchy5"/>
    <dgm:cxn modelId="{6212D9CA-DD2C-A447-92CD-2F72F9C6B7BB}" type="presParOf" srcId="{36C4D4F6-307E-FB4D-B0EF-54CCAE6C41ED}" destId="{85D2371A-BF0F-A14E-9A2B-EBC24D28518D}" srcOrd="0" destOrd="0" presId="urn:microsoft.com/office/officeart/2005/8/layout/hierarchy5"/>
    <dgm:cxn modelId="{3CDCD8C5-9E37-4541-9562-020A68CBB47D}" type="presParOf" srcId="{85D2371A-BF0F-A14E-9A2B-EBC24D28518D}" destId="{2A780AB7-0B60-1549-BE67-A02DC437033F}" srcOrd="0" destOrd="0" presId="urn:microsoft.com/office/officeart/2005/8/layout/hierarchy5"/>
    <dgm:cxn modelId="{5534BEEF-F8B4-2C41-850D-053A3D56BC0D}" type="presParOf" srcId="{2A780AB7-0B60-1549-BE67-A02DC437033F}" destId="{BE16B99C-4EAC-7F47-8867-A4C76D9F80B9}" srcOrd="0" destOrd="0" presId="urn:microsoft.com/office/officeart/2005/8/layout/hierarchy5"/>
    <dgm:cxn modelId="{86205A75-9CF1-E54B-AE2D-DDA690A3A41F}" type="presParOf" srcId="{2A780AB7-0B60-1549-BE67-A02DC437033F}" destId="{46606BAE-AC36-E041-9994-4708BB3D5C3C}" srcOrd="1" destOrd="0" presId="urn:microsoft.com/office/officeart/2005/8/layout/hierarchy5"/>
    <dgm:cxn modelId="{886D6E86-189F-A34D-8BF2-5FC7E79A4C98}" type="presParOf" srcId="{46606BAE-AC36-E041-9994-4708BB3D5C3C}" destId="{D9DAF0E8-88AE-9D49-97D7-BB2E2BAD5635}" srcOrd="0" destOrd="0" presId="urn:microsoft.com/office/officeart/2005/8/layout/hierarchy5"/>
    <dgm:cxn modelId="{53AA3935-FBA3-FC4F-83FB-14BB1E46BE17}" type="presParOf" srcId="{D9DAF0E8-88AE-9D49-97D7-BB2E2BAD5635}" destId="{CBC4E109-D074-5547-996B-94C1923E7BA1}" srcOrd="0" destOrd="0" presId="urn:microsoft.com/office/officeart/2005/8/layout/hierarchy5"/>
    <dgm:cxn modelId="{2B3BCA61-E6F1-A249-B48C-B31815C85C09}" type="presParOf" srcId="{46606BAE-AC36-E041-9994-4708BB3D5C3C}" destId="{31CB4DB6-764B-CB4C-9376-63030974CD8A}" srcOrd="1" destOrd="0" presId="urn:microsoft.com/office/officeart/2005/8/layout/hierarchy5"/>
    <dgm:cxn modelId="{AD9B0D0D-1339-EA4E-A9AC-9323A642B6D0}" type="presParOf" srcId="{31CB4DB6-764B-CB4C-9376-63030974CD8A}" destId="{4877654D-7D28-164B-92B9-382C31F42FCB}" srcOrd="0" destOrd="0" presId="urn:microsoft.com/office/officeart/2005/8/layout/hierarchy5"/>
    <dgm:cxn modelId="{35D8B2DB-4C7E-AC48-90A5-7F0B15E165AA}" type="presParOf" srcId="{31CB4DB6-764B-CB4C-9376-63030974CD8A}" destId="{270C1A6A-64ED-2945-B66C-A57204640FE5}" srcOrd="1" destOrd="0" presId="urn:microsoft.com/office/officeart/2005/8/layout/hierarchy5"/>
    <dgm:cxn modelId="{A233EC55-C8B2-BF49-BE22-FC5F167BF95D}" type="presParOf" srcId="{46606BAE-AC36-E041-9994-4708BB3D5C3C}" destId="{46DC0573-937E-AD4B-991E-D1C6705C9487}" srcOrd="2" destOrd="0" presId="urn:microsoft.com/office/officeart/2005/8/layout/hierarchy5"/>
    <dgm:cxn modelId="{FF79EE01-305D-3043-9363-509BD170DE6E}" type="presParOf" srcId="{46DC0573-937E-AD4B-991E-D1C6705C9487}" destId="{4664B0F1-D798-3846-AF8F-B6646E46D270}" srcOrd="0" destOrd="0" presId="urn:microsoft.com/office/officeart/2005/8/layout/hierarchy5"/>
    <dgm:cxn modelId="{91A50962-0B89-F048-89D6-7AB4AFD12B7C}" type="presParOf" srcId="{46606BAE-AC36-E041-9994-4708BB3D5C3C}" destId="{6D17E579-CC47-404D-ABE2-06B453D6E79A}" srcOrd="3" destOrd="0" presId="urn:microsoft.com/office/officeart/2005/8/layout/hierarchy5"/>
    <dgm:cxn modelId="{2067C482-1238-7148-94BA-8CFC4FDF7A09}" type="presParOf" srcId="{6D17E579-CC47-404D-ABE2-06B453D6E79A}" destId="{EDE292BD-4C6C-2B42-BD10-FDE3CE5FB6C6}" srcOrd="0" destOrd="0" presId="urn:microsoft.com/office/officeart/2005/8/layout/hierarchy5"/>
    <dgm:cxn modelId="{1C0C3C58-79FB-0C41-8323-8D648C0953D6}" type="presParOf" srcId="{6D17E579-CC47-404D-ABE2-06B453D6E79A}" destId="{A45A240B-41C8-8A40-B815-09FBB631487A}" srcOrd="1" destOrd="0" presId="urn:microsoft.com/office/officeart/2005/8/layout/hierarchy5"/>
    <dgm:cxn modelId="{1E253402-48D0-924A-A28B-8DFBFD6D0E6A}" type="presParOf" srcId="{5E0F28B1-3F75-504A-AABC-CD8C7E9CDBF4}" destId="{C7B2103C-5DF0-174D-92E4-C4F08AB6A7F6}" srcOrd="1" destOrd="0" presId="urn:microsoft.com/office/officeart/2005/8/layout/hierarchy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3221851-5EF1-A140-8B11-BFC4A60FE09A}"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3950D1DF-2125-6643-A4F0-5058A2FDD6B3}">
      <dgm:prSet custT="1"/>
      <dgm:spPr/>
      <dgm:t>
        <a:bodyPr/>
        <a:lstStyle/>
        <a:p>
          <a:pPr rtl="0"/>
          <a:r>
            <a:rPr lang="en-US" sz="3200" dirty="0"/>
            <a:t>The design of the memory management portion of an operating system depends on three fundamental areas of choice:</a:t>
          </a:r>
        </a:p>
      </dgm:t>
    </dgm:pt>
    <dgm:pt modelId="{063F761E-965A-E94C-8C0B-B64776EE0A44}" type="parTrans" cxnId="{BE8B2ED8-3299-5741-B982-20A9A3AE5266}">
      <dgm:prSet/>
      <dgm:spPr/>
      <dgm:t>
        <a:bodyPr/>
        <a:lstStyle/>
        <a:p>
          <a:endParaRPr lang="en-US"/>
        </a:p>
      </dgm:t>
    </dgm:pt>
    <dgm:pt modelId="{8A992A4A-DBA3-D84A-B4D1-590AE5416B17}" type="sibTrans" cxnId="{BE8B2ED8-3299-5741-B982-20A9A3AE5266}">
      <dgm:prSet/>
      <dgm:spPr/>
      <dgm:t>
        <a:bodyPr/>
        <a:lstStyle/>
        <a:p>
          <a:endParaRPr lang="en-US"/>
        </a:p>
      </dgm:t>
    </dgm:pt>
    <dgm:pt modelId="{36818CF7-E2BE-534C-B91B-3920E332C25E}">
      <dgm:prSet custT="1"/>
      <dgm:spPr/>
      <dgm:t>
        <a:bodyPr/>
        <a:lstStyle/>
        <a:p>
          <a:pPr rtl="0"/>
          <a:r>
            <a:rPr lang="en-US" sz="2800" dirty="0"/>
            <a:t>Whether or not to use virtual memory techniques</a:t>
          </a:r>
        </a:p>
      </dgm:t>
    </dgm:pt>
    <dgm:pt modelId="{A9E31F8A-AC41-6043-8766-00DACBF9D2AE}" type="parTrans" cxnId="{187D516F-B1EB-E04C-8CE9-3C6A4EAB992E}">
      <dgm:prSet/>
      <dgm:spPr/>
      <dgm:t>
        <a:bodyPr/>
        <a:lstStyle/>
        <a:p>
          <a:endParaRPr lang="en-US"/>
        </a:p>
      </dgm:t>
    </dgm:pt>
    <dgm:pt modelId="{65F29B4D-4271-0340-AE09-359A3127F142}" type="sibTrans" cxnId="{187D516F-B1EB-E04C-8CE9-3C6A4EAB992E}">
      <dgm:prSet/>
      <dgm:spPr/>
      <dgm:t>
        <a:bodyPr/>
        <a:lstStyle/>
        <a:p>
          <a:endParaRPr lang="en-US"/>
        </a:p>
      </dgm:t>
    </dgm:pt>
    <dgm:pt modelId="{8A5BD9AA-BCE2-BC45-9094-4C8BABFDF403}">
      <dgm:prSet custT="1"/>
      <dgm:spPr/>
      <dgm:t>
        <a:bodyPr/>
        <a:lstStyle/>
        <a:p>
          <a:pPr rtl="0"/>
          <a:r>
            <a:rPr lang="en-US" sz="2800" dirty="0"/>
            <a:t>The use of paging or segmentation or both</a:t>
          </a:r>
        </a:p>
      </dgm:t>
    </dgm:pt>
    <dgm:pt modelId="{2067813C-0F83-F44D-A2BC-07D449861BAD}" type="parTrans" cxnId="{4C5AACB4-A416-C542-B511-39DC36B23D0C}">
      <dgm:prSet/>
      <dgm:spPr/>
      <dgm:t>
        <a:bodyPr/>
        <a:lstStyle/>
        <a:p>
          <a:endParaRPr lang="en-US"/>
        </a:p>
      </dgm:t>
    </dgm:pt>
    <dgm:pt modelId="{2B45429E-4452-9F48-A3B6-B791A86262B1}" type="sibTrans" cxnId="{4C5AACB4-A416-C542-B511-39DC36B23D0C}">
      <dgm:prSet/>
      <dgm:spPr/>
      <dgm:t>
        <a:bodyPr/>
        <a:lstStyle/>
        <a:p>
          <a:endParaRPr lang="en-US"/>
        </a:p>
      </dgm:t>
    </dgm:pt>
    <dgm:pt modelId="{00531C10-3067-D94C-A96F-7F0369ED4FBD}">
      <dgm:prSet custT="1"/>
      <dgm:spPr/>
      <dgm:t>
        <a:bodyPr/>
        <a:lstStyle/>
        <a:p>
          <a:pPr rtl="0"/>
          <a:r>
            <a:rPr lang="en-NZ" sz="2800" dirty="0"/>
            <a:t>The algorithms employed for various aspects of memory management</a:t>
          </a:r>
        </a:p>
      </dgm:t>
    </dgm:pt>
    <dgm:pt modelId="{5DE211B5-48AB-FD4D-8441-04C6DD704370}" type="sibTrans" cxnId="{860AD2C2-BAF0-EE49-AA88-816DC8798D63}">
      <dgm:prSet/>
      <dgm:spPr/>
      <dgm:t>
        <a:bodyPr/>
        <a:lstStyle/>
        <a:p>
          <a:endParaRPr lang="en-US"/>
        </a:p>
      </dgm:t>
    </dgm:pt>
    <dgm:pt modelId="{F31B542D-F021-BE41-8935-5D8D3CB4AF95}" type="parTrans" cxnId="{860AD2C2-BAF0-EE49-AA88-816DC8798D63}">
      <dgm:prSet/>
      <dgm:spPr/>
      <dgm:t>
        <a:bodyPr/>
        <a:lstStyle/>
        <a:p>
          <a:endParaRPr lang="en-US"/>
        </a:p>
      </dgm:t>
    </dgm:pt>
    <dgm:pt modelId="{D20BE9F9-5BC8-6D47-895E-8EA0E0B5F91D}">
      <dgm:prSet custT="1"/>
      <dgm:spPr/>
      <dgm:t>
        <a:bodyPr/>
        <a:lstStyle/>
        <a:p>
          <a:pPr rtl="0"/>
          <a:endParaRPr lang="en-US" sz="2800" dirty="0"/>
        </a:p>
      </dgm:t>
    </dgm:pt>
    <dgm:pt modelId="{58CEDC2C-B127-6F48-9376-B1C551323F40}" type="parTrans" cxnId="{2B55463A-6922-6D42-9EC4-76669EE38114}">
      <dgm:prSet/>
      <dgm:spPr/>
      <dgm:t>
        <a:bodyPr/>
        <a:lstStyle/>
        <a:p>
          <a:endParaRPr lang="en-GB"/>
        </a:p>
      </dgm:t>
    </dgm:pt>
    <dgm:pt modelId="{3AD0DB57-FDFA-ED46-B467-C9B0C4AC3B69}" type="sibTrans" cxnId="{2B55463A-6922-6D42-9EC4-76669EE38114}">
      <dgm:prSet/>
      <dgm:spPr/>
      <dgm:t>
        <a:bodyPr/>
        <a:lstStyle/>
        <a:p>
          <a:endParaRPr lang="en-GB"/>
        </a:p>
      </dgm:t>
    </dgm:pt>
    <dgm:pt modelId="{CC2B19CB-FA6F-2344-8167-93A322E2E20C}" type="pres">
      <dgm:prSet presAssocID="{B3221851-5EF1-A140-8B11-BFC4A60FE09A}" presName="linear" presStyleCnt="0">
        <dgm:presLayoutVars>
          <dgm:animLvl val="lvl"/>
          <dgm:resizeHandles val="exact"/>
        </dgm:presLayoutVars>
      </dgm:prSet>
      <dgm:spPr/>
    </dgm:pt>
    <dgm:pt modelId="{2C54C350-B66A-6B43-B459-56DA696A90E8}" type="pres">
      <dgm:prSet presAssocID="{3950D1DF-2125-6643-A4F0-5058A2FDD6B3}" presName="parentText" presStyleLbl="node1" presStyleIdx="0" presStyleCnt="1">
        <dgm:presLayoutVars>
          <dgm:chMax val="0"/>
          <dgm:bulletEnabled val="1"/>
        </dgm:presLayoutVars>
      </dgm:prSet>
      <dgm:spPr/>
    </dgm:pt>
    <dgm:pt modelId="{BB770BBE-6E3E-6C42-A86E-16AF039670AE}" type="pres">
      <dgm:prSet presAssocID="{3950D1DF-2125-6643-A4F0-5058A2FDD6B3}" presName="childText" presStyleLbl="revTx" presStyleIdx="0" presStyleCnt="1" custScaleY="210628">
        <dgm:presLayoutVars>
          <dgm:bulletEnabled val="1"/>
        </dgm:presLayoutVars>
      </dgm:prSet>
      <dgm:spPr/>
    </dgm:pt>
  </dgm:ptLst>
  <dgm:cxnLst>
    <dgm:cxn modelId="{C178C416-7623-9544-A57E-568E27792114}" type="presOf" srcId="{3950D1DF-2125-6643-A4F0-5058A2FDD6B3}" destId="{2C54C350-B66A-6B43-B459-56DA696A90E8}" srcOrd="0" destOrd="0" presId="urn:microsoft.com/office/officeart/2005/8/layout/vList2"/>
    <dgm:cxn modelId="{C830E828-862E-D041-BCC5-D5B44F5CAB29}" type="presOf" srcId="{00531C10-3067-D94C-A96F-7F0369ED4FBD}" destId="{BB770BBE-6E3E-6C42-A86E-16AF039670AE}" srcOrd="0" destOrd="3" presId="urn:microsoft.com/office/officeart/2005/8/layout/vList2"/>
    <dgm:cxn modelId="{2B55463A-6922-6D42-9EC4-76669EE38114}" srcId="{3950D1DF-2125-6643-A4F0-5058A2FDD6B3}" destId="{D20BE9F9-5BC8-6D47-895E-8EA0E0B5F91D}" srcOrd="0" destOrd="0" parTransId="{58CEDC2C-B127-6F48-9376-B1C551323F40}" sibTransId="{3AD0DB57-FDFA-ED46-B467-C9B0C4AC3B69}"/>
    <dgm:cxn modelId="{958EE13B-CA9D-0648-9594-CB3C545D1135}" type="presOf" srcId="{B3221851-5EF1-A140-8B11-BFC4A60FE09A}" destId="{CC2B19CB-FA6F-2344-8167-93A322E2E20C}" srcOrd="0" destOrd="0" presId="urn:microsoft.com/office/officeart/2005/8/layout/vList2"/>
    <dgm:cxn modelId="{2B30DA47-4291-7940-AD1D-27834A2301DA}" type="presOf" srcId="{36818CF7-E2BE-534C-B91B-3920E332C25E}" destId="{BB770BBE-6E3E-6C42-A86E-16AF039670AE}" srcOrd="0" destOrd="1" presId="urn:microsoft.com/office/officeart/2005/8/layout/vList2"/>
    <dgm:cxn modelId="{187D516F-B1EB-E04C-8CE9-3C6A4EAB992E}" srcId="{3950D1DF-2125-6643-A4F0-5058A2FDD6B3}" destId="{36818CF7-E2BE-534C-B91B-3920E332C25E}" srcOrd="1" destOrd="0" parTransId="{A9E31F8A-AC41-6043-8766-00DACBF9D2AE}" sibTransId="{65F29B4D-4271-0340-AE09-359A3127F142}"/>
    <dgm:cxn modelId="{4C5AACB4-A416-C542-B511-39DC36B23D0C}" srcId="{3950D1DF-2125-6643-A4F0-5058A2FDD6B3}" destId="{8A5BD9AA-BCE2-BC45-9094-4C8BABFDF403}" srcOrd="2" destOrd="0" parTransId="{2067813C-0F83-F44D-A2BC-07D449861BAD}" sibTransId="{2B45429E-4452-9F48-A3B6-B791A86262B1}"/>
    <dgm:cxn modelId="{9DE317B6-183B-0F45-AE5F-DE8B0AA12413}" type="presOf" srcId="{D20BE9F9-5BC8-6D47-895E-8EA0E0B5F91D}" destId="{BB770BBE-6E3E-6C42-A86E-16AF039670AE}" srcOrd="0" destOrd="0" presId="urn:microsoft.com/office/officeart/2005/8/layout/vList2"/>
    <dgm:cxn modelId="{860AD2C2-BAF0-EE49-AA88-816DC8798D63}" srcId="{3950D1DF-2125-6643-A4F0-5058A2FDD6B3}" destId="{00531C10-3067-D94C-A96F-7F0369ED4FBD}" srcOrd="3" destOrd="0" parTransId="{F31B542D-F021-BE41-8935-5D8D3CB4AF95}" sibTransId="{5DE211B5-48AB-FD4D-8441-04C6DD704370}"/>
    <dgm:cxn modelId="{BE8B2ED8-3299-5741-B982-20A9A3AE5266}" srcId="{B3221851-5EF1-A140-8B11-BFC4A60FE09A}" destId="{3950D1DF-2125-6643-A4F0-5058A2FDD6B3}" srcOrd="0" destOrd="0" parTransId="{063F761E-965A-E94C-8C0B-B64776EE0A44}" sibTransId="{8A992A4A-DBA3-D84A-B4D1-590AE5416B17}"/>
    <dgm:cxn modelId="{4F5C39E4-C5F9-8149-B707-9FF9F0119CAE}" type="presOf" srcId="{8A5BD9AA-BCE2-BC45-9094-4C8BABFDF403}" destId="{BB770BBE-6E3E-6C42-A86E-16AF039670AE}" srcOrd="0" destOrd="2" presId="urn:microsoft.com/office/officeart/2005/8/layout/vList2"/>
    <dgm:cxn modelId="{0AE7CAA0-C21E-3A44-B268-139C09DD95BF}" type="presParOf" srcId="{CC2B19CB-FA6F-2344-8167-93A322E2E20C}" destId="{2C54C350-B66A-6B43-B459-56DA696A90E8}" srcOrd="0" destOrd="0" presId="urn:microsoft.com/office/officeart/2005/8/layout/vList2"/>
    <dgm:cxn modelId="{9A5C3BC0-741B-BF44-BC2F-40E43C8DA751}" type="presParOf" srcId="{CC2B19CB-FA6F-2344-8167-93A322E2E20C}" destId="{BB770BBE-6E3E-6C42-A86E-16AF039670AE}"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E35E02B-71EA-A248-A9D1-2F965A2C7B31}" type="doc">
      <dgm:prSet loTypeId="urn:microsoft.com/office/officeart/2005/8/layout/hierarchy6" loCatId="hierarchy" qsTypeId="urn:microsoft.com/office/officeart/2005/8/quickstyle/simple4" qsCatId="simple" csTypeId="urn:microsoft.com/office/officeart/2005/8/colors/accent1_2" csCatId="accent1" phldr="1"/>
      <dgm:spPr/>
    </dgm:pt>
    <dgm:pt modelId="{23084231-31CB-4743-B4A4-79D75B471C13}">
      <dgm:prSet phldrT="[Text]"/>
      <dgm:spPr/>
      <dgm:t>
        <a:bodyPr/>
        <a:lstStyle/>
        <a:p>
          <a:r>
            <a:rPr lang="en-US" dirty="0"/>
            <a:t>Two main types:</a:t>
          </a:r>
        </a:p>
      </dgm:t>
    </dgm:pt>
    <dgm:pt modelId="{401E3C16-4AAC-704D-82E4-0D66DF61552E}" type="parTrans" cxnId="{BF33AFCF-4A2A-FE43-A8ED-38A099C1D8BC}">
      <dgm:prSet/>
      <dgm:spPr/>
      <dgm:t>
        <a:bodyPr/>
        <a:lstStyle/>
        <a:p>
          <a:endParaRPr lang="en-US"/>
        </a:p>
      </dgm:t>
    </dgm:pt>
    <dgm:pt modelId="{692FF7BF-C0A4-674A-BF1F-0B151DCF5D64}" type="sibTrans" cxnId="{BF33AFCF-4A2A-FE43-A8ED-38A099C1D8BC}">
      <dgm:prSet/>
      <dgm:spPr/>
      <dgm:t>
        <a:bodyPr/>
        <a:lstStyle/>
        <a:p>
          <a:endParaRPr lang="en-US"/>
        </a:p>
      </dgm:t>
    </dgm:pt>
    <dgm:pt modelId="{1DA8F05A-5B38-7A4B-A17B-66CF5B6872DE}">
      <dgm:prSet/>
      <dgm:spPr/>
      <dgm:t>
        <a:bodyPr/>
        <a:lstStyle/>
        <a:p>
          <a:r>
            <a:rPr lang="en-US" dirty="0"/>
            <a:t>Demand Paging </a:t>
          </a:r>
        </a:p>
      </dgm:t>
    </dgm:pt>
    <dgm:pt modelId="{1D73C883-0270-7D43-A3D6-E088B19F4F0C}" type="parTrans" cxnId="{8166DABC-C6DB-E84B-B775-E9C5DA2FF9BF}">
      <dgm:prSet/>
      <dgm:spPr/>
      <dgm:t>
        <a:bodyPr/>
        <a:lstStyle/>
        <a:p>
          <a:endParaRPr lang="en-US"/>
        </a:p>
      </dgm:t>
    </dgm:pt>
    <dgm:pt modelId="{F1121A77-6FE8-5E4F-A442-5C1A505C93F3}" type="sibTrans" cxnId="{8166DABC-C6DB-E84B-B775-E9C5DA2FF9BF}">
      <dgm:prSet/>
      <dgm:spPr/>
      <dgm:t>
        <a:bodyPr/>
        <a:lstStyle/>
        <a:p>
          <a:endParaRPr lang="en-US"/>
        </a:p>
      </dgm:t>
    </dgm:pt>
    <dgm:pt modelId="{CC2EA49D-6FA8-6A47-B280-61DE471AFC17}">
      <dgm:prSet/>
      <dgm:spPr/>
      <dgm:t>
        <a:bodyPr/>
        <a:lstStyle/>
        <a:p>
          <a:r>
            <a:rPr lang="en-US" dirty="0" err="1"/>
            <a:t>Prepaging</a:t>
          </a:r>
          <a:endParaRPr lang="en-US" dirty="0"/>
        </a:p>
      </dgm:t>
    </dgm:pt>
    <dgm:pt modelId="{171EE2B2-D007-7D47-8175-5BDD56D3449B}" type="parTrans" cxnId="{B1F7B894-93BA-2548-A9A3-AB31E3BCC975}">
      <dgm:prSet/>
      <dgm:spPr/>
      <dgm:t>
        <a:bodyPr/>
        <a:lstStyle/>
        <a:p>
          <a:endParaRPr lang="en-US"/>
        </a:p>
      </dgm:t>
    </dgm:pt>
    <dgm:pt modelId="{134C7CA8-BAE9-DB47-AB35-D07CD95CDBF0}" type="sibTrans" cxnId="{B1F7B894-93BA-2548-A9A3-AB31E3BCC975}">
      <dgm:prSet/>
      <dgm:spPr/>
      <dgm:t>
        <a:bodyPr/>
        <a:lstStyle/>
        <a:p>
          <a:endParaRPr lang="en-US"/>
        </a:p>
      </dgm:t>
    </dgm:pt>
    <dgm:pt modelId="{BF8FBDCF-9F23-B04B-9764-EDEEC6AE3CC3}" type="pres">
      <dgm:prSet presAssocID="{FE35E02B-71EA-A248-A9D1-2F965A2C7B31}" presName="mainComposite" presStyleCnt="0">
        <dgm:presLayoutVars>
          <dgm:chPref val="1"/>
          <dgm:dir/>
          <dgm:animOne val="branch"/>
          <dgm:animLvl val="lvl"/>
          <dgm:resizeHandles val="exact"/>
        </dgm:presLayoutVars>
      </dgm:prSet>
      <dgm:spPr/>
    </dgm:pt>
    <dgm:pt modelId="{11B3C1A2-A3EF-8B49-8AF1-E5A487FD2393}" type="pres">
      <dgm:prSet presAssocID="{FE35E02B-71EA-A248-A9D1-2F965A2C7B31}" presName="hierFlow" presStyleCnt="0"/>
      <dgm:spPr/>
    </dgm:pt>
    <dgm:pt modelId="{4D67A21D-19CC-6E43-A3F1-A15C6A73DF92}" type="pres">
      <dgm:prSet presAssocID="{FE35E02B-71EA-A248-A9D1-2F965A2C7B31}" presName="hierChild1" presStyleCnt="0">
        <dgm:presLayoutVars>
          <dgm:chPref val="1"/>
          <dgm:animOne val="branch"/>
          <dgm:animLvl val="lvl"/>
        </dgm:presLayoutVars>
      </dgm:prSet>
      <dgm:spPr/>
    </dgm:pt>
    <dgm:pt modelId="{DF163FF9-EA40-8440-B861-2E1397F85C61}" type="pres">
      <dgm:prSet presAssocID="{23084231-31CB-4743-B4A4-79D75B471C13}" presName="Name14" presStyleCnt="0"/>
      <dgm:spPr/>
    </dgm:pt>
    <dgm:pt modelId="{47D2CDED-EA25-D245-9A3E-EE424E47FA09}" type="pres">
      <dgm:prSet presAssocID="{23084231-31CB-4743-B4A4-79D75B471C13}" presName="level1Shape" presStyleLbl="node0" presStyleIdx="0" presStyleCnt="1">
        <dgm:presLayoutVars>
          <dgm:chPref val="3"/>
        </dgm:presLayoutVars>
      </dgm:prSet>
      <dgm:spPr/>
    </dgm:pt>
    <dgm:pt modelId="{5EF37113-2D19-0E46-8593-FD43CE105843}" type="pres">
      <dgm:prSet presAssocID="{23084231-31CB-4743-B4A4-79D75B471C13}" presName="hierChild2" presStyleCnt="0"/>
      <dgm:spPr/>
    </dgm:pt>
    <dgm:pt modelId="{7FC00B2B-D0BE-C64D-B097-B67C2E9E9C42}" type="pres">
      <dgm:prSet presAssocID="{1D73C883-0270-7D43-A3D6-E088B19F4F0C}" presName="Name19" presStyleLbl="parChTrans1D2" presStyleIdx="0" presStyleCnt="2"/>
      <dgm:spPr/>
    </dgm:pt>
    <dgm:pt modelId="{C99ED07D-A25F-8346-81DF-D33C644F84B8}" type="pres">
      <dgm:prSet presAssocID="{1DA8F05A-5B38-7A4B-A17B-66CF5B6872DE}" presName="Name21" presStyleCnt="0"/>
      <dgm:spPr/>
    </dgm:pt>
    <dgm:pt modelId="{A27BAF8F-2698-424F-B03A-2E28D1896C52}" type="pres">
      <dgm:prSet presAssocID="{1DA8F05A-5B38-7A4B-A17B-66CF5B6872DE}" presName="level2Shape" presStyleLbl="node2" presStyleIdx="0" presStyleCnt="2"/>
      <dgm:spPr/>
    </dgm:pt>
    <dgm:pt modelId="{3F3AA4E7-618F-E244-998D-27516C7E5FED}" type="pres">
      <dgm:prSet presAssocID="{1DA8F05A-5B38-7A4B-A17B-66CF5B6872DE}" presName="hierChild3" presStyleCnt="0"/>
      <dgm:spPr/>
    </dgm:pt>
    <dgm:pt modelId="{91D0E1FC-3442-2845-AFA8-8E8BBBCA9554}" type="pres">
      <dgm:prSet presAssocID="{171EE2B2-D007-7D47-8175-5BDD56D3449B}" presName="Name19" presStyleLbl="parChTrans1D2" presStyleIdx="1" presStyleCnt="2"/>
      <dgm:spPr/>
    </dgm:pt>
    <dgm:pt modelId="{B60C33D1-E949-1643-9BC9-92DFFADB1C88}" type="pres">
      <dgm:prSet presAssocID="{CC2EA49D-6FA8-6A47-B280-61DE471AFC17}" presName="Name21" presStyleCnt="0"/>
      <dgm:spPr/>
    </dgm:pt>
    <dgm:pt modelId="{343A2062-4385-2E48-AA5A-BF53FA94A158}" type="pres">
      <dgm:prSet presAssocID="{CC2EA49D-6FA8-6A47-B280-61DE471AFC17}" presName="level2Shape" presStyleLbl="node2" presStyleIdx="1" presStyleCnt="2"/>
      <dgm:spPr/>
    </dgm:pt>
    <dgm:pt modelId="{073A1675-0456-3C40-9261-E44F86126930}" type="pres">
      <dgm:prSet presAssocID="{CC2EA49D-6FA8-6A47-B280-61DE471AFC17}" presName="hierChild3" presStyleCnt="0"/>
      <dgm:spPr/>
    </dgm:pt>
    <dgm:pt modelId="{D073093C-41EC-4048-98FC-2346A84A853D}" type="pres">
      <dgm:prSet presAssocID="{FE35E02B-71EA-A248-A9D1-2F965A2C7B31}" presName="bgShapesFlow" presStyleCnt="0"/>
      <dgm:spPr/>
    </dgm:pt>
  </dgm:ptLst>
  <dgm:cxnLst>
    <dgm:cxn modelId="{D6D12E6C-5E0E-904A-B0BB-B46CAD1AACEE}" type="presOf" srcId="{1DA8F05A-5B38-7A4B-A17B-66CF5B6872DE}" destId="{A27BAF8F-2698-424F-B03A-2E28D1896C52}" srcOrd="0" destOrd="0" presId="urn:microsoft.com/office/officeart/2005/8/layout/hierarchy6"/>
    <dgm:cxn modelId="{628A0B51-E72F-EC40-8F25-C24C8A9CAD9F}" type="presOf" srcId="{FE35E02B-71EA-A248-A9D1-2F965A2C7B31}" destId="{BF8FBDCF-9F23-B04B-9764-EDEEC6AE3CC3}" srcOrd="0" destOrd="0" presId="urn:microsoft.com/office/officeart/2005/8/layout/hierarchy6"/>
    <dgm:cxn modelId="{B1F7B894-93BA-2548-A9A3-AB31E3BCC975}" srcId="{23084231-31CB-4743-B4A4-79D75B471C13}" destId="{CC2EA49D-6FA8-6A47-B280-61DE471AFC17}" srcOrd="1" destOrd="0" parTransId="{171EE2B2-D007-7D47-8175-5BDD56D3449B}" sibTransId="{134C7CA8-BAE9-DB47-AB35-D07CD95CDBF0}"/>
    <dgm:cxn modelId="{8166DABC-C6DB-E84B-B775-E9C5DA2FF9BF}" srcId="{23084231-31CB-4743-B4A4-79D75B471C13}" destId="{1DA8F05A-5B38-7A4B-A17B-66CF5B6872DE}" srcOrd="0" destOrd="0" parTransId="{1D73C883-0270-7D43-A3D6-E088B19F4F0C}" sibTransId="{F1121A77-6FE8-5E4F-A442-5C1A505C93F3}"/>
    <dgm:cxn modelId="{0F04D6CA-6CF0-844A-97CA-99DC93E70AB6}" type="presOf" srcId="{1D73C883-0270-7D43-A3D6-E088B19F4F0C}" destId="{7FC00B2B-D0BE-C64D-B097-B67C2E9E9C42}" srcOrd="0" destOrd="0" presId="urn:microsoft.com/office/officeart/2005/8/layout/hierarchy6"/>
    <dgm:cxn modelId="{BF33AFCF-4A2A-FE43-A8ED-38A099C1D8BC}" srcId="{FE35E02B-71EA-A248-A9D1-2F965A2C7B31}" destId="{23084231-31CB-4743-B4A4-79D75B471C13}" srcOrd="0" destOrd="0" parTransId="{401E3C16-4AAC-704D-82E4-0D66DF61552E}" sibTransId="{692FF7BF-C0A4-674A-BF1F-0B151DCF5D64}"/>
    <dgm:cxn modelId="{85D2F7DB-E6F4-C245-87F3-1AC2A2230B7A}" type="presOf" srcId="{171EE2B2-D007-7D47-8175-5BDD56D3449B}" destId="{91D0E1FC-3442-2845-AFA8-8E8BBBCA9554}" srcOrd="0" destOrd="0" presId="urn:microsoft.com/office/officeart/2005/8/layout/hierarchy6"/>
    <dgm:cxn modelId="{D6FF2DE3-2AED-F943-B3CC-9704C3D89C02}" type="presOf" srcId="{23084231-31CB-4743-B4A4-79D75B471C13}" destId="{47D2CDED-EA25-D245-9A3E-EE424E47FA09}" srcOrd="0" destOrd="0" presId="urn:microsoft.com/office/officeart/2005/8/layout/hierarchy6"/>
    <dgm:cxn modelId="{F2515CEA-6117-DD49-AD3A-2DD354C3AF64}" type="presOf" srcId="{CC2EA49D-6FA8-6A47-B280-61DE471AFC17}" destId="{343A2062-4385-2E48-AA5A-BF53FA94A158}" srcOrd="0" destOrd="0" presId="urn:microsoft.com/office/officeart/2005/8/layout/hierarchy6"/>
    <dgm:cxn modelId="{0679AED4-817C-2B41-94BD-7395C6142497}" type="presParOf" srcId="{BF8FBDCF-9F23-B04B-9764-EDEEC6AE3CC3}" destId="{11B3C1A2-A3EF-8B49-8AF1-E5A487FD2393}" srcOrd="0" destOrd="0" presId="urn:microsoft.com/office/officeart/2005/8/layout/hierarchy6"/>
    <dgm:cxn modelId="{11CCD670-7989-DE4C-9B4D-A6D3CD79FF11}" type="presParOf" srcId="{11B3C1A2-A3EF-8B49-8AF1-E5A487FD2393}" destId="{4D67A21D-19CC-6E43-A3F1-A15C6A73DF92}" srcOrd="0" destOrd="0" presId="urn:microsoft.com/office/officeart/2005/8/layout/hierarchy6"/>
    <dgm:cxn modelId="{0AA34C06-C056-C040-9EB5-0F98F9DE7321}" type="presParOf" srcId="{4D67A21D-19CC-6E43-A3F1-A15C6A73DF92}" destId="{DF163FF9-EA40-8440-B861-2E1397F85C61}" srcOrd="0" destOrd="0" presId="urn:microsoft.com/office/officeart/2005/8/layout/hierarchy6"/>
    <dgm:cxn modelId="{ED24D379-8316-2F43-A7BA-8B00897BCD64}" type="presParOf" srcId="{DF163FF9-EA40-8440-B861-2E1397F85C61}" destId="{47D2CDED-EA25-D245-9A3E-EE424E47FA09}" srcOrd="0" destOrd="0" presId="urn:microsoft.com/office/officeart/2005/8/layout/hierarchy6"/>
    <dgm:cxn modelId="{DE323534-214F-8745-BDB8-50A1196A8879}" type="presParOf" srcId="{DF163FF9-EA40-8440-B861-2E1397F85C61}" destId="{5EF37113-2D19-0E46-8593-FD43CE105843}" srcOrd="1" destOrd="0" presId="urn:microsoft.com/office/officeart/2005/8/layout/hierarchy6"/>
    <dgm:cxn modelId="{E76F9F36-F70F-5A43-B5F2-6E1418D8D0FA}" type="presParOf" srcId="{5EF37113-2D19-0E46-8593-FD43CE105843}" destId="{7FC00B2B-D0BE-C64D-B097-B67C2E9E9C42}" srcOrd="0" destOrd="0" presId="urn:microsoft.com/office/officeart/2005/8/layout/hierarchy6"/>
    <dgm:cxn modelId="{53EA85A8-A93B-4845-885E-5C3AB4C42965}" type="presParOf" srcId="{5EF37113-2D19-0E46-8593-FD43CE105843}" destId="{C99ED07D-A25F-8346-81DF-D33C644F84B8}" srcOrd="1" destOrd="0" presId="urn:microsoft.com/office/officeart/2005/8/layout/hierarchy6"/>
    <dgm:cxn modelId="{EE26AA27-6D05-DA41-9DFB-8DD95E517B00}" type="presParOf" srcId="{C99ED07D-A25F-8346-81DF-D33C644F84B8}" destId="{A27BAF8F-2698-424F-B03A-2E28D1896C52}" srcOrd="0" destOrd="0" presId="urn:microsoft.com/office/officeart/2005/8/layout/hierarchy6"/>
    <dgm:cxn modelId="{1F81367A-E956-064D-97A7-E3011EC7F52A}" type="presParOf" srcId="{C99ED07D-A25F-8346-81DF-D33C644F84B8}" destId="{3F3AA4E7-618F-E244-998D-27516C7E5FED}" srcOrd="1" destOrd="0" presId="urn:microsoft.com/office/officeart/2005/8/layout/hierarchy6"/>
    <dgm:cxn modelId="{A883DE1F-FBC8-9846-9985-8D1ECF56ABF4}" type="presParOf" srcId="{5EF37113-2D19-0E46-8593-FD43CE105843}" destId="{91D0E1FC-3442-2845-AFA8-8E8BBBCA9554}" srcOrd="2" destOrd="0" presId="urn:microsoft.com/office/officeart/2005/8/layout/hierarchy6"/>
    <dgm:cxn modelId="{F932A395-2236-9D4B-BB3E-EC1278019E38}" type="presParOf" srcId="{5EF37113-2D19-0E46-8593-FD43CE105843}" destId="{B60C33D1-E949-1643-9BC9-92DFFADB1C88}" srcOrd="3" destOrd="0" presId="urn:microsoft.com/office/officeart/2005/8/layout/hierarchy6"/>
    <dgm:cxn modelId="{81B49FFA-2F11-8B47-A79E-B575F5A8BBC6}" type="presParOf" srcId="{B60C33D1-E949-1643-9BC9-92DFFADB1C88}" destId="{343A2062-4385-2E48-AA5A-BF53FA94A158}" srcOrd="0" destOrd="0" presId="urn:microsoft.com/office/officeart/2005/8/layout/hierarchy6"/>
    <dgm:cxn modelId="{E266B7DB-918D-C742-B42A-694AF0B2A2CD}" type="presParOf" srcId="{B60C33D1-E949-1643-9BC9-92DFFADB1C88}" destId="{073A1675-0456-3C40-9261-E44F86126930}" srcOrd="1" destOrd="0" presId="urn:microsoft.com/office/officeart/2005/8/layout/hierarchy6"/>
    <dgm:cxn modelId="{E4430E8E-352C-5E45-A638-7DA5271F9007}" type="presParOf" srcId="{BF8FBDCF-9F23-B04B-9764-EDEEC6AE3CC3}" destId="{D073093C-41EC-4048-98FC-2346A84A853D}"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DA557B8-20C6-9042-8F72-03A210D067C2}" type="doc">
      <dgm:prSet loTypeId="urn:microsoft.com/office/officeart/2005/8/layout/vList3#1" loCatId="list" qsTypeId="urn:microsoft.com/office/officeart/2005/8/quickstyle/simple4" qsCatId="simple" csTypeId="urn:microsoft.com/office/officeart/2005/8/colors/accent1_2" csCatId="accent1" phldr="1"/>
      <dgm:spPr/>
      <dgm:t>
        <a:bodyPr/>
        <a:lstStyle/>
        <a:p>
          <a:endParaRPr lang="en-US"/>
        </a:p>
      </dgm:t>
    </dgm:pt>
    <dgm:pt modelId="{6774DE01-6233-B249-8E19-C7D51CE87F9A}">
      <dgm:prSet/>
      <dgm:spPr/>
      <dgm:t>
        <a:bodyPr/>
        <a:lstStyle/>
        <a:p>
          <a:pPr rtl="0"/>
          <a:r>
            <a:rPr lang="en-US" dirty="0"/>
            <a:t>Algorithms used for the selection of a page to replace:</a:t>
          </a:r>
        </a:p>
      </dgm:t>
    </dgm:pt>
    <dgm:pt modelId="{FFD2C51C-0256-664F-B449-65DC58CAE24F}" type="parTrans" cxnId="{03764115-0E24-3A4B-9923-0E71C9E8080A}">
      <dgm:prSet/>
      <dgm:spPr/>
      <dgm:t>
        <a:bodyPr/>
        <a:lstStyle/>
        <a:p>
          <a:endParaRPr lang="en-US"/>
        </a:p>
      </dgm:t>
    </dgm:pt>
    <dgm:pt modelId="{5C1FAF83-8542-F343-8582-FC2EF309697E}" type="sibTrans" cxnId="{03764115-0E24-3A4B-9923-0E71C9E8080A}">
      <dgm:prSet/>
      <dgm:spPr/>
      <dgm:t>
        <a:bodyPr/>
        <a:lstStyle/>
        <a:p>
          <a:endParaRPr lang="en-US"/>
        </a:p>
      </dgm:t>
    </dgm:pt>
    <dgm:pt modelId="{A0E01A37-5A2E-954D-A02D-BB1F485E3E7F}">
      <dgm:prSet/>
      <dgm:spPr/>
      <dgm:t>
        <a:bodyPr/>
        <a:lstStyle/>
        <a:p>
          <a:pPr rtl="0"/>
          <a:r>
            <a:rPr lang="en-US" dirty="0"/>
            <a:t>Optimal</a:t>
          </a:r>
        </a:p>
      </dgm:t>
    </dgm:pt>
    <dgm:pt modelId="{AFBC8F9A-3E43-6B45-B16F-2B12FB2D024C}" type="parTrans" cxnId="{D54CA063-EAA4-1649-B602-CD8010403DAA}">
      <dgm:prSet/>
      <dgm:spPr/>
      <dgm:t>
        <a:bodyPr/>
        <a:lstStyle/>
        <a:p>
          <a:endParaRPr lang="en-US"/>
        </a:p>
      </dgm:t>
    </dgm:pt>
    <dgm:pt modelId="{8297DF41-8C61-984D-AA0A-2381C54157BB}" type="sibTrans" cxnId="{D54CA063-EAA4-1649-B602-CD8010403DAA}">
      <dgm:prSet/>
      <dgm:spPr/>
      <dgm:t>
        <a:bodyPr/>
        <a:lstStyle/>
        <a:p>
          <a:endParaRPr lang="en-US"/>
        </a:p>
      </dgm:t>
    </dgm:pt>
    <dgm:pt modelId="{FC0E906F-4515-3C47-8A56-FE7BB23BE0EF}">
      <dgm:prSet/>
      <dgm:spPr/>
      <dgm:t>
        <a:bodyPr/>
        <a:lstStyle/>
        <a:p>
          <a:pPr rtl="0"/>
          <a:r>
            <a:rPr lang="en-US" dirty="0"/>
            <a:t>Least recently used (LRU)</a:t>
          </a:r>
        </a:p>
      </dgm:t>
    </dgm:pt>
    <dgm:pt modelId="{34F1AEA6-0BA0-074C-8963-C9741D6BBF71}" type="parTrans" cxnId="{686E4058-2042-5444-8B93-0B32148AB080}">
      <dgm:prSet/>
      <dgm:spPr/>
      <dgm:t>
        <a:bodyPr/>
        <a:lstStyle/>
        <a:p>
          <a:endParaRPr lang="en-US"/>
        </a:p>
      </dgm:t>
    </dgm:pt>
    <dgm:pt modelId="{18E08C4F-67D2-0341-ACC4-7DD73E48FE98}" type="sibTrans" cxnId="{686E4058-2042-5444-8B93-0B32148AB080}">
      <dgm:prSet/>
      <dgm:spPr/>
      <dgm:t>
        <a:bodyPr/>
        <a:lstStyle/>
        <a:p>
          <a:endParaRPr lang="en-US"/>
        </a:p>
      </dgm:t>
    </dgm:pt>
    <dgm:pt modelId="{7D3CDA99-250F-944F-BF47-BF47CD003577}">
      <dgm:prSet/>
      <dgm:spPr/>
      <dgm:t>
        <a:bodyPr/>
        <a:lstStyle/>
        <a:p>
          <a:pPr rtl="0"/>
          <a:r>
            <a:rPr lang="en-US" dirty="0"/>
            <a:t>First-in-first-out (FIFO)</a:t>
          </a:r>
        </a:p>
      </dgm:t>
    </dgm:pt>
    <dgm:pt modelId="{E349C3F7-A6BC-2C42-BDC3-75060C32BE75}" type="parTrans" cxnId="{88660A57-85F2-A145-93F0-85F76122EA97}">
      <dgm:prSet/>
      <dgm:spPr/>
      <dgm:t>
        <a:bodyPr/>
        <a:lstStyle/>
        <a:p>
          <a:endParaRPr lang="en-US"/>
        </a:p>
      </dgm:t>
    </dgm:pt>
    <dgm:pt modelId="{7DBF36F5-A635-4641-8ED8-B9CE79F6B450}" type="sibTrans" cxnId="{88660A57-85F2-A145-93F0-85F76122EA97}">
      <dgm:prSet/>
      <dgm:spPr/>
      <dgm:t>
        <a:bodyPr/>
        <a:lstStyle/>
        <a:p>
          <a:endParaRPr lang="en-US"/>
        </a:p>
      </dgm:t>
    </dgm:pt>
    <dgm:pt modelId="{A23A6ABD-0BB1-6B44-9048-7D79B7FA6C4F}">
      <dgm:prSet/>
      <dgm:spPr/>
      <dgm:t>
        <a:bodyPr/>
        <a:lstStyle/>
        <a:p>
          <a:pPr rtl="0"/>
          <a:r>
            <a:rPr lang="en-US" dirty="0"/>
            <a:t>Clock</a:t>
          </a:r>
        </a:p>
      </dgm:t>
    </dgm:pt>
    <dgm:pt modelId="{3E257FC9-8BD6-2D44-8493-1148F9A4C49F}" type="parTrans" cxnId="{270B4709-4B78-0548-8A78-7F4B2EAAE44D}">
      <dgm:prSet/>
      <dgm:spPr/>
      <dgm:t>
        <a:bodyPr/>
        <a:lstStyle/>
        <a:p>
          <a:endParaRPr lang="en-US"/>
        </a:p>
      </dgm:t>
    </dgm:pt>
    <dgm:pt modelId="{2C7E5A72-F5BE-9744-9123-07298F5AFF8B}" type="sibTrans" cxnId="{270B4709-4B78-0548-8A78-7F4B2EAAE44D}">
      <dgm:prSet/>
      <dgm:spPr/>
      <dgm:t>
        <a:bodyPr/>
        <a:lstStyle/>
        <a:p>
          <a:endParaRPr lang="en-US"/>
        </a:p>
      </dgm:t>
    </dgm:pt>
    <dgm:pt modelId="{DF055627-9BCF-0941-A55D-F60516006CF8}" type="pres">
      <dgm:prSet presAssocID="{3DA557B8-20C6-9042-8F72-03A210D067C2}" presName="linearFlow" presStyleCnt="0">
        <dgm:presLayoutVars>
          <dgm:dir/>
          <dgm:resizeHandles val="exact"/>
        </dgm:presLayoutVars>
      </dgm:prSet>
      <dgm:spPr/>
    </dgm:pt>
    <dgm:pt modelId="{2544A3F1-E2E8-B74E-8711-2EC9EA6064C6}" type="pres">
      <dgm:prSet presAssocID="{6774DE01-6233-B249-8E19-C7D51CE87F9A}" presName="composite" presStyleCnt="0"/>
      <dgm:spPr/>
    </dgm:pt>
    <dgm:pt modelId="{30C7C1FC-ABE9-9F49-B497-834E86732140}" type="pres">
      <dgm:prSet presAssocID="{6774DE01-6233-B249-8E19-C7D51CE87F9A}" presName="imgShp" presStyleLbl="fgImgPlace1" presStyleIdx="0" presStyleCnt="1" custScaleX="109386" custScaleY="106012"/>
      <dgm:spPr>
        <a:solidFill>
          <a:schemeClr val="accent5">
            <a:lumMod val="75000"/>
          </a:schemeClr>
        </a:solidFill>
      </dgm:spPr>
    </dgm:pt>
    <dgm:pt modelId="{B2EFD19C-DD54-B24D-B755-43F907118B14}" type="pres">
      <dgm:prSet presAssocID="{6774DE01-6233-B249-8E19-C7D51CE87F9A}" presName="txShp" presStyleLbl="node1" presStyleIdx="0" presStyleCnt="1" custScaleX="108939" custScaleY="122751">
        <dgm:presLayoutVars>
          <dgm:bulletEnabled val="1"/>
        </dgm:presLayoutVars>
      </dgm:prSet>
      <dgm:spPr/>
    </dgm:pt>
  </dgm:ptLst>
  <dgm:cxnLst>
    <dgm:cxn modelId="{270B4709-4B78-0548-8A78-7F4B2EAAE44D}" srcId="{6774DE01-6233-B249-8E19-C7D51CE87F9A}" destId="{A23A6ABD-0BB1-6B44-9048-7D79B7FA6C4F}" srcOrd="3" destOrd="0" parTransId="{3E257FC9-8BD6-2D44-8493-1148F9A4C49F}" sibTransId="{2C7E5A72-F5BE-9744-9123-07298F5AFF8B}"/>
    <dgm:cxn modelId="{53E23C13-A2D0-A14E-87C3-74406FBF3ECD}" type="presOf" srcId="{3DA557B8-20C6-9042-8F72-03A210D067C2}" destId="{DF055627-9BCF-0941-A55D-F60516006CF8}" srcOrd="0" destOrd="0" presId="urn:microsoft.com/office/officeart/2005/8/layout/vList3#1"/>
    <dgm:cxn modelId="{03764115-0E24-3A4B-9923-0E71C9E8080A}" srcId="{3DA557B8-20C6-9042-8F72-03A210D067C2}" destId="{6774DE01-6233-B249-8E19-C7D51CE87F9A}" srcOrd="0" destOrd="0" parTransId="{FFD2C51C-0256-664F-B449-65DC58CAE24F}" sibTransId="{5C1FAF83-8542-F343-8582-FC2EF309697E}"/>
    <dgm:cxn modelId="{40F6FE5F-CAF0-8A4A-B661-23CC9BCCEDB9}" type="presOf" srcId="{6774DE01-6233-B249-8E19-C7D51CE87F9A}" destId="{B2EFD19C-DD54-B24D-B755-43F907118B14}" srcOrd="0" destOrd="0" presId="urn:microsoft.com/office/officeart/2005/8/layout/vList3#1"/>
    <dgm:cxn modelId="{D54CA063-EAA4-1649-B602-CD8010403DAA}" srcId="{6774DE01-6233-B249-8E19-C7D51CE87F9A}" destId="{A0E01A37-5A2E-954D-A02D-BB1F485E3E7F}" srcOrd="0" destOrd="0" parTransId="{AFBC8F9A-3E43-6B45-B16F-2B12FB2D024C}" sibTransId="{8297DF41-8C61-984D-AA0A-2381C54157BB}"/>
    <dgm:cxn modelId="{88660A57-85F2-A145-93F0-85F76122EA97}" srcId="{6774DE01-6233-B249-8E19-C7D51CE87F9A}" destId="{7D3CDA99-250F-944F-BF47-BF47CD003577}" srcOrd="2" destOrd="0" parTransId="{E349C3F7-A6BC-2C42-BDC3-75060C32BE75}" sibTransId="{7DBF36F5-A635-4641-8ED8-B9CE79F6B450}"/>
    <dgm:cxn modelId="{686E4058-2042-5444-8B93-0B32148AB080}" srcId="{6774DE01-6233-B249-8E19-C7D51CE87F9A}" destId="{FC0E906F-4515-3C47-8A56-FE7BB23BE0EF}" srcOrd="1" destOrd="0" parTransId="{34F1AEA6-0BA0-074C-8963-C9741D6BBF71}" sibTransId="{18E08C4F-67D2-0341-ACC4-7DD73E48FE98}"/>
    <dgm:cxn modelId="{B1240A90-09F5-8544-8A3B-D7214630869C}" type="presOf" srcId="{7D3CDA99-250F-944F-BF47-BF47CD003577}" destId="{B2EFD19C-DD54-B24D-B755-43F907118B14}" srcOrd="0" destOrd="3" presId="urn:microsoft.com/office/officeart/2005/8/layout/vList3#1"/>
    <dgm:cxn modelId="{F645A592-DC7C-A043-B003-B57E3C86678F}" type="presOf" srcId="{A23A6ABD-0BB1-6B44-9048-7D79B7FA6C4F}" destId="{B2EFD19C-DD54-B24D-B755-43F907118B14}" srcOrd="0" destOrd="4" presId="urn:microsoft.com/office/officeart/2005/8/layout/vList3#1"/>
    <dgm:cxn modelId="{936A99B1-4641-6442-BF1C-92E2720B48DF}" type="presOf" srcId="{FC0E906F-4515-3C47-8A56-FE7BB23BE0EF}" destId="{B2EFD19C-DD54-B24D-B755-43F907118B14}" srcOrd="0" destOrd="2" presId="urn:microsoft.com/office/officeart/2005/8/layout/vList3#1"/>
    <dgm:cxn modelId="{0EA809CF-79D6-3D44-9025-8234DB7D2F47}" type="presOf" srcId="{A0E01A37-5A2E-954D-A02D-BB1F485E3E7F}" destId="{B2EFD19C-DD54-B24D-B755-43F907118B14}" srcOrd="0" destOrd="1" presId="urn:microsoft.com/office/officeart/2005/8/layout/vList3#1"/>
    <dgm:cxn modelId="{608E0C69-3B1B-474C-A7C9-A430C4B87941}" type="presParOf" srcId="{DF055627-9BCF-0941-A55D-F60516006CF8}" destId="{2544A3F1-E2E8-B74E-8711-2EC9EA6064C6}" srcOrd="0" destOrd="0" presId="urn:microsoft.com/office/officeart/2005/8/layout/vList3#1"/>
    <dgm:cxn modelId="{4BEF9B87-7F0F-594D-BCDC-F82884A78572}" type="presParOf" srcId="{2544A3F1-E2E8-B74E-8711-2EC9EA6064C6}" destId="{30C7C1FC-ABE9-9F49-B497-834E86732140}" srcOrd="0" destOrd="0" presId="urn:microsoft.com/office/officeart/2005/8/layout/vList3#1"/>
    <dgm:cxn modelId="{063E8CB7-19FD-D54E-8DBB-27DBA2A9D3B3}" type="presParOf" srcId="{2544A3F1-E2E8-B74E-8711-2EC9EA6064C6}" destId="{B2EFD19C-DD54-B24D-B755-43F907118B14}" srcOrd="1" destOrd="0" presId="urn:microsoft.com/office/officeart/2005/8/layout/vList3#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45DBCFB-C194-A74B-833C-964515412432}"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52068A9C-94BF-5F43-9513-AEE471E86B97}">
      <dgm:prSet phldrT="[Text]"/>
      <dgm:spPr/>
      <dgm:t>
        <a:bodyPr/>
        <a:lstStyle/>
        <a:p>
          <a:r>
            <a:rPr lang="en-US" dirty="0"/>
            <a:t>A replaced page is not lost, but rather assigned to one of two lists</a:t>
          </a:r>
        </a:p>
      </dgm:t>
    </dgm:pt>
    <dgm:pt modelId="{B97D859C-44BC-6049-91D5-CE34D36757AA}" type="parTrans" cxnId="{129B26C9-3D1B-1E4F-9218-1A6F4A033514}">
      <dgm:prSet/>
      <dgm:spPr/>
      <dgm:t>
        <a:bodyPr/>
        <a:lstStyle/>
        <a:p>
          <a:endParaRPr lang="en-US"/>
        </a:p>
      </dgm:t>
    </dgm:pt>
    <dgm:pt modelId="{D41AF72F-78E0-FE41-B0A0-797798B63222}" type="sibTrans" cxnId="{129B26C9-3D1B-1E4F-9218-1A6F4A033514}">
      <dgm:prSet/>
      <dgm:spPr/>
      <dgm:t>
        <a:bodyPr/>
        <a:lstStyle/>
        <a:p>
          <a:endParaRPr lang="en-US"/>
        </a:p>
      </dgm:t>
    </dgm:pt>
    <dgm:pt modelId="{86710346-DBC2-A14D-9175-42A625E18F03}">
      <dgm:prSet/>
      <dgm:spPr/>
      <dgm:t>
        <a:bodyPr/>
        <a:lstStyle/>
        <a:p>
          <a:r>
            <a:rPr lang="en-US"/>
            <a:t>Free page list</a:t>
          </a:r>
          <a:endParaRPr lang="en-US" dirty="0"/>
        </a:p>
      </dgm:t>
    </dgm:pt>
    <dgm:pt modelId="{3DEA17B4-0A08-9142-A8EA-2B30A62028A9}" type="parTrans" cxnId="{15EC9AEB-196F-1E4B-800C-565697245EFF}">
      <dgm:prSet/>
      <dgm:spPr/>
      <dgm:t>
        <a:bodyPr/>
        <a:lstStyle/>
        <a:p>
          <a:endParaRPr lang="en-US"/>
        </a:p>
      </dgm:t>
    </dgm:pt>
    <dgm:pt modelId="{B935FCB2-AE4B-1E4A-8056-C6E1F4A72C5A}" type="sibTrans" cxnId="{15EC9AEB-196F-1E4B-800C-565697245EFF}">
      <dgm:prSet/>
      <dgm:spPr/>
      <dgm:t>
        <a:bodyPr/>
        <a:lstStyle/>
        <a:p>
          <a:endParaRPr lang="en-US"/>
        </a:p>
      </dgm:t>
    </dgm:pt>
    <dgm:pt modelId="{E42CD1A5-3AD0-774A-8E9D-F1E11172EFD7}">
      <dgm:prSet/>
      <dgm:spPr/>
      <dgm:t>
        <a:bodyPr/>
        <a:lstStyle/>
        <a:p>
          <a:r>
            <a:rPr lang="en-US" dirty="0"/>
            <a:t>List of page frames available for reading in pages</a:t>
          </a:r>
        </a:p>
      </dgm:t>
    </dgm:pt>
    <dgm:pt modelId="{689DC02B-2816-5D40-9029-D900346D9154}" type="parTrans" cxnId="{1B6F3FE9-BEA0-0244-8712-3F7B3E480893}">
      <dgm:prSet/>
      <dgm:spPr/>
      <dgm:t>
        <a:bodyPr/>
        <a:lstStyle/>
        <a:p>
          <a:endParaRPr lang="en-US"/>
        </a:p>
      </dgm:t>
    </dgm:pt>
    <dgm:pt modelId="{838F0615-7F48-454B-B321-502E874BBEE0}" type="sibTrans" cxnId="{1B6F3FE9-BEA0-0244-8712-3F7B3E480893}">
      <dgm:prSet/>
      <dgm:spPr/>
      <dgm:t>
        <a:bodyPr/>
        <a:lstStyle/>
        <a:p>
          <a:endParaRPr lang="en-US"/>
        </a:p>
      </dgm:t>
    </dgm:pt>
    <dgm:pt modelId="{9EE0B396-88A5-C446-A9DA-C142878CF25E}">
      <dgm:prSet/>
      <dgm:spPr/>
      <dgm:t>
        <a:bodyPr/>
        <a:lstStyle/>
        <a:p>
          <a:r>
            <a:rPr lang="en-US"/>
            <a:t>Modified page list</a:t>
          </a:r>
          <a:endParaRPr lang="en-US" dirty="0"/>
        </a:p>
      </dgm:t>
    </dgm:pt>
    <dgm:pt modelId="{9908A658-0666-AE44-9862-45C8F0943437}" type="parTrans" cxnId="{F2F6C6C3-BF24-3449-9791-4901337BD84A}">
      <dgm:prSet/>
      <dgm:spPr/>
      <dgm:t>
        <a:bodyPr/>
        <a:lstStyle/>
        <a:p>
          <a:endParaRPr lang="en-US"/>
        </a:p>
      </dgm:t>
    </dgm:pt>
    <dgm:pt modelId="{B06F97F8-7990-DE4A-B6AE-C5C028698B64}" type="sibTrans" cxnId="{F2F6C6C3-BF24-3449-9791-4901337BD84A}">
      <dgm:prSet/>
      <dgm:spPr/>
      <dgm:t>
        <a:bodyPr/>
        <a:lstStyle/>
        <a:p>
          <a:endParaRPr lang="en-US"/>
        </a:p>
      </dgm:t>
    </dgm:pt>
    <dgm:pt modelId="{9E2E4F1C-D092-524E-A4F4-0BF2C7F8096E}">
      <dgm:prSet/>
      <dgm:spPr/>
      <dgm:t>
        <a:bodyPr/>
        <a:lstStyle/>
        <a:p>
          <a:r>
            <a:rPr lang="en-US" dirty="0"/>
            <a:t>Pages are written out in clusters </a:t>
          </a:r>
        </a:p>
      </dgm:t>
    </dgm:pt>
    <dgm:pt modelId="{D499F05E-9039-1D4F-9DEC-59AB7497D428}" type="parTrans" cxnId="{D6A61340-3777-A94B-A56F-6FD50297EF48}">
      <dgm:prSet/>
      <dgm:spPr/>
      <dgm:t>
        <a:bodyPr/>
        <a:lstStyle/>
        <a:p>
          <a:endParaRPr lang="en-US"/>
        </a:p>
      </dgm:t>
    </dgm:pt>
    <dgm:pt modelId="{B9B0821A-6B85-E14B-8F61-8B456DD1E177}" type="sibTrans" cxnId="{D6A61340-3777-A94B-A56F-6FD50297EF48}">
      <dgm:prSet/>
      <dgm:spPr/>
      <dgm:t>
        <a:bodyPr/>
        <a:lstStyle/>
        <a:p>
          <a:endParaRPr lang="en-US"/>
        </a:p>
      </dgm:t>
    </dgm:pt>
    <dgm:pt modelId="{9C348023-2CFE-404D-84C4-617142D96F46}" type="pres">
      <dgm:prSet presAssocID="{A45DBCFB-C194-A74B-833C-964515412432}" presName="hierChild1" presStyleCnt="0">
        <dgm:presLayoutVars>
          <dgm:chPref val="1"/>
          <dgm:dir/>
          <dgm:animOne val="branch"/>
          <dgm:animLvl val="lvl"/>
          <dgm:resizeHandles/>
        </dgm:presLayoutVars>
      </dgm:prSet>
      <dgm:spPr/>
    </dgm:pt>
    <dgm:pt modelId="{178F531F-4CEB-2E46-A30C-CA632D0374D7}" type="pres">
      <dgm:prSet presAssocID="{52068A9C-94BF-5F43-9513-AEE471E86B97}" presName="hierRoot1" presStyleCnt="0"/>
      <dgm:spPr/>
    </dgm:pt>
    <dgm:pt modelId="{E181698B-AD00-EC48-AEC0-9ED3A9DDAB4C}" type="pres">
      <dgm:prSet presAssocID="{52068A9C-94BF-5F43-9513-AEE471E86B97}" presName="composite" presStyleCnt="0"/>
      <dgm:spPr/>
    </dgm:pt>
    <dgm:pt modelId="{E9E6A144-BDA8-8445-95FE-B4DEFF1353E5}" type="pres">
      <dgm:prSet presAssocID="{52068A9C-94BF-5F43-9513-AEE471E86B97}" presName="background" presStyleLbl="node0" presStyleIdx="0" presStyleCnt="1"/>
      <dgm:spPr/>
    </dgm:pt>
    <dgm:pt modelId="{66CF74FE-7C99-B147-94AD-327B0056B130}" type="pres">
      <dgm:prSet presAssocID="{52068A9C-94BF-5F43-9513-AEE471E86B97}" presName="text" presStyleLbl="fgAcc0" presStyleIdx="0" presStyleCnt="1">
        <dgm:presLayoutVars>
          <dgm:chPref val="3"/>
        </dgm:presLayoutVars>
      </dgm:prSet>
      <dgm:spPr/>
    </dgm:pt>
    <dgm:pt modelId="{A62D6F1B-AF0D-054C-A263-5240D99CFC02}" type="pres">
      <dgm:prSet presAssocID="{52068A9C-94BF-5F43-9513-AEE471E86B97}" presName="hierChild2" presStyleCnt="0"/>
      <dgm:spPr/>
    </dgm:pt>
    <dgm:pt modelId="{FAB3ABC9-CE51-6E46-A582-477033F7909E}" type="pres">
      <dgm:prSet presAssocID="{3DEA17B4-0A08-9142-A8EA-2B30A62028A9}" presName="Name10" presStyleLbl="parChTrans1D2" presStyleIdx="0" presStyleCnt="2"/>
      <dgm:spPr/>
    </dgm:pt>
    <dgm:pt modelId="{ADCE56BC-B51A-644D-8703-0D1BBBF001DB}" type="pres">
      <dgm:prSet presAssocID="{86710346-DBC2-A14D-9175-42A625E18F03}" presName="hierRoot2" presStyleCnt="0"/>
      <dgm:spPr/>
    </dgm:pt>
    <dgm:pt modelId="{E161B099-77F9-FD43-9A4D-697DBB1A9DB9}" type="pres">
      <dgm:prSet presAssocID="{86710346-DBC2-A14D-9175-42A625E18F03}" presName="composite2" presStyleCnt="0"/>
      <dgm:spPr/>
    </dgm:pt>
    <dgm:pt modelId="{28CE6EFF-FA06-4A40-A514-B15AF719A036}" type="pres">
      <dgm:prSet presAssocID="{86710346-DBC2-A14D-9175-42A625E18F03}" presName="background2" presStyleLbl="node2" presStyleIdx="0" presStyleCnt="2"/>
      <dgm:spPr/>
    </dgm:pt>
    <dgm:pt modelId="{36F1355C-6C7A-3F4E-9338-F578F474E3F6}" type="pres">
      <dgm:prSet presAssocID="{86710346-DBC2-A14D-9175-42A625E18F03}" presName="text2" presStyleLbl="fgAcc2" presStyleIdx="0" presStyleCnt="2">
        <dgm:presLayoutVars>
          <dgm:chPref val="3"/>
        </dgm:presLayoutVars>
      </dgm:prSet>
      <dgm:spPr/>
    </dgm:pt>
    <dgm:pt modelId="{E902744D-6C91-704E-96B1-839C1E5C0A71}" type="pres">
      <dgm:prSet presAssocID="{86710346-DBC2-A14D-9175-42A625E18F03}" presName="hierChild3" presStyleCnt="0"/>
      <dgm:spPr/>
    </dgm:pt>
    <dgm:pt modelId="{83175078-7932-F44A-9E39-84D1EDA4A644}" type="pres">
      <dgm:prSet presAssocID="{689DC02B-2816-5D40-9029-D900346D9154}" presName="Name17" presStyleLbl="parChTrans1D3" presStyleIdx="0" presStyleCnt="2"/>
      <dgm:spPr/>
    </dgm:pt>
    <dgm:pt modelId="{61C18124-325C-E041-99FB-17EB84ABFD43}" type="pres">
      <dgm:prSet presAssocID="{E42CD1A5-3AD0-774A-8E9D-F1E11172EFD7}" presName="hierRoot3" presStyleCnt="0"/>
      <dgm:spPr/>
    </dgm:pt>
    <dgm:pt modelId="{2223441E-B806-FF44-B6FC-99CA6BC2D18C}" type="pres">
      <dgm:prSet presAssocID="{E42CD1A5-3AD0-774A-8E9D-F1E11172EFD7}" presName="composite3" presStyleCnt="0"/>
      <dgm:spPr/>
    </dgm:pt>
    <dgm:pt modelId="{61509F13-ECF5-824E-AB0E-238E43561F9B}" type="pres">
      <dgm:prSet presAssocID="{E42CD1A5-3AD0-774A-8E9D-F1E11172EFD7}" presName="background3" presStyleLbl="node3" presStyleIdx="0" presStyleCnt="2"/>
      <dgm:spPr/>
    </dgm:pt>
    <dgm:pt modelId="{03C502F8-A858-FC44-9EBA-F09ED388A4F5}" type="pres">
      <dgm:prSet presAssocID="{E42CD1A5-3AD0-774A-8E9D-F1E11172EFD7}" presName="text3" presStyleLbl="fgAcc3" presStyleIdx="0" presStyleCnt="2">
        <dgm:presLayoutVars>
          <dgm:chPref val="3"/>
        </dgm:presLayoutVars>
      </dgm:prSet>
      <dgm:spPr/>
    </dgm:pt>
    <dgm:pt modelId="{CD615948-73BA-CE4B-8051-DFD53B3B0E6E}" type="pres">
      <dgm:prSet presAssocID="{E42CD1A5-3AD0-774A-8E9D-F1E11172EFD7}" presName="hierChild4" presStyleCnt="0"/>
      <dgm:spPr/>
    </dgm:pt>
    <dgm:pt modelId="{7B165121-B4DA-3D41-B59D-340BEFD6B021}" type="pres">
      <dgm:prSet presAssocID="{9908A658-0666-AE44-9862-45C8F0943437}" presName="Name10" presStyleLbl="parChTrans1D2" presStyleIdx="1" presStyleCnt="2"/>
      <dgm:spPr/>
    </dgm:pt>
    <dgm:pt modelId="{0F9ACB6B-394F-614A-9640-DF391012056F}" type="pres">
      <dgm:prSet presAssocID="{9EE0B396-88A5-C446-A9DA-C142878CF25E}" presName="hierRoot2" presStyleCnt="0"/>
      <dgm:spPr/>
    </dgm:pt>
    <dgm:pt modelId="{20B140E6-0299-E244-979A-2390721DBC25}" type="pres">
      <dgm:prSet presAssocID="{9EE0B396-88A5-C446-A9DA-C142878CF25E}" presName="composite2" presStyleCnt="0"/>
      <dgm:spPr/>
    </dgm:pt>
    <dgm:pt modelId="{C014E9E6-13FA-5444-9BC3-3D89E8915179}" type="pres">
      <dgm:prSet presAssocID="{9EE0B396-88A5-C446-A9DA-C142878CF25E}" presName="background2" presStyleLbl="node2" presStyleIdx="1" presStyleCnt="2"/>
      <dgm:spPr/>
    </dgm:pt>
    <dgm:pt modelId="{E7D1A8F5-82B3-3D4D-B2BB-8402CE6DF5DF}" type="pres">
      <dgm:prSet presAssocID="{9EE0B396-88A5-C446-A9DA-C142878CF25E}" presName="text2" presStyleLbl="fgAcc2" presStyleIdx="1" presStyleCnt="2">
        <dgm:presLayoutVars>
          <dgm:chPref val="3"/>
        </dgm:presLayoutVars>
      </dgm:prSet>
      <dgm:spPr/>
    </dgm:pt>
    <dgm:pt modelId="{3336881A-8E9F-984F-9871-05E190F8CF30}" type="pres">
      <dgm:prSet presAssocID="{9EE0B396-88A5-C446-A9DA-C142878CF25E}" presName="hierChild3" presStyleCnt="0"/>
      <dgm:spPr/>
    </dgm:pt>
    <dgm:pt modelId="{959669F8-0B44-7F4A-BE1E-E4EDB174AE9B}" type="pres">
      <dgm:prSet presAssocID="{D499F05E-9039-1D4F-9DEC-59AB7497D428}" presName="Name17" presStyleLbl="parChTrans1D3" presStyleIdx="1" presStyleCnt="2"/>
      <dgm:spPr/>
    </dgm:pt>
    <dgm:pt modelId="{82472A6C-D4AA-E64C-927D-2B09476DCA2B}" type="pres">
      <dgm:prSet presAssocID="{9E2E4F1C-D092-524E-A4F4-0BF2C7F8096E}" presName="hierRoot3" presStyleCnt="0"/>
      <dgm:spPr/>
    </dgm:pt>
    <dgm:pt modelId="{51749F20-E656-C042-AD50-4A09706514B0}" type="pres">
      <dgm:prSet presAssocID="{9E2E4F1C-D092-524E-A4F4-0BF2C7F8096E}" presName="composite3" presStyleCnt="0"/>
      <dgm:spPr/>
    </dgm:pt>
    <dgm:pt modelId="{9DE444D1-71C7-6D47-8D20-D17B0958CE50}" type="pres">
      <dgm:prSet presAssocID="{9E2E4F1C-D092-524E-A4F4-0BF2C7F8096E}" presName="background3" presStyleLbl="node3" presStyleIdx="1" presStyleCnt="2"/>
      <dgm:spPr/>
    </dgm:pt>
    <dgm:pt modelId="{076EFA28-0F84-924A-99EB-2F55769FB300}" type="pres">
      <dgm:prSet presAssocID="{9E2E4F1C-D092-524E-A4F4-0BF2C7F8096E}" presName="text3" presStyleLbl="fgAcc3" presStyleIdx="1" presStyleCnt="2">
        <dgm:presLayoutVars>
          <dgm:chPref val="3"/>
        </dgm:presLayoutVars>
      </dgm:prSet>
      <dgm:spPr/>
    </dgm:pt>
    <dgm:pt modelId="{8CE5404A-7CC4-2D4C-A1DF-21FCC9742653}" type="pres">
      <dgm:prSet presAssocID="{9E2E4F1C-D092-524E-A4F4-0BF2C7F8096E}" presName="hierChild4" presStyleCnt="0"/>
      <dgm:spPr/>
    </dgm:pt>
  </dgm:ptLst>
  <dgm:cxnLst>
    <dgm:cxn modelId="{CA914E04-1DD2-4B47-9091-5BEE5E28A57E}" type="presOf" srcId="{9908A658-0666-AE44-9862-45C8F0943437}" destId="{7B165121-B4DA-3D41-B59D-340BEFD6B021}" srcOrd="0" destOrd="0" presId="urn:microsoft.com/office/officeart/2005/8/layout/hierarchy1"/>
    <dgm:cxn modelId="{4E26E113-2FFE-944A-BA86-CC1B2091C1B4}" type="presOf" srcId="{9E2E4F1C-D092-524E-A4F4-0BF2C7F8096E}" destId="{076EFA28-0F84-924A-99EB-2F55769FB300}" srcOrd="0" destOrd="0" presId="urn:microsoft.com/office/officeart/2005/8/layout/hierarchy1"/>
    <dgm:cxn modelId="{DF203326-4169-4F49-9D09-2F6E3A576862}" type="presOf" srcId="{86710346-DBC2-A14D-9175-42A625E18F03}" destId="{36F1355C-6C7A-3F4E-9338-F578F474E3F6}" srcOrd="0" destOrd="0" presId="urn:microsoft.com/office/officeart/2005/8/layout/hierarchy1"/>
    <dgm:cxn modelId="{661B5935-5D36-1448-A281-404375D34919}" type="presOf" srcId="{E42CD1A5-3AD0-774A-8E9D-F1E11172EFD7}" destId="{03C502F8-A858-FC44-9EBA-F09ED388A4F5}" srcOrd="0" destOrd="0" presId="urn:microsoft.com/office/officeart/2005/8/layout/hierarchy1"/>
    <dgm:cxn modelId="{D6A61340-3777-A94B-A56F-6FD50297EF48}" srcId="{9EE0B396-88A5-C446-A9DA-C142878CF25E}" destId="{9E2E4F1C-D092-524E-A4F4-0BF2C7F8096E}" srcOrd="0" destOrd="0" parTransId="{D499F05E-9039-1D4F-9DEC-59AB7497D428}" sibTransId="{B9B0821A-6B85-E14B-8F61-8B456DD1E177}"/>
    <dgm:cxn modelId="{2BD0D141-3078-044C-A9FA-944EF4482C72}" type="presOf" srcId="{52068A9C-94BF-5F43-9513-AEE471E86B97}" destId="{66CF74FE-7C99-B147-94AD-327B0056B130}" srcOrd="0" destOrd="0" presId="urn:microsoft.com/office/officeart/2005/8/layout/hierarchy1"/>
    <dgm:cxn modelId="{83398243-CF57-F34E-9F66-04934C360F13}" type="presOf" srcId="{A45DBCFB-C194-A74B-833C-964515412432}" destId="{9C348023-2CFE-404D-84C4-617142D96F46}" srcOrd="0" destOrd="0" presId="urn:microsoft.com/office/officeart/2005/8/layout/hierarchy1"/>
    <dgm:cxn modelId="{1442A053-F0BC-7E47-9883-8497A634EC07}" type="presOf" srcId="{9EE0B396-88A5-C446-A9DA-C142878CF25E}" destId="{E7D1A8F5-82B3-3D4D-B2BB-8402CE6DF5DF}" srcOrd="0" destOrd="0" presId="urn:microsoft.com/office/officeart/2005/8/layout/hierarchy1"/>
    <dgm:cxn modelId="{0B925E84-7A37-AA45-9E75-CC735BBC6A02}" type="presOf" srcId="{3DEA17B4-0A08-9142-A8EA-2B30A62028A9}" destId="{FAB3ABC9-CE51-6E46-A582-477033F7909E}" srcOrd="0" destOrd="0" presId="urn:microsoft.com/office/officeart/2005/8/layout/hierarchy1"/>
    <dgm:cxn modelId="{986688B5-ECBE-0945-BEBF-FB278D4804D4}" type="presOf" srcId="{D499F05E-9039-1D4F-9DEC-59AB7497D428}" destId="{959669F8-0B44-7F4A-BE1E-E4EDB174AE9B}" srcOrd="0" destOrd="0" presId="urn:microsoft.com/office/officeart/2005/8/layout/hierarchy1"/>
    <dgm:cxn modelId="{D641C5BD-0D8D-EA49-A38A-8B2D104A6201}" type="presOf" srcId="{689DC02B-2816-5D40-9029-D900346D9154}" destId="{83175078-7932-F44A-9E39-84D1EDA4A644}" srcOrd="0" destOrd="0" presId="urn:microsoft.com/office/officeart/2005/8/layout/hierarchy1"/>
    <dgm:cxn modelId="{F2F6C6C3-BF24-3449-9791-4901337BD84A}" srcId="{52068A9C-94BF-5F43-9513-AEE471E86B97}" destId="{9EE0B396-88A5-C446-A9DA-C142878CF25E}" srcOrd="1" destOrd="0" parTransId="{9908A658-0666-AE44-9862-45C8F0943437}" sibTransId="{B06F97F8-7990-DE4A-B6AE-C5C028698B64}"/>
    <dgm:cxn modelId="{129B26C9-3D1B-1E4F-9218-1A6F4A033514}" srcId="{A45DBCFB-C194-A74B-833C-964515412432}" destId="{52068A9C-94BF-5F43-9513-AEE471E86B97}" srcOrd="0" destOrd="0" parTransId="{B97D859C-44BC-6049-91D5-CE34D36757AA}" sibTransId="{D41AF72F-78E0-FE41-B0A0-797798B63222}"/>
    <dgm:cxn modelId="{1B6F3FE9-BEA0-0244-8712-3F7B3E480893}" srcId="{86710346-DBC2-A14D-9175-42A625E18F03}" destId="{E42CD1A5-3AD0-774A-8E9D-F1E11172EFD7}" srcOrd="0" destOrd="0" parTransId="{689DC02B-2816-5D40-9029-D900346D9154}" sibTransId="{838F0615-7F48-454B-B321-502E874BBEE0}"/>
    <dgm:cxn modelId="{15EC9AEB-196F-1E4B-800C-565697245EFF}" srcId="{52068A9C-94BF-5F43-9513-AEE471E86B97}" destId="{86710346-DBC2-A14D-9175-42A625E18F03}" srcOrd="0" destOrd="0" parTransId="{3DEA17B4-0A08-9142-A8EA-2B30A62028A9}" sibTransId="{B935FCB2-AE4B-1E4A-8056-C6E1F4A72C5A}"/>
    <dgm:cxn modelId="{DC0DE4B7-821C-434A-A062-B53081E12996}" type="presParOf" srcId="{9C348023-2CFE-404D-84C4-617142D96F46}" destId="{178F531F-4CEB-2E46-A30C-CA632D0374D7}" srcOrd="0" destOrd="0" presId="urn:microsoft.com/office/officeart/2005/8/layout/hierarchy1"/>
    <dgm:cxn modelId="{B59B5469-7218-D94F-8C0D-511D59CA2AC8}" type="presParOf" srcId="{178F531F-4CEB-2E46-A30C-CA632D0374D7}" destId="{E181698B-AD00-EC48-AEC0-9ED3A9DDAB4C}" srcOrd="0" destOrd="0" presId="urn:microsoft.com/office/officeart/2005/8/layout/hierarchy1"/>
    <dgm:cxn modelId="{AB8A9873-B702-AA4E-A1B0-D6B8C1C6EAB5}" type="presParOf" srcId="{E181698B-AD00-EC48-AEC0-9ED3A9DDAB4C}" destId="{E9E6A144-BDA8-8445-95FE-B4DEFF1353E5}" srcOrd="0" destOrd="0" presId="urn:microsoft.com/office/officeart/2005/8/layout/hierarchy1"/>
    <dgm:cxn modelId="{BB23A93D-E100-8C41-8A9B-CCA9B6967DFB}" type="presParOf" srcId="{E181698B-AD00-EC48-AEC0-9ED3A9DDAB4C}" destId="{66CF74FE-7C99-B147-94AD-327B0056B130}" srcOrd="1" destOrd="0" presId="urn:microsoft.com/office/officeart/2005/8/layout/hierarchy1"/>
    <dgm:cxn modelId="{B3F95B38-0768-6544-9040-8F5FD57CAA39}" type="presParOf" srcId="{178F531F-4CEB-2E46-A30C-CA632D0374D7}" destId="{A62D6F1B-AF0D-054C-A263-5240D99CFC02}" srcOrd="1" destOrd="0" presId="urn:microsoft.com/office/officeart/2005/8/layout/hierarchy1"/>
    <dgm:cxn modelId="{7CF29D25-8ED5-C045-B57E-F4D1262F551E}" type="presParOf" srcId="{A62D6F1B-AF0D-054C-A263-5240D99CFC02}" destId="{FAB3ABC9-CE51-6E46-A582-477033F7909E}" srcOrd="0" destOrd="0" presId="urn:microsoft.com/office/officeart/2005/8/layout/hierarchy1"/>
    <dgm:cxn modelId="{33A2A22F-62BB-094F-9A9C-D8B4EB7002AF}" type="presParOf" srcId="{A62D6F1B-AF0D-054C-A263-5240D99CFC02}" destId="{ADCE56BC-B51A-644D-8703-0D1BBBF001DB}" srcOrd="1" destOrd="0" presId="urn:microsoft.com/office/officeart/2005/8/layout/hierarchy1"/>
    <dgm:cxn modelId="{7D9EB3F5-D6BE-074A-8464-B9B5FD52655C}" type="presParOf" srcId="{ADCE56BC-B51A-644D-8703-0D1BBBF001DB}" destId="{E161B099-77F9-FD43-9A4D-697DBB1A9DB9}" srcOrd="0" destOrd="0" presId="urn:microsoft.com/office/officeart/2005/8/layout/hierarchy1"/>
    <dgm:cxn modelId="{BED6681D-C250-0F45-9139-7D752834095A}" type="presParOf" srcId="{E161B099-77F9-FD43-9A4D-697DBB1A9DB9}" destId="{28CE6EFF-FA06-4A40-A514-B15AF719A036}" srcOrd="0" destOrd="0" presId="urn:microsoft.com/office/officeart/2005/8/layout/hierarchy1"/>
    <dgm:cxn modelId="{D625127F-E123-0C46-B78B-A0C8038A6E73}" type="presParOf" srcId="{E161B099-77F9-FD43-9A4D-697DBB1A9DB9}" destId="{36F1355C-6C7A-3F4E-9338-F578F474E3F6}" srcOrd="1" destOrd="0" presId="urn:microsoft.com/office/officeart/2005/8/layout/hierarchy1"/>
    <dgm:cxn modelId="{C9E2E91D-BB70-6541-9521-FE3F55A04D78}" type="presParOf" srcId="{ADCE56BC-B51A-644D-8703-0D1BBBF001DB}" destId="{E902744D-6C91-704E-96B1-839C1E5C0A71}" srcOrd="1" destOrd="0" presId="urn:microsoft.com/office/officeart/2005/8/layout/hierarchy1"/>
    <dgm:cxn modelId="{3026D4FF-5CB2-D747-8FF0-D89BC8B1EE10}" type="presParOf" srcId="{E902744D-6C91-704E-96B1-839C1E5C0A71}" destId="{83175078-7932-F44A-9E39-84D1EDA4A644}" srcOrd="0" destOrd="0" presId="urn:microsoft.com/office/officeart/2005/8/layout/hierarchy1"/>
    <dgm:cxn modelId="{E1A47D71-D336-B64D-B12F-932A88B88D12}" type="presParOf" srcId="{E902744D-6C91-704E-96B1-839C1E5C0A71}" destId="{61C18124-325C-E041-99FB-17EB84ABFD43}" srcOrd="1" destOrd="0" presId="urn:microsoft.com/office/officeart/2005/8/layout/hierarchy1"/>
    <dgm:cxn modelId="{DA937FD5-C63E-A245-BDCB-278495DAF904}" type="presParOf" srcId="{61C18124-325C-E041-99FB-17EB84ABFD43}" destId="{2223441E-B806-FF44-B6FC-99CA6BC2D18C}" srcOrd="0" destOrd="0" presId="urn:microsoft.com/office/officeart/2005/8/layout/hierarchy1"/>
    <dgm:cxn modelId="{CF393A92-706D-B345-9355-CDB803A8D06F}" type="presParOf" srcId="{2223441E-B806-FF44-B6FC-99CA6BC2D18C}" destId="{61509F13-ECF5-824E-AB0E-238E43561F9B}" srcOrd="0" destOrd="0" presId="urn:microsoft.com/office/officeart/2005/8/layout/hierarchy1"/>
    <dgm:cxn modelId="{CD49245A-654F-5344-95BB-E819476BA9C9}" type="presParOf" srcId="{2223441E-B806-FF44-B6FC-99CA6BC2D18C}" destId="{03C502F8-A858-FC44-9EBA-F09ED388A4F5}" srcOrd="1" destOrd="0" presId="urn:microsoft.com/office/officeart/2005/8/layout/hierarchy1"/>
    <dgm:cxn modelId="{3468C7DE-6A59-EA4F-A9D6-B3AB347646E1}" type="presParOf" srcId="{61C18124-325C-E041-99FB-17EB84ABFD43}" destId="{CD615948-73BA-CE4B-8051-DFD53B3B0E6E}" srcOrd="1" destOrd="0" presId="urn:microsoft.com/office/officeart/2005/8/layout/hierarchy1"/>
    <dgm:cxn modelId="{4E93B43A-14E2-E745-AADF-864773801BF5}" type="presParOf" srcId="{A62D6F1B-AF0D-054C-A263-5240D99CFC02}" destId="{7B165121-B4DA-3D41-B59D-340BEFD6B021}" srcOrd="2" destOrd="0" presId="urn:microsoft.com/office/officeart/2005/8/layout/hierarchy1"/>
    <dgm:cxn modelId="{5CB5EF8E-0605-B941-8C36-079413D70A82}" type="presParOf" srcId="{A62D6F1B-AF0D-054C-A263-5240D99CFC02}" destId="{0F9ACB6B-394F-614A-9640-DF391012056F}" srcOrd="3" destOrd="0" presId="urn:microsoft.com/office/officeart/2005/8/layout/hierarchy1"/>
    <dgm:cxn modelId="{8A9FBDA7-6F18-484C-90BC-0DC2D306CC24}" type="presParOf" srcId="{0F9ACB6B-394F-614A-9640-DF391012056F}" destId="{20B140E6-0299-E244-979A-2390721DBC25}" srcOrd="0" destOrd="0" presId="urn:microsoft.com/office/officeart/2005/8/layout/hierarchy1"/>
    <dgm:cxn modelId="{8E804764-A691-6A44-895A-500ADCFC24E3}" type="presParOf" srcId="{20B140E6-0299-E244-979A-2390721DBC25}" destId="{C014E9E6-13FA-5444-9BC3-3D89E8915179}" srcOrd="0" destOrd="0" presId="urn:microsoft.com/office/officeart/2005/8/layout/hierarchy1"/>
    <dgm:cxn modelId="{AD03AAE2-7C41-B549-BCC2-EEBAB6756075}" type="presParOf" srcId="{20B140E6-0299-E244-979A-2390721DBC25}" destId="{E7D1A8F5-82B3-3D4D-B2BB-8402CE6DF5DF}" srcOrd="1" destOrd="0" presId="urn:microsoft.com/office/officeart/2005/8/layout/hierarchy1"/>
    <dgm:cxn modelId="{01DDDEEE-81B1-D646-8B7B-9702F9352E8E}" type="presParOf" srcId="{0F9ACB6B-394F-614A-9640-DF391012056F}" destId="{3336881A-8E9F-984F-9871-05E190F8CF30}" srcOrd="1" destOrd="0" presId="urn:microsoft.com/office/officeart/2005/8/layout/hierarchy1"/>
    <dgm:cxn modelId="{E26BCC7C-D817-2442-9D21-A534F927234E}" type="presParOf" srcId="{3336881A-8E9F-984F-9871-05E190F8CF30}" destId="{959669F8-0B44-7F4A-BE1E-E4EDB174AE9B}" srcOrd="0" destOrd="0" presId="urn:microsoft.com/office/officeart/2005/8/layout/hierarchy1"/>
    <dgm:cxn modelId="{C47B739A-325F-3A45-AECE-E537988E3928}" type="presParOf" srcId="{3336881A-8E9F-984F-9871-05E190F8CF30}" destId="{82472A6C-D4AA-E64C-927D-2B09476DCA2B}" srcOrd="1" destOrd="0" presId="urn:microsoft.com/office/officeart/2005/8/layout/hierarchy1"/>
    <dgm:cxn modelId="{FED0D4AD-6F8E-544D-B3B8-88AB931B25E4}" type="presParOf" srcId="{82472A6C-D4AA-E64C-927D-2B09476DCA2B}" destId="{51749F20-E656-C042-AD50-4A09706514B0}" srcOrd="0" destOrd="0" presId="urn:microsoft.com/office/officeart/2005/8/layout/hierarchy1"/>
    <dgm:cxn modelId="{8303292A-7E88-DE48-B210-3906C6C4AB1A}" type="presParOf" srcId="{51749F20-E656-C042-AD50-4A09706514B0}" destId="{9DE444D1-71C7-6D47-8D20-D17B0958CE50}" srcOrd="0" destOrd="0" presId="urn:microsoft.com/office/officeart/2005/8/layout/hierarchy1"/>
    <dgm:cxn modelId="{F134A8C5-6318-7F49-A4B9-BF974BDFA887}" type="presParOf" srcId="{51749F20-E656-C042-AD50-4A09706514B0}" destId="{076EFA28-0F84-924A-99EB-2F55769FB300}" srcOrd="1" destOrd="0" presId="urn:microsoft.com/office/officeart/2005/8/layout/hierarchy1"/>
    <dgm:cxn modelId="{DF531D8C-8359-C345-97C4-BEB7BEAD8720}" type="presParOf" srcId="{82472A6C-D4AA-E64C-927D-2B09476DCA2B}" destId="{8CE5404A-7CC4-2D4C-A1DF-21FCC974265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72943D1-2568-584E-8CD3-B623F34F6A0E}" type="doc">
      <dgm:prSet loTypeId="urn:microsoft.com/office/officeart/2005/8/layout/process4" loCatId="process" qsTypeId="urn:microsoft.com/office/officeart/2005/8/quickstyle/simple4" qsCatId="simple" csTypeId="urn:microsoft.com/office/officeart/2005/8/colors/accent1_2" csCatId="accent1" phldr="1"/>
      <dgm:spPr/>
      <dgm:t>
        <a:bodyPr/>
        <a:lstStyle/>
        <a:p>
          <a:endParaRPr lang="en-US"/>
        </a:p>
      </dgm:t>
    </dgm:pt>
    <dgm:pt modelId="{1EC6D619-D04E-E24E-89A2-08D1B7C025C5}">
      <dgm:prSet phldrT="[Text]"/>
      <dgm:spPr>
        <a:solidFill>
          <a:schemeClr val="accent6">
            <a:lumMod val="75000"/>
          </a:schemeClr>
        </a:solidFill>
        <a:ln>
          <a:solidFill>
            <a:schemeClr val="accent6">
              <a:lumMod val="75000"/>
            </a:schemeClr>
          </a:solidFill>
        </a:ln>
      </dgm:spPr>
      <dgm:t>
        <a:bodyPr/>
        <a:lstStyle/>
        <a:p>
          <a:r>
            <a:rPr lang="en-US" dirty="0"/>
            <a:t>Demand Cleaning</a:t>
          </a:r>
        </a:p>
      </dgm:t>
    </dgm:pt>
    <dgm:pt modelId="{D7946C2B-2597-3448-944F-B8701E2D12C9}" type="parTrans" cxnId="{2DE39A2D-D90E-E54A-9427-0F0F5D63C488}">
      <dgm:prSet/>
      <dgm:spPr/>
      <dgm:t>
        <a:bodyPr/>
        <a:lstStyle/>
        <a:p>
          <a:endParaRPr lang="en-US"/>
        </a:p>
      </dgm:t>
    </dgm:pt>
    <dgm:pt modelId="{103A7F24-2A26-444A-ABF1-6A3E6AE9E548}" type="sibTrans" cxnId="{2DE39A2D-D90E-E54A-9427-0F0F5D63C488}">
      <dgm:prSet/>
      <dgm:spPr/>
      <dgm:t>
        <a:bodyPr/>
        <a:lstStyle/>
        <a:p>
          <a:endParaRPr lang="en-US"/>
        </a:p>
      </dgm:t>
    </dgm:pt>
    <dgm:pt modelId="{0F4BF5E1-5CE0-9C40-AD30-D32A57814383}">
      <dgm:prSet/>
      <dgm:spPr>
        <a:ln>
          <a:solidFill>
            <a:schemeClr val="accent6">
              <a:lumMod val="75000"/>
            </a:schemeClr>
          </a:solidFill>
        </a:ln>
      </dgm:spPr>
      <dgm:t>
        <a:bodyPr/>
        <a:lstStyle/>
        <a:p>
          <a:r>
            <a:rPr lang="en-US" dirty="0"/>
            <a:t>A page is written out to secondary memory only when it has been selected for replacement</a:t>
          </a:r>
        </a:p>
      </dgm:t>
    </dgm:pt>
    <dgm:pt modelId="{C18200A3-CB02-844A-8878-4236179B51AB}" type="parTrans" cxnId="{F674E52A-A6F2-CC44-B766-84240FA0FAB0}">
      <dgm:prSet/>
      <dgm:spPr/>
      <dgm:t>
        <a:bodyPr/>
        <a:lstStyle/>
        <a:p>
          <a:endParaRPr lang="en-US"/>
        </a:p>
      </dgm:t>
    </dgm:pt>
    <dgm:pt modelId="{B28021C4-3880-3D4C-9AA0-818ED1F686D0}" type="sibTrans" cxnId="{F674E52A-A6F2-CC44-B766-84240FA0FAB0}">
      <dgm:prSet/>
      <dgm:spPr/>
      <dgm:t>
        <a:bodyPr/>
        <a:lstStyle/>
        <a:p>
          <a:endParaRPr lang="en-US"/>
        </a:p>
      </dgm:t>
    </dgm:pt>
    <dgm:pt modelId="{CE323300-7303-CB40-A0D7-653E25DA960E}">
      <dgm:prSet/>
      <dgm:spPr>
        <a:solidFill>
          <a:schemeClr val="accent6">
            <a:lumMod val="75000"/>
          </a:schemeClr>
        </a:solidFill>
      </dgm:spPr>
      <dgm:t>
        <a:bodyPr/>
        <a:lstStyle/>
        <a:p>
          <a:r>
            <a:rPr lang="en-US"/>
            <a:t>Precleaning</a:t>
          </a:r>
          <a:endParaRPr lang="en-US" dirty="0"/>
        </a:p>
      </dgm:t>
    </dgm:pt>
    <dgm:pt modelId="{A5CD520B-7EF3-9043-9EA6-65657D6772E9}" type="parTrans" cxnId="{FAF5C5B2-8A38-0A4C-851F-F27854FD4511}">
      <dgm:prSet/>
      <dgm:spPr/>
      <dgm:t>
        <a:bodyPr/>
        <a:lstStyle/>
        <a:p>
          <a:endParaRPr lang="en-US"/>
        </a:p>
      </dgm:t>
    </dgm:pt>
    <dgm:pt modelId="{31E38444-3C5D-514C-827B-4DE4DCDF706E}" type="sibTrans" cxnId="{FAF5C5B2-8A38-0A4C-851F-F27854FD4511}">
      <dgm:prSet/>
      <dgm:spPr/>
      <dgm:t>
        <a:bodyPr/>
        <a:lstStyle/>
        <a:p>
          <a:endParaRPr lang="en-US"/>
        </a:p>
      </dgm:t>
    </dgm:pt>
    <dgm:pt modelId="{F102D7A2-8117-CA48-875B-40A8C604C550}">
      <dgm:prSet/>
      <dgm:spPr>
        <a:ln>
          <a:solidFill>
            <a:schemeClr val="accent6">
              <a:lumMod val="75000"/>
            </a:schemeClr>
          </a:solidFill>
        </a:ln>
      </dgm:spPr>
      <dgm:t>
        <a:bodyPr/>
        <a:lstStyle/>
        <a:p>
          <a:r>
            <a:rPr lang="en-US" dirty="0"/>
            <a:t>Allows the writing of pages in batches</a:t>
          </a:r>
        </a:p>
      </dgm:t>
    </dgm:pt>
    <dgm:pt modelId="{57E4BB84-139B-AF4A-B31C-FB50E6B764A8}" type="parTrans" cxnId="{7708B8E6-2D14-BB4B-9BF6-BBBCC9389AA6}">
      <dgm:prSet/>
      <dgm:spPr/>
      <dgm:t>
        <a:bodyPr/>
        <a:lstStyle/>
        <a:p>
          <a:endParaRPr lang="en-US"/>
        </a:p>
      </dgm:t>
    </dgm:pt>
    <dgm:pt modelId="{1AB0C6AD-E345-C242-B36E-E2C75EB3C1F4}" type="sibTrans" cxnId="{7708B8E6-2D14-BB4B-9BF6-BBBCC9389AA6}">
      <dgm:prSet/>
      <dgm:spPr/>
      <dgm:t>
        <a:bodyPr/>
        <a:lstStyle/>
        <a:p>
          <a:endParaRPr lang="en-US"/>
        </a:p>
      </dgm:t>
    </dgm:pt>
    <dgm:pt modelId="{B2738878-1DE2-8841-A687-62CA16FF18D8}" type="pres">
      <dgm:prSet presAssocID="{272943D1-2568-584E-8CD3-B623F34F6A0E}" presName="Name0" presStyleCnt="0">
        <dgm:presLayoutVars>
          <dgm:dir/>
          <dgm:animLvl val="lvl"/>
          <dgm:resizeHandles val="exact"/>
        </dgm:presLayoutVars>
      </dgm:prSet>
      <dgm:spPr/>
    </dgm:pt>
    <dgm:pt modelId="{170A8933-CFC6-3A4D-A7C2-B49B91911673}" type="pres">
      <dgm:prSet presAssocID="{CE323300-7303-CB40-A0D7-653E25DA960E}" presName="boxAndChildren" presStyleCnt="0"/>
      <dgm:spPr/>
    </dgm:pt>
    <dgm:pt modelId="{827701AC-6710-9848-B602-443B91EF7739}" type="pres">
      <dgm:prSet presAssocID="{CE323300-7303-CB40-A0D7-653E25DA960E}" presName="parentTextBox" presStyleLbl="node1" presStyleIdx="0" presStyleCnt="2"/>
      <dgm:spPr/>
    </dgm:pt>
    <dgm:pt modelId="{0AABCAFC-DF0A-5549-A2F3-6215A5F91819}" type="pres">
      <dgm:prSet presAssocID="{CE323300-7303-CB40-A0D7-653E25DA960E}" presName="entireBox" presStyleLbl="node1" presStyleIdx="0" presStyleCnt="2"/>
      <dgm:spPr/>
    </dgm:pt>
    <dgm:pt modelId="{BFF594F9-B99D-3A4E-A04F-587BBB2A53B0}" type="pres">
      <dgm:prSet presAssocID="{CE323300-7303-CB40-A0D7-653E25DA960E}" presName="descendantBox" presStyleCnt="0"/>
      <dgm:spPr/>
    </dgm:pt>
    <dgm:pt modelId="{018DC2B8-76E2-0D4E-ADFB-FC2DFEC19ABD}" type="pres">
      <dgm:prSet presAssocID="{F102D7A2-8117-CA48-875B-40A8C604C550}" presName="childTextBox" presStyleLbl="fgAccFollowNode1" presStyleIdx="0" presStyleCnt="2">
        <dgm:presLayoutVars>
          <dgm:bulletEnabled val="1"/>
        </dgm:presLayoutVars>
      </dgm:prSet>
      <dgm:spPr/>
    </dgm:pt>
    <dgm:pt modelId="{48933506-D830-9747-9BCF-1F7306C3B79F}" type="pres">
      <dgm:prSet presAssocID="{103A7F24-2A26-444A-ABF1-6A3E6AE9E548}" presName="sp" presStyleCnt="0"/>
      <dgm:spPr/>
    </dgm:pt>
    <dgm:pt modelId="{8B965C95-642E-854D-8681-5D51862499FB}" type="pres">
      <dgm:prSet presAssocID="{1EC6D619-D04E-E24E-89A2-08D1B7C025C5}" presName="arrowAndChildren" presStyleCnt="0"/>
      <dgm:spPr/>
    </dgm:pt>
    <dgm:pt modelId="{57BB884C-AF80-ED4A-A41B-F38AB0AA1893}" type="pres">
      <dgm:prSet presAssocID="{1EC6D619-D04E-E24E-89A2-08D1B7C025C5}" presName="parentTextArrow" presStyleLbl="node1" presStyleIdx="0" presStyleCnt="2"/>
      <dgm:spPr/>
    </dgm:pt>
    <dgm:pt modelId="{07D657C2-6456-3E4C-98E3-58A8B5462A1D}" type="pres">
      <dgm:prSet presAssocID="{1EC6D619-D04E-E24E-89A2-08D1B7C025C5}" presName="arrow" presStyleLbl="node1" presStyleIdx="1" presStyleCnt="2"/>
      <dgm:spPr/>
    </dgm:pt>
    <dgm:pt modelId="{97877287-7011-3646-B84E-1047763DCAA7}" type="pres">
      <dgm:prSet presAssocID="{1EC6D619-D04E-E24E-89A2-08D1B7C025C5}" presName="descendantArrow" presStyleCnt="0"/>
      <dgm:spPr/>
    </dgm:pt>
    <dgm:pt modelId="{D77A17F0-FD24-804F-B9BA-B89549FA1E9B}" type="pres">
      <dgm:prSet presAssocID="{0F4BF5E1-5CE0-9C40-AD30-D32A57814383}" presName="childTextArrow" presStyleLbl="fgAccFollowNode1" presStyleIdx="1" presStyleCnt="2">
        <dgm:presLayoutVars>
          <dgm:bulletEnabled val="1"/>
        </dgm:presLayoutVars>
      </dgm:prSet>
      <dgm:spPr/>
    </dgm:pt>
  </dgm:ptLst>
  <dgm:cxnLst>
    <dgm:cxn modelId="{F674E52A-A6F2-CC44-B766-84240FA0FAB0}" srcId="{1EC6D619-D04E-E24E-89A2-08D1B7C025C5}" destId="{0F4BF5E1-5CE0-9C40-AD30-D32A57814383}" srcOrd="0" destOrd="0" parTransId="{C18200A3-CB02-844A-8878-4236179B51AB}" sibTransId="{B28021C4-3880-3D4C-9AA0-818ED1F686D0}"/>
    <dgm:cxn modelId="{2DE39A2D-D90E-E54A-9427-0F0F5D63C488}" srcId="{272943D1-2568-584E-8CD3-B623F34F6A0E}" destId="{1EC6D619-D04E-E24E-89A2-08D1B7C025C5}" srcOrd="0" destOrd="0" parTransId="{D7946C2B-2597-3448-944F-B8701E2D12C9}" sibTransId="{103A7F24-2A26-444A-ABF1-6A3E6AE9E548}"/>
    <dgm:cxn modelId="{9DC52A3B-CAB9-7D4D-8C65-A3FA6C0BD235}" type="presOf" srcId="{F102D7A2-8117-CA48-875B-40A8C604C550}" destId="{018DC2B8-76E2-0D4E-ADFB-FC2DFEC19ABD}" srcOrd="0" destOrd="0" presId="urn:microsoft.com/office/officeart/2005/8/layout/process4"/>
    <dgm:cxn modelId="{B739C664-A43F-E949-A22D-E93F83FB44BA}" type="presOf" srcId="{0F4BF5E1-5CE0-9C40-AD30-D32A57814383}" destId="{D77A17F0-FD24-804F-B9BA-B89549FA1E9B}" srcOrd="0" destOrd="0" presId="urn:microsoft.com/office/officeart/2005/8/layout/process4"/>
    <dgm:cxn modelId="{8552DC67-BA05-FD4E-884D-B5F4C09DB7BB}" type="presOf" srcId="{272943D1-2568-584E-8CD3-B623F34F6A0E}" destId="{B2738878-1DE2-8841-A687-62CA16FF18D8}" srcOrd="0" destOrd="0" presId="urn:microsoft.com/office/officeart/2005/8/layout/process4"/>
    <dgm:cxn modelId="{6CF76868-A2A0-1C49-8C26-8AECD9606010}" type="presOf" srcId="{CE323300-7303-CB40-A0D7-653E25DA960E}" destId="{827701AC-6710-9848-B602-443B91EF7739}" srcOrd="0" destOrd="0" presId="urn:microsoft.com/office/officeart/2005/8/layout/process4"/>
    <dgm:cxn modelId="{9DC9CB73-8C2B-494A-8482-363074FC017D}" type="presOf" srcId="{1EC6D619-D04E-E24E-89A2-08D1B7C025C5}" destId="{07D657C2-6456-3E4C-98E3-58A8B5462A1D}" srcOrd="1" destOrd="0" presId="urn:microsoft.com/office/officeart/2005/8/layout/process4"/>
    <dgm:cxn modelId="{291FE673-44BA-4B4A-986C-CADD87317D2A}" type="presOf" srcId="{1EC6D619-D04E-E24E-89A2-08D1B7C025C5}" destId="{57BB884C-AF80-ED4A-A41B-F38AB0AA1893}" srcOrd="0" destOrd="0" presId="urn:microsoft.com/office/officeart/2005/8/layout/process4"/>
    <dgm:cxn modelId="{FAF5C5B2-8A38-0A4C-851F-F27854FD4511}" srcId="{272943D1-2568-584E-8CD3-B623F34F6A0E}" destId="{CE323300-7303-CB40-A0D7-653E25DA960E}" srcOrd="1" destOrd="0" parTransId="{A5CD520B-7EF3-9043-9EA6-65657D6772E9}" sibTransId="{31E38444-3C5D-514C-827B-4DE4DCDF706E}"/>
    <dgm:cxn modelId="{7708B8E6-2D14-BB4B-9BF6-BBBCC9389AA6}" srcId="{CE323300-7303-CB40-A0D7-653E25DA960E}" destId="{F102D7A2-8117-CA48-875B-40A8C604C550}" srcOrd="0" destOrd="0" parTransId="{57E4BB84-139B-AF4A-B31C-FB50E6B764A8}" sibTransId="{1AB0C6AD-E345-C242-B36E-E2C75EB3C1F4}"/>
    <dgm:cxn modelId="{5527DFF8-6B9F-BD4E-A78F-288D2308CA9C}" type="presOf" srcId="{CE323300-7303-CB40-A0D7-653E25DA960E}" destId="{0AABCAFC-DF0A-5549-A2F3-6215A5F91819}" srcOrd="1" destOrd="0" presId="urn:microsoft.com/office/officeart/2005/8/layout/process4"/>
    <dgm:cxn modelId="{422DE0D6-9235-724A-A181-CCEC5A19EAE2}" type="presParOf" srcId="{B2738878-1DE2-8841-A687-62CA16FF18D8}" destId="{170A8933-CFC6-3A4D-A7C2-B49B91911673}" srcOrd="0" destOrd="0" presId="urn:microsoft.com/office/officeart/2005/8/layout/process4"/>
    <dgm:cxn modelId="{46145297-76A0-F24F-A848-FB4D23266BFC}" type="presParOf" srcId="{170A8933-CFC6-3A4D-A7C2-B49B91911673}" destId="{827701AC-6710-9848-B602-443B91EF7739}" srcOrd="0" destOrd="0" presId="urn:microsoft.com/office/officeart/2005/8/layout/process4"/>
    <dgm:cxn modelId="{786AF1DE-CAAF-D040-B420-755793666438}" type="presParOf" srcId="{170A8933-CFC6-3A4D-A7C2-B49B91911673}" destId="{0AABCAFC-DF0A-5549-A2F3-6215A5F91819}" srcOrd="1" destOrd="0" presId="urn:microsoft.com/office/officeart/2005/8/layout/process4"/>
    <dgm:cxn modelId="{16EB6B96-1CE5-8E44-AFB2-8768D956DA86}" type="presParOf" srcId="{170A8933-CFC6-3A4D-A7C2-B49B91911673}" destId="{BFF594F9-B99D-3A4E-A04F-587BBB2A53B0}" srcOrd="2" destOrd="0" presId="urn:microsoft.com/office/officeart/2005/8/layout/process4"/>
    <dgm:cxn modelId="{B2B13373-6701-FA4A-B5C7-766E428656AF}" type="presParOf" srcId="{BFF594F9-B99D-3A4E-A04F-587BBB2A53B0}" destId="{018DC2B8-76E2-0D4E-ADFB-FC2DFEC19ABD}" srcOrd="0" destOrd="0" presId="urn:microsoft.com/office/officeart/2005/8/layout/process4"/>
    <dgm:cxn modelId="{FF47DD3E-AB02-4340-B096-8024FA2EE6A7}" type="presParOf" srcId="{B2738878-1DE2-8841-A687-62CA16FF18D8}" destId="{48933506-D830-9747-9BCF-1F7306C3B79F}" srcOrd="1" destOrd="0" presId="urn:microsoft.com/office/officeart/2005/8/layout/process4"/>
    <dgm:cxn modelId="{5F33105B-A415-6E4B-9902-49DA3D12F8EE}" type="presParOf" srcId="{B2738878-1DE2-8841-A687-62CA16FF18D8}" destId="{8B965C95-642E-854D-8681-5D51862499FB}" srcOrd="2" destOrd="0" presId="urn:microsoft.com/office/officeart/2005/8/layout/process4"/>
    <dgm:cxn modelId="{D2A4F4A3-4E09-4147-8921-22F46A396052}" type="presParOf" srcId="{8B965C95-642E-854D-8681-5D51862499FB}" destId="{57BB884C-AF80-ED4A-A41B-F38AB0AA1893}" srcOrd="0" destOrd="0" presId="urn:microsoft.com/office/officeart/2005/8/layout/process4"/>
    <dgm:cxn modelId="{8604887F-46F2-304A-A58C-88DEBF2D290A}" type="presParOf" srcId="{8B965C95-642E-854D-8681-5D51862499FB}" destId="{07D657C2-6456-3E4C-98E3-58A8B5462A1D}" srcOrd="1" destOrd="0" presId="urn:microsoft.com/office/officeart/2005/8/layout/process4"/>
    <dgm:cxn modelId="{5845738C-832F-4E4E-A46A-A9880525E34B}" type="presParOf" srcId="{8B965C95-642E-854D-8681-5D51862499FB}" destId="{97877287-7011-3646-B84E-1047763DCAA7}" srcOrd="2" destOrd="0" presId="urn:microsoft.com/office/officeart/2005/8/layout/process4"/>
    <dgm:cxn modelId="{CB83B179-865E-8446-A1EF-14A75FFD6A41}" type="presParOf" srcId="{97877287-7011-3646-B84E-1047763DCAA7}" destId="{D77A17F0-FD24-804F-B9BA-B89549FA1E9B}"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3D9C3C5-4EE0-E848-B699-8A0E9E9D69D8}"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6B7ADE3E-8E57-D34C-9646-5DE55D005F5A}">
      <dgm:prSet phldrT="[Text]"/>
      <dgm:spPr/>
      <dgm:t>
        <a:bodyPr/>
        <a:lstStyle/>
        <a:p>
          <a:r>
            <a:rPr lang="en-NZ" dirty="0"/>
            <a:t>Six possibilities exist:</a:t>
          </a:r>
          <a:endParaRPr lang="en-US" dirty="0"/>
        </a:p>
      </dgm:t>
    </dgm:pt>
    <dgm:pt modelId="{AC40C00E-5C93-1F46-8985-733F101DCE1C}" type="parTrans" cxnId="{5F218AA9-C11E-E242-8470-459F2B70E9F3}">
      <dgm:prSet/>
      <dgm:spPr/>
      <dgm:t>
        <a:bodyPr/>
        <a:lstStyle/>
        <a:p>
          <a:endParaRPr lang="en-US"/>
        </a:p>
      </dgm:t>
    </dgm:pt>
    <dgm:pt modelId="{C430AF6F-328B-8240-8A2B-C0B6DCC06AD6}" type="sibTrans" cxnId="{5F218AA9-C11E-E242-8470-459F2B70E9F3}">
      <dgm:prSet/>
      <dgm:spPr/>
      <dgm:t>
        <a:bodyPr/>
        <a:lstStyle/>
        <a:p>
          <a:endParaRPr lang="en-US"/>
        </a:p>
      </dgm:t>
    </dgm:pt>
    <dgm:pt modelId="{81663232-E89C-5943-9838-D45D4A966939}">
      <dgm:prSet/>
      <dgm:spPr/>
      <dgm:t>
        <a:bodyPr/>
        <a:lstStyle/>
        <a:p>
          <a:r>
            <a:rPr lang="en-NZ" dirty="0"/>
            <a:t>Lowest-priority process</a:t>
          </a:r>
        </a:p>
      </dgm:t>
    </dgm:pt>
    <dgm:pt modelId="{5324BBA9-550F-3D42-96C9-3F0CE13A61EB}" type="parTrans" cxnId="{F8ED8EC3-F1D9-BC40-AE60-506EDE95D493}">
      <dgm:prSet/>
      <dgm:spPr/>
      <dgm:t>
        <a:bodyPr/>
        <a:lstStyle/>
        <a:p>
          <a:endParaRPr lang="en-US"/>
        </a:p>
      </dgm:t>
    </dgm:pt>
    <dgm:pt modelId="{0011F9BE-1011-2F4E-A3E7-68B9EF56EE76}" type="sibTrans" cxnId="{F8ED8EC3-F1D9-BC40-AE60-506EDE95D493}">
      <dgm:prSet/>
      <dgm:spPr/>
      <dgm:t>
        <a:bodyPr/>
        <a:lstStyle/>
        <a:p>
          <a:endParaRPr lang="en-US"/>
        </a:p>
      </dgm:t>
    </dgm:pt>
    <dgm:pt modelId="{A5C047B0-673D-8E4F-A1FB-FE6419783974}">
      <dgm:prSet/>
      <dgm:spPr/>
      <dgm:t>
        <a:bodyPr/>
        <a:lstStyle/>
        <a:p>
          <a:r>
            <a:rPr lang="en-NZ" dirty="0"/>
            <a:t>Faulting process</a:t>
          </a:r>
        </a:p>
      </dgm:t>
    </dgm:pt>
    <dgm:pt modelId="{25DE016B-C9A8-1744-BF22-1BDADB856E93}" type="parTrans" cxnId="{3CC7EE1B-EB12-E64E-83EE-CF215C9B416D}">
      <dgm:prSet/>
      <dgm:spPr/>
      <dgm:t>
        <a:bodyPr/>
        <a:lstStyle/>
        <a:p>
          <a:endParaRPr lang="en-US"/>
        </a:p>
      </dgm:t>
    </dgm:pt>
    <dgm:pt modelId="{6611C196-FB16-3242-8647-76B8786D248B}" type="sibTrans" cxnId="{3CC7EE1B-EB12-E64E-83EE-CF215C9B416D}">
      <dgm:prSet/>
      <dgm:spPr/>
      <dgm:t>
        <a:bodyPr/>
        <a:lstStyle/>
        <a:p>
          <a:endParaRPr lang="en-US"/>
        </a:p>
      </dgm:t>
    </dgm:pt>
    <dgm:pt modelId="{2CC078CE-CE72-DA40-A08C-B35DA6A69267}">
      <dgm:prSet/>
      <dgm:spPr/>
      <dgm:t>
        <a:bodyPr/>
        <a:lstStyle/>
        <a:p>
          <a:r>
            <a:rPr lang="en-NZ" dirty="0"/>
            <a:t>Last process activated</a:t>
          </a:r>
        </a:p>
      </dgm:t>
    </dgm:pt>
    <dgm:pt modelId="{8302FA70-9F37-A74D-B4A9-C1976750FCC0}" type="parTrans" cxnId="{E944EE72-AE0B-EC46-BCED-EC6B477FA157}">
      <dgm:prSet/>
      <dgm:spPr/>
      <dgm:t>
        <a:bodyPr/>
        <a:lstStyle/>
        <a:p>
          <a:endParaRPr lang="en-US"/>
        </a:p>
      </dgm:t>
    </dgm:pt>
    <dgm:pt modelId="{4550C1D9-63E4-3745-98EC-ACDDBBDB8704}" type="sibTrans" cxnId="{E944EE72-AE0B-EC46-BCED-EC6B477FA157}">
      <dgm:prSet/>
      <dgm:spPr/>
      <dgm:t>
        <a:bodyPr/>
        <a:lstStyle/>
        <a:p>
          <a:endParaRPr lang="en-US"/>
        </a:p>
      </dgm:t>
    </dgm:pt>
    <dgm:pt modelId="{957638B3-9D61-F545-959B-734CB6E505F5}">
      <dgm:prSet/>
      <dgm:spPr/>
      <dgm:t>
        <a:bodyPr/>
        <a:lstStyle/>
        <a:p>
          <a:r>
            <a:rPr lang="en-NZ" dirty="0"/>
            <a:t>Process with the smallest resident set</a:t>
          </a:r>
        </a:p>
      </dgm:t>
    </dgm:pt>
    <dgm:pt modelId="{7FCD3677-A710-4E4B-B87B-DC40720265B8}" type="parTrans" cxnId="{A670FF89-C4ED-794D-8EDE-F3149CD28217}">
      <dgm:prSet/>
      <dgm:spPr/>
      <dgm:t>
        <a:bodyPr/>
        <a:lstStyle/>
        <a:p>
          <a:endParaRPr lang="en-US"/>
        </a:p>
      </dgm:t>
    </dgm:pt>
    <dgm:pt modelId="{E708CCBA-46B5-734D-A5C8-C056B3C629F0}" type="sibTrans" cxnId="{A670FF89-C4ED-794D-8EDE-F3149CD28217}">
      <dgm:prSet/>
      <dgm:spPr/>
      <dgm:t>
        <a:bodyPr/>
        <a:lstStyle/>
        <a:p>
          <a:endParaRPr lang="en-US"/>
        </a:p>
      </dgm:t>
    </dgm:pt>
    <dgm:pt modelId="{FE73AC30-B099-AE43-932A-1C425C764A9D}">
      <dgm:prSet/>
      <dgm:spPr/>
      <dgm:t>
        <a:bodyPr/>
        <a:lstStyle/>
        <a:p>
          <a:r>
            <a:rPr lang="en-NZ" dirty="0"/>
            <a:t>Largest process</a:t>
          </a:r>
        </a:p>
      </dgm:t>
    </dgm:pt>
    <dgm:pt modelId="{B822F12D-0982-3144-96F4-D9D913EA19B9}" type="parTrans" cxnId="{1CC5EFB8-AA37-344D-927B-8EBF70E882DF}">
      <dgm:prSet/>
      <dgm:spPr/>
      <dgm:t>
        <a:bodyPr/>
        <a:lstStyle/>
        <a:p>
          <a:endParaRPr lang="en-US"/>
        </a:p>
      </dgm:t>
    </dgm:pt>
    <dgm:pt modelId="{2068C441-CB8C-8C4D-A829-835CEE5E799C}" type="sibTrans" cxnId="{1CC5EFB8-AA37-344D-927B-8EBF70E882DF}">
      <dgm:prSet/>
      <dgm:spPr/>
      <dgm:t>
        <a:bodyPr/>
        <a:lstStyle/>
        <a:p>
          <a:endParaRPr lang="en-US"/>
        </a:p>
      </dgm:t>
    </dgm:pt>
    <dgm:pt modelId="{83033804-0C0F-484E-9F8B-29CF9C84354C}">
      <dgm:prSet/>
      <dgm:spPr/>
      <dgm:t>
        <a:bodyPr/>
        <a:lstStyle/>
        <a:p>
          <a:r>
            <a:rPr lang="en-NZ" dirty="0"/>
            <a:t>Process with the largest remaining execution window</a:t>
          </a:r>
        </a:p>
      </dgm:t>
    </dgm:pt>
    <dgm:pt modelId="{BADA29D4-F655-E747-8202-DC86FED9701B}" type="parTrans" cxnId="{872BE5D2-4185-DB45-AEF5-756E030C1DED}">
      <dgm:prSet/>
      <dgm:spPr/>
      <dgm:t>
        <a:bodyPr/>
        <a:lstStyle/>
        <a:p>
          <a:endParaRPr lang="en-US"/>
        </a:p>
      </dgm:t>
    </dgm:pt>
    <dgm:pt modelId="{3466CFB1-0EDD-E544-9A23-A81EE567430D}" type="sibTrans" cxnId="{872BE5D2-4185-DB45-AEF5-756E030C1DED}">
      <dgm:prSet/>
      <dgm:spPr/>
      <dgm:t>
        <a:bodyPr/>
        <a:lstStyle/>
        <a:p>
          <a:endParaRPr lang="en-US"/>
        </a:p>
      </dgm:t>
    </dgm:pt>
    <dgm:pt modelId="{16543A37-E258-C04C-B577-83A872101DA6}" type="pres">
      <dgm:prSet presAssocID="{E3D9C3C5-4EE0-E848-B699-8A0E9E9D69D8}" presName="Name0" presStyleCnt="0">
        <dgm:presLayoutVars>
          <dgm:dir/>
          <dgm:resizeHandles val="exact"/>
        </dgm:presLayoutVars>
      </dgm:prSet>
      <dgm:spPr/>
    </dgm:pt>
    <dgm:pt modelId="{DD51CAA0-63EC-5F44-9DA2-A1CCB69B69C7}" type="pres">
      <dgm:prSet presAssocID="{6B7ADE3E-8E57-D34C-9646-5DE55D005F5A}" presName="node" presStyleLbl="node1" presStyleIdx="0" presStyleCnt="1">
        <dgm:presLayoutVars>
          <dgm:bulletEnabled val="1"/>
        </dgm:presLayoutVars>
      </dgm:prSet>
      <dgm:spPr/>
    </dgm:pt>
  </dgm:ptLst>
  <dgm:cxnLst>
    <dgm:cxn modelId="{91089816-5403-B54F-B30A-7046F55AC893}" type="presOf" srcId="{2CC078CE-CE72-DA40-A08C-B35DA6A69267}" destId="{DD51CAA0-63EC-5F44-9DA2-A1CCB69B69C7}" srcOrd="0" destOrd="3" presId="urn:microsoft.com/office/officeart/2005/8/layout/hList6"/>
    <dgm:cxn modelId="{3CC7EE1B-EB12-E64E-83EE-CF215C9B416D}" srcId="{6B7ADE3E-8E57-D34C-9646-5DE55D005F5A}" destId="{A5C047B0-673D-8E4F-A1FB-FE6419783974}" srcOrd="1" destOrd="0" parTransId="{25DE016B-C9A8-1744-BF22-1BDADB856E93}" sibTransId="{6611C196-FB16-3242-8647-76B8786D248B}"/>
    <dgm:cxn modelId="{D1A4603A-F3AB-0740-9B44-7B49376EF617}" type="presOf" srcId="{81663232-E89C-5943-9838-D45D4A966939}" destId="{DD51CAA0-63EC-5F44-9DA2-A1CCB69B69C7}" srcOrd="0" destOrd="1" presId="urn:microsoft.com/office/officeart/2005/8/layout/hList6"/>
    <dgm:cxn modelId="{E944EE72-AE0B-EC46-BCED-EC6B477FA157}" srcId="{6B7ADE3E-8E57-D34C-9646-5DE55D005F5A}" destId="{2CC078CE-CE72-DA40-A08C-B35DA6A69267}" srcOrd="2" destOrd="0" parTransId="{8302FA70-9F37-A74D-B4A9-C1976750FCC0}" sibTransId="{4550C1D9-63E4-3745-98EC-ACDDBBDB8704}"/>
    <dgm:cxn modelId="{E4E66158-CDCE-2E45-9E63-9069ABBAF040}" type="presOf" srcId="{A5C047B0-673D-8E4F-A1FB-FE6419783974}" destId="{DD51CAA0-63EC-5F44-9DA2-A1CCB69B69C7}" srcOrd="0" destOrd="2" presId="urn:microsoft.com/office/officeart/2005/8/layout/hList6"/>
    <dgm:cxn modelId="{A670FF89-C4ED-794D-8EDE-F3149CD28217}" srcId="{6B7ADE3E-8E57-D34C-9646-5DE55D005F5A}" destId="{957638B3-9D61-F545-959B-734CB6E505F5}" srcOrd="3" destOrd="0" parTransId="{7FCD3677-A710-4E4B-B87B-DC40720265B8}" sibTransId="{E708CCBA-46B5-734D-A5C8-C056B3C629F0}"/>
    <dgm:cxn modelId="{1B0A7A9E-0891-7146-8816-3DAD26BA4C42}" type="presOf" srcId="{83033804-0C0F-484E-9F8B-29CF9C84354C}" destId="{DD51CAA0-63EC-5F44-9DA2-A1CCB69B69C7}" srcOrd="0" destOrd="6" presId="urn:microsoft.com/office/officeart/2005/8/layout/hList6"/>
    <dgm:cxn modelId="{5F218AA9-C11E-E242-8470-459F2B70E9F3}" srcId="{E3D9C3C5-4EE0-E848-B699-8A0E9E9D69D8}" destId="{6B7ADE3E-8E57-D34C-9646-5DE55D005F5A}" srcOrd="0" destOrd="0" parTransId="{AC40C00E-5C93-1F46-8985-733F101DCE1C}" sibTransId="{C430AF6F-328B-8240-8A2B-C0B6DCC06AD6}"/>
    <dgm:cxn modelId="{52A0DCAF-4498-E54F-A021-60B5DD8C7891}" type="presOf" srcId="{957638B3-9D61-F545-959B-734CB6E505F5}" destId="{DD51CAA0-63EC-5F44-9DA2-A1CCB69B69C7}" srcOrd="0" destOrd="4" presId="urn:microsoft.com/office/officeart/2005/8/layout/hList6"/>
    <dgm:cxn modelId="{1CC5EFB8-AA37-344D-927B-8EBF70E882DF}" srcId="{6B7ADE3E-8E57-D34C-9646-5DE55D005F5A}" destId="{FE73AC30-B099-AE43-932A-1C425C764A9D}" srcOrd="4" destOrd="0" parTransId="{B822F12D-0982-3144-96F4-D9D913EA19B9}" sibTransId="{2068C441-CB8C-8C4D-A829-835CEE5E799C}"/>
    <dgm:cxn modelId="{33B457C0-F014-E14B-AAEA-0E5F8E8C651D}" type="presOf" srcId="{FE73AC30-B099-AE43-932A-1C425C764A9D}" destId="{DD51CAA0-63EC-5F44-9DA2-A1CCB69B69C7}" srcOrd="0" destOrd="5" presId="urn:microsoft.com/office/officeart/2005/8/layout/hList6"/>
    <dgm:cxn modelId="{F8ED8EC3-F1D9-BC40-AE60-506EDE95D493}" srcId="{6B7ADE3E-8E57-D34C-9646-5DE55D005F5A}" destId="{81663232-E89C-5943-9838-D45D4A966939}" srcOrd="0" destOrd="0" parTransId="{5324BBA9-550F-3D42-96C9-3F0CE13A61EB}" sibTransId="{0011F9BE-1011-2F4E-A3E7-68B9EF56EE76}"/>
    <dgm:cxn modelId="{04848AC4-F020-D24E-9984-25CA1E097EB1}" type="presOf" srcId="{6B7ADE3E-8E57-D34C-9646-5DE55D005F5A}" destId="{DD51CAA0-63EC-5F44-9DA2-A1CCB69B69C7}" srcOrd="0" destOrd="0" presId="urn:microsoft.com/office/officeart/2005/8/layout/hList6"/>
    <dgm:cxn modelId="{F92D81C6-C35F-6F45-9E9F-616694869C6B}" type="presOf" srcId="{E3D9C3C5-4EE0-E848-B699-8A0E9E9D69D8}" destId="{16543A37-E258-C04C-B577-83A872101DA6}" srcOrd="0" destOrd="0" presId="urn:microsoft.com/office/officeart/2005/8/layout/hList6"/>
    <dgm:cxn modelId="{872BE5D2-4185-DB45-AEF5-756E030C1DED}" srcId="{6B7ADE3E-8E57-D34C-9646-5DE55D005F5A}" destId="{83033804-0C0F-484E-9F8B-29CF9C84354C}" srcOrd="5" destOrd="0" parTransId="{BADA29D4-F655-E747-8202-DC86FED9701B}" sibTransId="{3466CFB1-0EDD-E544-9A23-A81EE567430D}"/>
    <dgm:cxn modelId="{E5D61CED-B97B-7247-A916-DE5C38538457}" type="presParOf" srcId="{16543A37-E258-C04C-B577-83A872101DA6}" destId="{DD51CAA0-63EC-5F44-9DA2-A1CCB69B69C7}" srcOrd="0"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31E0D-D0BE-CB43-B62C-83EFB8F80940}">
      <dsp:nvSpPr>
        <dsp:cNvPr id="0" name=""/>
        <dsp:cNvSpPr/>
      </dsp:nvSpPr>
      <dsp:spPr>
        <a:xfrm>
          <a:off x="2954217" y="1574"/>
          <a:ext cx="2356818" cy="1178409"/>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45720" rIns="68580" bIns="45720" numCol="1" spcCol="1270" anchor="ctr" anchorCtr="0">
          <a:noAutofit/>
        </a:bodyPr>
        <a:lstStyle/>
        <a:p>
          <a:pPr marL="0" lvl="0" indent="0" algn="ctr" defTabSz="1600200" rtl="0">
            <a:lnSpc>
              <a:spcPct val="90000"/>
            </a:lnSpc>
            <a:spcBef>
              <a:spcPct val="0"/>
            </a:spcBef>
            <a:spcAft>
              <a:spcPct val="35000"/>
            </a:spcAft>
            <a:buNone/>
          </a:pPr>
          <a:r>
            <a:rPr lang="en-US" sz="3600" kern="1200" dirty="0"/>
            <a:t>Real memory</a:t>
          </a:r>
        </a:p>
      </dsp:txBody>
      <dsp:txXfrm>
        <a:off x="2988731" y="36088"/>
        <a:ext cx="2287790" cy="1109381"/>
      </dsp:txXfrm>
    </dsp:sp>
    <dsp:sp modelId="{9E617053-E223-AD4D-B846-8B3F09EDFEA2}">
      <dsp:nvSpPr>
        <dsp:cNvPr id="0" name=""/>
        <dsp:cNvSpPr/>
      </dsp:nvSpPr>
      <dsp:spPr>
        <a:xfrm>
          <a:off x="3189899" y="1179983"/>
          <a:ext cx="235681" cy="883807"/>
        </a:xfrm>
        <a:custGeom>
          <a:avLst/>
          <a:gdLst/>
          <a:ahLst/>
          <a:cxnLst/>
          <a:rect l="0" t="0" r="0" b="0"/>
          <a:pathLst>
            <a:path>
              <a:moveTo>
                <a:pt x="0" y="0"/>
              </a:moveTo>
              <a:lnTo>
                <a:pt x="0" y="883807"/>
              </a:lnTo>
              <a:lnTo>
                <a:pt x="235681" y="883807"/>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8BA2A55-C5C8-B047-84A4-F82365A88EC3}">
      <dsp:nvSpPr>
        <dsp:cNvPr id="0" name=""/>
        <dsp:cNvSpPr/>
      </dsp:nvSpPr>
      <dsp:spPr>
        <a:xfrm>
          <a:off x="3425581" y="1474586"/>
          <a:ext cx="1885455" cy="117840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rtl="0">
            <a:lnSpc>
              <a:spcPct val="90000"/>
            </a:lnSpc>
            <a:spcBef>
              <a:spcPct val="0"/>
            </a:spcBef>
            <a:spcAft>
              <a:spcPct val="35000"/>
            </a:spcAft>
            <a:buNone/>
          </a:pPr>
          <a:r>
            <a:rPr lang="en-US" sz="2200" kern="1200" dirty="0"/>
            <a:t>Main memory, the actual RAM</a:t>
          </a:r>
        </a:p>
      </dsp:txBody>
      <dsp:txXfrm>
        <a:off x="3460095" y="1509100"/>
        <a:ext cx="1816427" cy="1109381"/>
      </dsp:txXfrm>
    </dsp:sp>
    <dsp:sp modelId="{017134D0-DFF9-3845-AB67-F92A5FA9DE9B}">
      <dsp:nvSpPr>
        <dsp:cNvPr id="0" name=""/>
        <dsp:cNvSpPr/>
      </dsp:nvSpPr>
      <dsp:spPr>
        <a:xfrm>
          <a:off x="5900240" y="1574"/>
          <a:ext cx="2356818" cy="1178409"/>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45720" rIns="68580" bIns="45720" numCol="1" spcCol="1270" anchor="ctr" anchorCtr="0">
          <a:noAutofit/>
        </a:bodyPr>
        <a:lstStyle/>
        <a:p>
          <a:pPr marL="0" lvl="0" indent="0" algn="ctr" defTabSz="1600200" rtl="0">
            <a:lnSpc>
              <a:spcPct val="90000"/>
            </a:lnSpc>
            <a:spcBef>
              <a:spcPct val="0"/>
            </a:spcBef>
            <a:spcAft>
              <a:spcPct val="35000"/>
            </a:spcAft>
            <a:buNone/>
          </a:pPr>
          <a:r>
            <a:rPr lang="en-US" sz="3600" kern="1200" dirty="0"/>
            <a:t>Virtual memory</a:t>
          </a:r>
        </a:p>
      </dsp:txBody>
      <dsp:txXfrm>
        <a:off x="5934754" y="36088"/>
        <a:ext cx="2287790" cy="1109381"/>
      </dsp:txXfrm>
    </dsp:sp>
    <dsp:sp modelId="{B7AEB84D-AAD8-BA46-B49E-AF151B590E4E}">
      <dsp:nvSpPr>
        <dsp:cNvPr id="0" name=""/>
        <dsp:cNvSpPr/>
      </dsp:nvSpPr>
      <dsp:spPr>
        <a:xfrm>
          <a:off x="6135922" y="1179983"/>
          <a:ext cx="235681" cy="883807"/>
        </a:xfrm>
        <a:custGeom>
          <a:avLst/>
          <a:gdLst/>
          <a:ahLst/>
          <a:cxnLst/>
          <a:rect l="0" t="0" r="0" b="0"/>
          <a:pathLst>
            <a:path>
              <a:moveTo>
                <a:pt x="0" y="0"/>
              </a:moveTo>
              <a:lnTo>
                <a:pt x="0" y="883807"/>
              </a:lnTo>
              <a:lnTo>
                <a:pt x="235681" y="883807"/>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4B37434-F97A-BF4F-95EE-4DB3B66FAF0B}">
      <dsp:nvSpPr>
        <dsp:cNvPr id="0" name=""/>
        <dsp:cNvSpPr/>
      </dsp:nvSpPr>
      <dsp:spPr>
        <a:xfrm>
          <a:off x="6371604" y="1474586"/>
          <a:ext cx="2143404" cy="117840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t>Memory on disk</a:t>
          </a:r>
        </a:p>
      </dsp:txBody>
      <dsp:txXfrm>
        <a:off x="6406118" y="1509100"/>
        <a:ext cx="2074376" cy="1109381"/>
      </dsp:txXfrm>
    </dsp:sp>
    <dsp:sp modelId="{AB53BA07-DF39-3E49-AC02-6A3C4C9B3CB2}">
      <dsp:nvSpPr>
        <dsp:cNvPr id="0" name=""/>
        <dsp:cNvSpPr/>
      </dsp:nvSpPr>
      <dsp:spPr>
        <a:xfrm>
          <a:off x="6135922" y="1179983"/>
          <a:ext cx="235681" cy="2426627"/>
        </a:xfrm>
        <a:custGeom>
          <a:avLst/>
          <a:gdLst/>
          <a:ahLst/>
          <a:cxnLst/>
          <a:rect l="0" t="0" r="0" b="0"/>
          <a:pathLst>
            <a:path>
              <a:moveTo>
                <a:pt x="0" y="0"/>
              </a:moveTo>
              <a:lnTo>
                <a:pt x="0" y="2426627"/>
              </a:lnTo>
              <a:lnTo>
                <a:pt x="235681" y="2426627"/>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EC7D058-138B-5B44-B558-2AD60A3A78E7}">
      <dsp:nvSpPr>
        <dsp:cNvPr id="0" name=""/>
        <dsp:cNvSpPr/>
      </dsp:nvSpPr>
      <dsp:spPr>
        <a:xfrm>
          <a:off x="6371604" y="2947598"/>
          <a:ext cx="2290941" cy="131802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t>Allows for effective multiprogramming and relieves the user of tight constraints of main memory</a:t>
          </a:r>
        </a:p>
      </dsp:txBody>
      <dsp:txXfrm>
        <a:off x="6410208" y="2986202"/>
        <a:ext cx="2213733" cy="12408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C19F38-3CF5-3C43-BEA1-8B8F89394CDE}">
      <dsp:nvSpPr>
        <dsp:cNvPr id="0" name=""/>
        <dsp:cNvSpPr/>
      </dsp:nvSpPr>
      <dsp:spPr>
        <a:xfrm>
          <a:off x="2560442" y="377574"/>
          <a:ext cx="4340119" cy="4340119"/>
        </a:xfrm>
        <a:prstGeom prst="blockArc">
          <a:avLst>
            <a:gd name="adj1" fmla="val 5017"/>
            <a:gd name="adj2" fmla="val 21594983"/>
            <a:gd name="adj3" fmla="val 4639"/>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C5DECD05-97D0-2848-845E-9EF3FF2F3AC3}">
      <dsp:nvSpPr>
        <dsp:cNvPr id="0" name=""/>
        <dsp:cNvSpPr/>
      </dsp:nvSpPr>
      <dsp:spPr>
        <a:xfrm>
          <a:off x="3598806" y="1294443"/>
          <a:ext cx="2454628" cy="2454608"/>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rtl="0">
            <a:lnSpc>
              <a:spcPct val="90000"/>
            </a:lnSpc>
            <a:spcBef>
              <a:spcPct val="0"/>
            </a:spcBef>
            <a:spcAft>
              <a:spcPct val="35000"/>
            </a:spcAft>
            <a:buNone/>
          </a:pPr>
          <a:r>
            <a:rPr lang="en-US" sz="1700" kern="1200" dirty="0"/>
            <a:t>A state in which the system spends most of its time swapping process pieces rather than executing instructions</a:t>
          </a:r>
        </a:p>
      </dsp:txBody>
      <dsp:txXfrm>
        <a:off x="3958278" y="1653912"/>
        <a:ext cx="1735684" cy="1735670"/>
      </dsp:txXfrm>
    </dsp:sp>
    <dsp:sp modelId="{0DE334B6-6615-2A4A-9DE0-59A931F2AE22}">
      <dsp:nvSpPr>
        <dsp:cNvPr id="0" name=""/>
        <dsp:cNvSpPr/>
      </dsp:nvSpPr>
      <dsp:spPr>
        <a:xfrm>
          <a:off x="6528350" y="913402"/>
          <a:ext cx="2836928" cy="2744643"/>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To avoid this, the operating system tries to guess, based on recent history, which pieces are least likely to be used in the near future</a:t>
          </a:r>
        </a:p>
      </dsp:txBody>
      <dsp:txXfrm>
        <a:off x="6943808" y="1315346"/>
        <a:ext cx="2006012" cy="19407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D7E9AD-3FF4-B340-AFEC-D83943AB2430}">
      <dsp:nvSpPr>
        <dsp:cNvPr id="0" name=""/>
        <dsp:cNvSpPr/>
      </dsp:nvSpPr>
      <dsp:spPr>
        <a:xfrm>
          <a:off x="0" y="4274"/>
          <a:ext cx="11132595" cy="112320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277368" tIns="158496" rIns="277368" bIns="158496" numCol="1" spcCol="1270" anchor="ctr" anchorCtr="0">
          <a:noAutofit/>
        </a:bodyPr>
        <a:lstStyle/>
        <a:p>
          <a:pPr marL="0" lvl="0" indent="0" algn="ctr" defTabSz="1733550" rtl="0">
            <a:lnSpc>
              <a:spcPct val="90000"/>
            </a:lnSpc>
            <a:spcBef>
              <a:spcPct val="0"/>
            </a:spcBef>
            <a:spcAft>
              <a:spcPct val="35000"/>
            </a:spcAft>
            <a:buNone/>
          </a:pPr>
          <a:r>
            <a:rPr lang="en-US" sz="3900" kern="1200" dirty="0"/>
            <a:t>For virtual memory to be practical and effective:</a:t>
          </a:r>
        </a:p>
      </dsp:txBody>
      <dsp:txXfrm>
        <a:off x="0" y="4274"/>
        <a:ext cx="11132595" cy="1123200"/>
      </dsp:txXfrm>
    </dsp:sp>
    <dsp:sp modelId="{B46E4BCB-7BAA-C945-A329-7D44D749EC35}">
      <dsp:nvSpPr>
        <dsp:cNvPr id="0" name=""/>
        <dsp:cNvSpPr/>
      </dsp:nvSpPr>
      <dsp:spPr>
        <a:xfrm>
          <a:off x="0" y="1127475"/>
          <a:ext cx="11132595" cy="3211650"/>
        </a:xfrm>
        <a:prstGeom prst="rect">
          <a:avLst/>
        </a:prstGeom>
        <a:solidFill>
          <a:schemeClr val="bg1"/>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8026" tIns="208026" rIns="277368" bIns="312039" numCol="1" spcCol="1270" anchor="t" anchorCtr="0">
          <a:noAutofit/>
        </a:bodyPr>
        <a:lstStyle/>
        <a:p>
          <a:pPr marL="285750" lvl="1" indent="-285750" algn="l" defTabSz="1733550" rtl="0">
            <a:lnSpc>
              <a:spcPct val="90000"/>
            </a:lnSpc>
            <a:spcBef>
              <a:spcPct val="0"/>
            </a:spcBef>
            <a:spcAft>
              <a:spcPct val="15000"/>
            </a:spcAft>
            <a:buChar char="•"/>
          </a:pPr>
          <a:r>
            <a:rPr lang="en-US" sz="3900" kern="1200" dirty="0"/>
            <a:t>Hardware must support paging and segmentation </a:t>
          </a:r>
        </a:p>
        <a:p>
          <a:pPr marL="285750" lvl="1" indent="-285750" algn="l" defTabSz="1733550" rtl="0">
            <a:lnSpc>
              <a:spcPct val="90000"/>
            </a:lnSpc>
            <a:spcBef>
              <a:spcPct val="0"/>
            </a:spcBef>
            <a:spcAft>
              <a:spcPct val="15000"/>
            </a:spcAft>
            <a:buChar char="•"/>
          </a:pPr>
          <a:r>
            <a:rPr lang="en-US" sz="3900" kern="1200" dirty="0"/>
            <a:t>Operating system must include software for managing the movement of pages and/or segments between secondary memory and main memory</a:t>
          </a:r>
        </a:p>
      </dsp:txBody>
      <dsp:txXfrm>
        <a:off x="0" y="1127475"/>
        <a:ext cx="11132595" cy="32116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D7E7A2-94C8-6449-B815-A75A1C804EEF}">
      <dsp:nvSpPr>
        <dsp:cNvPr id="0" name=""/>
        <dsp:cNvSpPr/>
      </dsp:nvSpPr>
      <dsp:spPr>
        <a:xfrm>
          <a:off x="7398" y="120197"/>
          <a:ext cx="2859963" cy="1143985"/>
        </a:xfrm>
        <a:prstGeom prst="chevron">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a:lnSpc>
              <a:spcPct val="90000"/>
            </a:lnSpc>
            <a:spcBef>
              <a:spcPct val="0"/>
            </a:spcBef>
            <a:spcAft>
              <a:spcPct val="35000"/>
            </a:spcAft>
            <a:buNone/>
          </a:pPr>
          <a:r>
            <a:rPr lang="en-US" sz="3100" kern="1200" dirty="0"/>
            <a:t>Page number</a:t>
          </a:r>
        </a:p>
      </dsp:txBody>
      <dsp:txXfrm>
        <a:off x="579391" y="120197"/>
        <a:ext cx="1715978" cy="1143985"/>
      </dsp:txXfrm>
    </dsp:sp>
    <dsp:sp modelId="{EE339B2B-776F-DD41-B17A-16E3F91452EC}">
      <dsp:nvSpPr>
        <dsp:cNvPr id="0" name=""/>
        <dsp:cNvSpPr/>
      </dsp:nvSpPr>
      <dsp:spPr>
        <a:xfrm>
          <a:off x="2651362" y="120197"/>
          <a:ext cx="2859963" cy="1143985"/>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a:lnSpc>
              <a:spcPct val="90000"/>
            </a:lnSpc>
            <a:spcBef>
              <a:spcPct val="0"/>
            </a:spcBef>
            <a:spcAft>
              <a:spcPct val="35000"/>
            </a:spcAft>
            <a:buNone/>
          </a:pPr>
          <a:r>
            <a:rPr lang="en-US" sz="3100" kern="1200" dirty="0"/>
            <a:t>Process identifier</a:t>
          </a:r>
        </a:p>
      </dsp:txBody>
      <dsp:txXfrm>
        <a:off x="3223355" y="120197"/>
        <a:ext cx="1715978" cy="1143985"/>
      </dsp:txXfrm>
    </dsp:sp>
    <dsp:sp modelId="{F277B540-B5D5-CF42-B739-45F4DBE2427C}">
      <dsp:nvSpPr>
        <dsp:cNvPr id="0" name=""/>
        <dsp:cNvSpPr/>
      </dsp:nvSpPr>
      <dsp:spPr>
        <a:xfrm>
          <a:off x="2651362" y="1407180"/>
          <a:ext cx="2287970" cy="2079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85750" lvl="1" indent="-285750" algn="l" defTabSz="1377950">
            <a:lnSpc>
              <a:spcPct val="90000"/>
            </a:lnSpc>
            <a:spcBef>
              <a:spcPct val="0"/>
            </a:spcBef>
            <a:spcAft>
              <a:spcPct val="15000"/>
            </a:spcAft>
            <a:buChar char="•"/>
          </a:pPr>
          <a:r>
            <a:rPr lang="en-NZ" sz="3100" kern="1200" dirty="0"/>
            <a:t>The process that owns this page</a:t>
          </a:r>
        </a:p>
      </dsp:txBody>
      <dsp:txXfrm>
        <a:off x="2651362" y="1407180"/>
        <a:ext cx="2287970" cy="2079421"/>
      </dsp:txXfrm>
    </dsp:sp>
    <dsp:sp modelId="{FA0BD477-E17C-9046-8416-8129B3958C7A}">
      <dsp:nvSpPr>
        <dsp:cNvPr id="0" name=""/>
        <dsp:cNvSpPr/>
      </dsp:nvSpPr>
      <dsp:spPr>
        <a:xfrm>
          <a:off x="5295325" y="120197"/>
          <a:ext cx="2859963" cy="1143985"/>
        </a:xfrm>
        <a:prstGeom prst="chevron">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a:lnSpc>
              <a:spcPct val="90000"/>
            </a:lnSpc>
            <a:spcBef>
              <a:spcPct val="0"/>
            </a:spcBef>
            <a:spcAft>
              <a:spcPct val="35000"/>
            </a:spcAft>
            <a:buNone/>
          </a:pPr>
          <a:r>
            <a:rPr lang="en-US" sz="3100" kern="1200" dirty="0"/>
            <a:t>Control bits</a:t>
          </a:r>
        </a:p>
      </dsp:txBody>
      <dsp:txXfrm>
        <a:off x="5867318" y="120197"/>
        <a:ext cx="1715978" cy="1143985"/>
      </dsp:txXfrm>
    </dsp:sp>
    <dsp:sp modelId="{3744A542-2291-5A41-9CE1-FBAA98039FEC}">
      <dsp:nvSpPr>
        <dsp:cNvPr id="0" name=""/>
        <dsp:cNvSpPr/>
      </dsp:nvSpPr>
      <dsp:spPr>
        <a:xfrm>
          <a:off x="5295325" y="1407180"/>
          <a:ext cx="2287970" cy="2079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85750" lvl="1" indent="-285750" algn="l" defTabSz="1377950">
            <a:lnSpc>
              <a:spcPct val="90000"/>
            </a:lnSpc>
            <a:spcBef>
              <a:spcPct val="0"/>
            </a:spcBef>
            <a:spcAft>
              <a:spcPct val="15000"/>
            </a:spcAft>
            <a:buChar char="•"/>
          </a:pPr>
          <a:r>
            <a:rPr lang="en-NZ" sz="3100" kern="1200" dirty="0"/>
            <a:t>Includes flags and protection and locking information</a:t>
          </a:r>
          <a:endParaRPr lang="en-US" sz="3100" kern="1200" dirty="0"/>
        </a:p>
      </dsp:txBody>
      <dsp:txXfrm>
        <a:off x="5295325" y="1407180"/>
        <a:ext cx="2287970" cy="2079421"/>
      </dsp:txXfrm>
    </dsp:sp>
    <dsp:sp modelId="{4497DCE3-38DE-B342-B75A-262B32B84D6F}">
      <dsp:nvSpPr>
        <dsp:cNvPr id="0" name=""/>
        <dsp:cNvSpPr/>
      </dsp:nvSpPr>
      <dsp:spPr>
        <a:xfrm>
          <a:off x="7939288" y="120197"/>
          <a:ext cx="2859963" cy="1143985"/>
        </a:xfrm>
        <a:prstGeom prst="chevron">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a:lnSpc>
              <a:spcPct val="90000"/>
            </a:lnSpc>
            <a:spcBef>
              <a:spcPct val="0"/>
            </a:spcBef>
            <a:spcAft>
              <a:spcPct val="35000"/>
            </a:spcAft>
            <a:buNone/>
          </a:pPr>
          <a:r>
            <a:rPr lang="en-US" sz="3100" kern="1200"/>
            <a:t>Chain pointer</a:t>
          </a:r>
          <a:endParaRPr lang="en-US" sz="3100" kern="1200" dirty="0"/>
        </a:p>
      </dsp:txBody>
      <dsp:txXfrm>
        <a:off x="8511281" y="120197"/>
        <a:ext cx="1715978" cy="1143985"/>
      </dsp:txXfrm>
    </dsp:sp>
    <dsp:sp modelId="{D3897995-0BC0-F747-93A9-7187BB897C7C}">
      <dsp:nvSpPr>
        <dsp:cNvPr id="0" name=""/>
        <dsp:cNvSpPr/>
      </dsp:nvSpPr>
      <dsp:spPr>
        <a:xfrm>
          <a:off x="7939288" y="1407180"/>
          <a:ext cx="2287970" cy="2079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85750" lvl="1" indent="-285750" algn="l" defTabSz="1377950">
            <a:lnSpc>
              <a:spcPct val="90000"/>
            </a:lnSpc>
            <a:spcBef>
              <a:spcPct val="0"/>
            </a:spcBef>
            <a:spcAft>
              <a:spcPct val="15000"/>
            </a:spcAft>
            <a:buChar char="•"/>
          </a:pPr>
          <a:r>
            <a:rPr lang="en-NZ" sz="3100" kern="1200" dirty="0"/>
            <a:t>The index value of the next entry in the chain</a:t>
          </a:r>
          <a:endParaRPr lang="en-US" sz="3100" kern="1200" dirty="0"/>
        </a:p>
      </dsp:txBody>
      <dsp:txXfrm>
        <a:off x="7939288" y="1407180"/>
        <a:ext cx="2287970" cy="207942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16B99C-4EAC-7F47-8867-A4C76D9F80B9}">
      <dsp:nvSpPr>
        <dsp:cNvPr id="0" name=""/>
        <dsp:cNvSpPr/>
      </dsp:nvSpPr>
      <dsp:spPr>
        <a:xfrm>
          <a:off x="22837" y="934208"/>
          <a:ext cx="3775527" cy="3160782"/>
        </a:xfrm>
        <a:prstGeom prst="roundRect">
          <a:avLst>
            <a:gd name="adj" fmla="val 10000"/>
          </a:avLst>
        </a:prstGeom>
        <a:solidFill>
          <a:schemeClr val="accent4">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In a combined paging/segmentation system a user’s address space is broken up into a number of segments. Each segment is broken up into a number of fixed-sized pages which are equal in length to a main memory frame</a:t>
          </a:r>
        </a:p>
      </dsp:txBody>
      <dsp:txXfrm>
        <a:off x="115413" y="1026784"/>
        <a:ext cx="3590375" cy="2975630"/>
      </dsp:txXfrm>
    </dsp:sp>
    <dsp:sp modelId="{D9DAF0E8-88AE-9D49-97D7-BB2E2BAD5635}">
      <dsp:nvSpPr>
        <dsp:cNvPr id="0" name=""/>
        <dsp:cNvSpPr/>
      </dsp:nvSpPr>
      <dsp:spPr>
        <a:xfrm rot="19892273">
          <a:off x="3701874" y="2102743"/>
          <a:ext cx="1596626" cy="62797"/>
        </a:xfrm>
        <a:custGeom>
          <a:avLst/>
          <a:gdLst/>
          <a:ahLst/>
          <a:cxnLst/>
          <a:rect l="0" t="0" r="0" b="0"/>
          <a:pathLst>
            <a:path>
              <a:moveTo>
                <a:pt x="0" y="31398"/>
              </a:moveTo>
              <a:lnTo>
                <a:pt x="1596626" y="3139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4460272" y="2094226"/>
        <a:ext cx="79831" cy="79831"/>
      </dsp:txXfrm>
    </dsp:sp>
    <dsp:sp modelId="{4877654D-7D28-164B-92B9-382C31F42FCB}">
      <dsp:nvSpPr>
        <dsp:cNvPr id="0" name=""/>
        <dsp:cNvSpPr/>
      </dsp:nvSpPr>
      <dsp:spPr>
        <a:xfrm>
          <a:off x="5202011" y="1136087"/>
          <a:ext cx="3150904" cy="123519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Segmentation is visible to the programmer</a:t>
          </a:r>
        </a:p>
      </dsp:txBody>
      <dsp:txXfrm>
        <a:off x="5238188" y="1172264"/>
        <a:ext cx="3078550" cy="1162836"/>
      </dsp:txXfrm>
    </dsp:sp>
    <dsp:sp modelId="{46DC0573-937E-AD4B-991E-D1C6705C9487}">
      <dsp:nvSpPr>
        <dsp:cNvPr id="0" name=""/>
        <dsp:cNvSpPr/>
      </dsp:nvSpPr>
      <dsp:spPr>
        <a:xfrm rot="1685447">
          <a:off x="3704653" y="2857794"/>
          <a:ext cx="1591070" cy="62797"/>
        </a:xfrm>
        <a:custGeom>
          <a:avLst/>
          <a:gdLst/>
          <a:ahLst/>
          <a:cxnLst/>
          <a:rect l="0" t="0" r="0" b="0"/>
          <a:pathLst>
            <a:path>
              <a:moveTo>
                <a:pt x="0" y="31398"/>
              </a:moveTo>
              <a:lnTo>
                <a:pt x="1591070" y="3139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4460411" y="2849416"/>
        <a:ext cx="79553" cy="79553"/>
      </dsp:txXfrm>
    </dsp:sp>
    <dsp:sp modelId="{EDE292BD-4C6C-2B42-BD10-FDE3CE5FB6C6}">
      <dsp:nvSpPr>
        <dsp:cNvPr id="0" name=""/>
        <dsp:cNvSpPr/>
      </dsp:nvSpPr>
      <dsp:spPr>
        <a:xfrm>
          <a:off x="5202011" y="2634462"/>
          <a:ext cx="3157150" cy="1258649"/>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Paging is transparent to the programmer</a:t>
          </a:r>
        </a:p>
      </dsp:txBody>
      <dsp:txXfrm>
        <a:off x="5238876" y="2671327"/>
        <a:ext cx="3083420" cy="118491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4C350-B66A-6B43-B459-56DA696A90E8}">
      <dsp:nvSpPr>
        <dsp:cNvPr id="0" name=""/>
        <dsp:cNvSpPr/>
      </dsp:nvSpPr>
      <dsp:spPr>
        <a:xfrm>
          <a:off x="0" y="119"/>
          <a:ext cx="11042256" cy="1047721"/>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US" sz="3200" kern="1200" dirty="0"/>
            <a:t>The design of the memory management portion of an operating system depends on three fundamental areas of choice:</a:t>
          </a:r>
        </a:p>
      </dsp:txBody>
      <dsp:txXfrm>
        <a:off x="51146" y="51265"/>
        <a:ext cx="10939964" cy="945429"/>
      </dsp:txXfrm>
    </dsp:sp>
    <dsp:sp modelId="{BB770BBE-6E3E-6C42-A86E-16AF039670AE}">
      <dsp:nvSpPr>
        <dsp:cNvPr id="0" name=""/>
        <dsp:cNvSpPr/>
      </dsp:nvSpPr>
      <dsp:spPr>
        <a:xfrm>
          <a:off x="0" y="1047840"/>
          <a:ext cx="11042256" cy="4057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0592" tIns="35560" rIns="199136" bIns="35560" numCol="1" spcCol="1270" anchor="t" anchorCtr="0">
          <a:noAutofit/>
        </a:bodyPr>
        <a:lstStyle/>
        <a:p>
          <a:pPr marL="285750" lvl="1" indent="-285750" algn="l" defTabSz="1244600" rtl="0">
            <a:lnSpc>
              <a:spcPct val="90000"/>
            </a:lnSpc>
            <a:spcBef>
              <a:spcPct val="0"/>
            </a:spcBef>
            <a:spcAft>
              <a:spcPct val="20000"/>
            </a:spcAft>
            <a:buChar char="•"/>
          </a:pPr>
          <a:endParaRPr lang="en-US" sz="2800" kern="1200" dirty="0"/>
        </a:p>
        <a:p>
          <a:pPr marL="285750" lvl="1" indent="-285750" algn="l" defTabSz="1244600" rtl="0">
            <a:lnSpc>
              <a:spcPct val="90000"/>
            </a:lnSpc>
            <a:spcBef>
              <a:spcPct val="0"/>
            </a:spcBef>
            <a:spcAft>
              <a:spcPct val="20000"/>
            </a:spcAft>
            <a:buChar char="•"/>
          </a:pPr>
          <a:r>
            <a:rPr lang="en-US" sz="2800" kern="1200" dirty="0"/>
            <a:t>Whether or not to use virtual memory techniques</a:t>
          </a:r>
        </a:p>
        <a:p>
          <a:pPr marL="285750" lvl="1" indent="-285750" algn="l" defTabSz="1244600" rtl="0">
            <a:lnSpc>
              <a:spcPct val="90000"/>
            </a:lnSpc>
            <a:spcBef>
              <a:spcPct val="0"/>
            </a:spcBef>
            <a:spcAft>
              <a:spcPct val="20000"/>
            </a:spcAft>
            <a:buChar char="•"/>
          </a:pPr>
          <a:r>
            <a:rPr lang="en-US" sz="2800" kern="1200" dirty="0"/>
            <a:t>The use of paging or segmentation or both</a:t>
          </a:r>
        </a:p>
        <a:p>
          <a:pPr marL="285750" lvl="1" indent="-285750" algn="l" defTabSz="1244600" rtl="0">
            <a:lnSpc>
              <a:spcPct val="90000"/>
            </a:lnSpc>
            <a:spcBef>
              <a:spcPct val="0"/>
            </a:spcBef>
            <a:spcAft>
              <a:spcPct val="20000"/>
            </a:spcAft>
            <a:buChar char="•"/>
          </a:pPr>
          <a:r>
            <a:rPr lang="en-NZ" sz="2800" kern="1200" dirty="0"/>
            <a:t>The algorithms employed for various aspects of memory management</a:t>
          </a:r>
        </a:p>
      </dsp:txBody>
      <dsp:txXfrm>
        <a:off x="0" y="1047840"/>
        <a:ext cx="11042256" cy="405743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D2CDED-EA25-D245-9A3E-EE424E47FA09}">
      <dsp:nvSpPr>
        <dsp:cNvPr id="0" name=""/>
        <dsp:cNvSpPr/>
      </dsp:nvSpPr>
      <dsp:spPr>
        <a:xfrm>
          <a:off x="1867467" y="727"/>
          <a:ext cx="2158090" cy="143872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Two main types:</a:t>
          </a:r>
        </a:p>
      </dsp:txBody>
      <dsp:txXfrm>
        <a:off x="1909606" y="42866"/>
        <a:ext cx="2073812" cy="1354448"/>
      </dsp:txXfrm>
    </dsp:sp>
    <dsp:sp modelId="{7FC00B2B-D0BE-C64D-B097-B67C2E9E9C42}">
      <dsp:nvSpPr>
        <dsp:cNvPr id="0" name=""/>
        <dsp:cNvSpPr/>
      </dsp:nvSpPr>
      <dsp:spPr>
        <a:xfrm>
          <a:off x="1543753" y="1439454"/>
          <a:ext cx="1402758" cy="575490"/>
        </a:xfrm>
        <a:custGeom>
          <a:avLst/>
          <a:gdLst/>
          <a:ahLst/>
          <a:cxnLst/>
          <a:rect l="0" t="0" r="0" b="0"/>
          <a:pathLst>
            <a:path>
              <a:moveTo>
                <a:pt x="1402758" y="0"/>
              </a:moveTo>
              <a:lnTo>
                <a:pt x="1402758" y="287745"/>
              </a:lnTo>
              <a:lnTo>
                <a:pt x="0" y="287745"/>
              </a:lnTo>
              <a:lnTo>
                <a:pt x="0" y="575490"/>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27BAF8F-2698-424F-B03A-2E28D1896C52}">
      <dsp:nvSpPr>
        <dsp:cNvPr id="0" name=""/>
        <dsp:cNvSpPr/>
      </dsp:nvSpPr>
      <dsp:spPr>
        <a:xfrm>
          <a:off x="464708" y="2014945"/>
          <a:ext cx="2158090" cy="143872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Demand Paging </a:t>
          </a:r>
        </a:p>
      </dsp:txBody>
      <dsp:txXfrm>
        <a:off x="506847" y="2057084"/>
        <a:ext cx="2073812" cy="1354448"/>
      </dsp:txXfrm>
    </dsp:sp>
    <dsp:sp modelId="{91D0E1FC-3442-2845-AFA8-8E8BBBCA9554}">
      <dsp:nvSpPr>
        <dsp:cNvPr id="0" name=""/>
        <dsp:cNvSpPr/>
      </dsp:nvSpPr>
      <dsp:spPr>
        <a:xfrm>
          <a:off x="2946512" y="1439454"/>
          <a:ext cx="1402758" cy="575490"/>
        </a:xfrm>
        <a:custGeom>
          <a:avLst/>
          <a:gdLst/>
          <a:ahLst/>
          <a:cxnLst/>
          <a:rect l="0" t="0" r="0" b="0"/>
          <a:pathLst>
            <a:path>
              <a:moveTo>
                <a:pt x="0" y="0"/>
              </a:moveTo>
              <a:lnTo>
                <a:pt x="0" y="287745"/>
              </a:lnTo>
              <a:lnTo>
                <a:pt x="1402758" y="287745"/>
              </a:lnTo>
              <a:lnTo>
                <a:pt x="1402758" y="575490"/>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43A2062-4385-2E48-AA5A-BF53FA94A158}">
      <dsp:nvSpPr>
        <dsp:cNvPr id="0" name=""/>
        <dsp:cNvSpPr/>
      </dsp:nvSpPr>
      <dsp:spPr>
        <a:xfrm>
          <a:off x="3270226" y="2014945"/>
          <a:ext cx="2158090" cy="143872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err="1"/>
            <a:t>Prepaging</a:t>
          </a:r>
          <a:endParaRPr lang="en-US" sz="3200" kern="1200" dirty="0"/>
        </a:p>
      </dsp:txBody>
      <dsp:txXfrm>
        <a:off x="3312365" y="2057084"/>
        <a:ext cx="2073812" cy="135444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FD19C-DD54-B24D-B755-43F907118B14}">
      <dsp:nvSpPr>
        <dsp:cNvPr id="0" name=""/>
        <dsp:cNvSpPr/>
      </dsp:nvSpPr>
      <dsp:spPr>
        <a:xfrm rot="10800000">
          <a:off x="1749128" y="457196"/>
          <a:ext cx="5906684" cy="3352807"/>
        </a:xfrm>
        <a:prstGeom prst="homePlat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04467" tIns="118110" rIns="220472" bIns="118110" numCol="1" spcCol="1270" anchor="t" anchorCtr="0">
          <a:noAutofit/>
        </a:bodyPr>
        <a:lstStyle/>
        <a:p>
          <a:pPr marL="0" lvl="0" indent="0" algn="l" defTabSz="1377950" rtl="0">
            <a:lnSpc>
              <a:spcPct val="90000"/>
            </a:lnSpc>
            <a:spcBef>
              <a:spcPct val="0"/>
            </a:spcBef>
            <a:spcAft>
              <a:spcPct val="35000"/>
            </a:spcAft>
            <a:buNone/>
          </a:pPr>
          <a:r>
            <a:rPr lang="en-US" sz="3100" kern="1200" dirty="0"/>
            <a:t>Algorithms used for the selection of a page to replace:</a:t>
          </a:r>
        </a:p>
        <a:p>
          <a:pPr marL="228600" lvl="1" indent="-228600" algn="l" defTabSz="1066800" rtl="0">
            <a:lnSpc>
              <a:spcPct val="90000"/>
            </a:lnSpc>
            <a:spcBef>
              <a:spcPct val="0"/>
            </a:spcBef>
            <a:spcAft>
              <a:spcPct val="15000"/>
            </a:spcAft>
            <a:buChar char="•"/>
          </a:pPr>
          <a:r>
            <a:rPr lang="en-US" sz="2400" kern="1200" dirty="0"/>
            <a:t>Optimal</a:t>
          </a:r>
        </a:p>
        <a:p>
          <a:pPr marL="228600" lvl="1" indent="-228600" algn="l" defTabSz="1066800" rtl="0">
            <a:lnSpc>
              <a:spcPct val="90000"/>
            </a:lnSpc>
            <a:spcBef>
              <a:spcPct val="0"/>
            </a:spcBef>
            <a:spcAft>
              <a:spcPct val="15000"/>
            </a:spcAft>
            <a:buChar char="•"/>
          </a:pPr>
          <a:r>
            <a:rPr lang="en-US" sz="2400" kern="1200" dirty="0"/>
            <a:t>Least recently used (LRU)</a:t>
          </a:r>
        </a:p>
        <a:p>
          <a:pPr marL="228600" lvl="1" indent="-228600" algn="l" defTabSz="1066800" rtl="0">
            <a:lnSpc>
              <a:spcPct val="90000"/>
            </a:lnSpc>
            <a:spcBef>
              <a:spcPct val="0"/>
            </a:spcBef>
            <a:spcAft>
              <a:spcPct val="15000"/>
            </a:spcAft>
            <a:buChar char="•"/>
          </a:pPr>
          <a:r>
            <a:rPr lang="en-US" sz="2400" kern="1200" dirty="0"/>
            <a:t>First-in-first-out (FIFO)</a:t>
          </a:r>
        </a:p>
        <a:p>
          <a:pPr marL="228600" lvl="1" indent="-228600" algn="l" defTabSz="1066800" rtl="0">
            <a:lnSpc>
              <a:spcPct val="90000"/>
            </a:lnSpc>
            <a:spcBef>
              <a:spcPct val="0"/>
            </a:spcBef>
            <a:spcAft>
              <a:spcPct val="15000"/>
            </a:spcAft>
            <a:buChar char="•"/>
          </a:pPr>
          <a:r>
            <a:rPr lang="en-US" sz="2400" kern="1200" dirty="0"/>
            <a:t>Clock</a:t>
          </a:r>
        </a:p>
      </dsp:txBody>
      <dsp:txXfrm rot="10800000">
        <a:off x="2587330" y="457196"/>
        <a:ext cx="5068482" cy="3352807"/>
      </dsp:txXfrm>
    </dsp:sp>
    <dsp:sp modelId="{30C7C1FC-ABE9-9F49-B497-834E86732140}">
      <dsp:nvSpPr>
        <dsp:cNvPr id="0" name=""/>
        <dsp:cNvSpPr/>
      </dsp:nvSpPr>
      <dsp:spPr>
        <a:xfrm>
          <a:off x="497586" y="685799"/>
          <a:ext cx="2987757" cy="2895600"/>
        </a:xfrm>
        <a:prstGeom prst="ellipse">
          <a:avLst/>
        </a:prstGeom>
        <a:solidFill>
          <a:schemeClr val="accent5">
            <a:lumMod val="75000"/>
          </a:schemeClr>
        </a:solidFill>
        <a:ln>
          <a:noFill/>
        </a:ln>
        <a:effectLst/>
      </dsp:spPr>
      <dsp:style>
        <a:lnRef idx="0">
          <a:scrgbClr r="0" g="0" b="0"/>
        </a:lnRef>
        <a:fillRef idx="1">
          <a:scrgbClr r="0" g="0" b="0"/>
        </a:fillRef>
        <a:effectRef idx="2">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9669F8-0B44-7F4A-BE1E-E4EDB174AE9B}">
      <dsp:nvSpPr>
        <dsp:cNvPr id="0" name=""/>
        <dsp:cNvSpPr/>
      </dsp:nvSpPr>
      <dsp:spPr>
        <a:xfrm>
          <a:off x="4416277" y="2584059"/>
          <a:ext cx="91440" cy="480938"/>
        </a:xfrm>
        <a:custGeom>
          <a:avLst/>
          <a:gdLst/>
          <a:ahLst/>
          <a:cxnLst/>
          <a:rect l="0" t="0" r="0" b="0"/>
          <a:pathLst>
            <a:path>
              <a:moveTo>
                <a:pt x="45720" y="0"/>
              </a:moveTo>
              <a:lnTo>
                <a:pt x="45720" y="480938"/>
              </a:lnTo>
            </a:path>
          </a:pathLst>
        </a:custGeom>
        <a:noFill/>
        <a:ln w="1587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B165121-B4DA-3D41-B59D-340BEFD6B021}">
      <dsp:nvSpPr>
        <dsp:cNvPr id="0" name=""/>
        <dsp:cNvSpPr/>
      </dsp:nvSpPr>
      <dsp:spPr>
        <a:xfrm>
          <a:off x="3451430" y="1053050"/>
          <a:ext cx="1010567" cy="480938"/>
        </a:xfrm>
        <a:custGeom>
          <a:avLst/>
          <a:gdLst/>
          <a:ahLst/>
          <a:cxnLst/>
          <a:rect l="0" t="0" r="0" b="0"/>
          <a:pathLst>
            <a:path>
              <a:moveTo>
                <a:pt x="0" y="0"/>
              </a:moveTo>
              <a:lnTo>
                <a:pt x="0" y="327745"/>
              </a:lnTo>
              <a:lnTo>
                <a:pt x="1010567" y="327745"/>
              </a:lnTo>
              <a:lnTo>
                <a:pt x="1010567" y="48093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3175078-7932-F44A-9E39-84D1EDA4A644}">
      <dsp:nvSpPr>
        <dsp:cNvPr id="0" name=""/>
        <dsp:cNvSpPr/>
      </dsp:nvSpPr>
      <dsp:spPr>
        <a:xfrm>
          <a:off x="2395143" y="2584059"/>
          <a:ext cx="91440" cy="480938"/>
        </a:xfrm>
        <a:custGeom>
          <a:avLst/>
          <a:gdLst/>
          <a:ahLst/>
          <a:cxnLst/>
          <a:rect l="0" t="0" r="0" b="0"/>
          <a:pathLst>
            <a:path>
              <a:moveTo>
                <a:pt x="45720" y="0"/>
              </a:moveTo>
              <a:lnTo>
                <a:pt x="45720" y="480938"/>
              </a:lnTo>
            </a:path>
          </a:pathLst>
        </a:custGeom>
        <a:noFill/>
        <a:ln w="1587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AB3ABC9-CE51-6E46-A582-477033F7909E}">
      <dsp:nvSpPr>
        <dsp:cNvPr id="0" name=""/>
        <dsp:cNvSpPr/>
      </dsp:nvSpPr>
      <dsp:spPr>
        <a:xfrm>
          <a:off x="2440863" y="1053050"/>
          <a:ext cx="1010567" cy="480938"/>
        </a:xfrm>
        <a:custGeom>
          <a:avLst/>
          <a:gdLst/>
          <a:ahLst/>
          <a:cxnLst/>
          <a:rect l="0" t="0" r="0" b="0"/>
          <a:pathLst>
            <a:path>
              <a:moveTo>
                <a:pt x="1010567" y="0"/>
              </a:moveTo>
              <a:lnTo>
                <a:pt x="1010567" y="327745"/>
              </a:lnTo>
              <a:lnTo>
                <a:pt x="0" y="327745"/>
              </a:lnTo>
              <a:lnTo>
                <a:pt x="0" y="48093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9E6A144-BDA8-8445-95FE-B4DEFF1353E5}">
      <dsp:nvSpPr>
        <dsp:cNvPr id="0" name=""/>
        <dsp:cNvSpPr/>
      </dsp:nvSpPr>
      <dsp:spPr>
        <a:xfrm>
          <a:off x="2624602" y="2978"/>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66CF74FE-7C99-B147-94AD-327B0056B130}">
      <dsp:nvSpPr>
        <dsp:cNvPr id="0" name=""/>
        <dsp:cNvSpPr/>
      </dsp:nvSpPr>
      <dsp:spPr>
        <a:xfrm>
          <a:off x="2808342" y="177531"/>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A replaced page is not lost, but rather assigned to one of two lists</a:t>
          </a:r>
        </a:p>
      </dsp:txBody>
      <dsp:txXfrm>
        <a:off x="2839098" y="208287"/>
        <a:ext cx="1592143" cy="988559"/>
      </dsp:txXfrm>
    </dsp:sp>
    <dsp:sp modelId="{28CE6EFF-FA06-4A40-A514-B15AF719A036}">
      <dsp:nvSpPr>
        <dsp:cNvPr id="0" name=""/>
        <dsp:cNvSpPr/>
      </dsp:nvSpPr>
      <dsp:spPr>
        <a:xfrm>
          <a:off x="1614035" y="1533988"/>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36F1355C-6C7A-3F4E-9338-F578F474E3F6}">
      <dsp:nvSpPr>
        <dsp:cNvPr id="0" name=""/>
        <dsp:cNvSpPr/>
      </dsp:nvSpPr>
      <dsp:spPr>
        <a:xfrm>
          <a:off x="1797774" y="1708540"/>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Free page list</a:t>
          </a:r>
          <a:endParaRPr lang="en-US" sz="1500" kern="1200" dirty="0"/>
        </a:p>
      </dsp:txBody>
      <dsp:txXfrm>
        <a:off x="1828530" y="1739296"/>
        <a:ext cx="1592143" cy="988559"/>
      </dsp:txXfrm>
    </dsp:sp>
    <dsp:sp modelId="{61509F13-ECF5-824E-AB0E-238E43561F9B}">
      <dsp:nvSpPr>
        <dsp:cNvPr id="0" name=""/>
        <dsp:cNvSpPr/>
      </dsp:nvSpPr>
      <dsp:spPr>
        <a:xfrm>
          <a:off x="1614035" y="3064997"/>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03C502F8-A858-FC44-9EBA-F09ED388A4F5}">
      <dsp:nvSpPr>
        <dsp:cNvPr id="0" name=""/>
        <dsp:cNvSpPr/>
      </dsp:nvSpPr>
      <dsp:spPr>
        <a:xfrm>
          <a:off x="1797774" y="3239549"/>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List of page frames available for reading in pages</a:t>
          </a:r>
        </a:p>
      </dsp:txBody>
      <dsp:txXfrm>
        <a:off x="1828530" y="3270305"/>
        <a:ext cx="1592143" cy="988559"/>
      </dsp:txXfrm>
    </dsp:sp>
    <dsp:sp modelId="{C014E9E6-13FA-5444-9BC3-3D89E8915179}">
      <dsp:nvSpPr>
        <dsp:cNvPr id="0" name=""/>
        <dsp:cNvSpPr/>
      </dsp:nvSpPr>
      <dsp:spPr>
        <a:xfrm>
          <a:off x="3635169" y="1533988"/>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E7D1A8F5-82B3-3D4D-B2BB-8402CE6DF5DF}">
      <dsp:nvSpPr>
        <dsp:cNvPr id="0" name=""/>
        <dsp:cNvSpPr/>
      </dsp:nvSpPr>
      <dsp:spPr>
        <a:xfrm>
          <a:off x="3818909" y="1708540"/>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Modified page list</a:t>
          </a:r>
          <a:endParaRPr lang="en-US" sz="1500" kern="1200" dirty="0"/>
        </a:p>
      </dsp:txBody>
      <dsp:txXfrm>
        <a:off x="3849665" y="1739296"/>
        <a:ext cx="1592143" cy="988559"/>
      </dsp:txXfrm>
    </dsp:sp>
    <dsp:sp modelId="{9DE444D1-71C7-6D47-8D20-D17B0958CE50}">
      <dsp:nvSpPr>
        <dsp:cNvPr id="0" name=""/>
        <dsp:cNvSpPr/>
      </dsp:nvSpPr>
      <dsp:spPr>
        <a:xfrm>
          <a:off x="3635169" y="3064997"/>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076EFA28-0F84-924A-99EB-2F55769FB300}">
      <dsp:nvSpPr>
        <dsp:cNvPr id="0" name=""/>
        <dsp:cNvSpPr/>
      </dsp:nvSpPr>
      <dsp:spPr>
        <a:xfrm>
          <a:off x="3818909" y="3239549"/>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Pages are written out in clusters </a:t>
          </a:r>
        </a:p>
      </dsp:txBody>
      <dsp:txXfrm>
        <a:off x="3849665" y="3270305"/>
        <a:ext cx="1592143" cy="98855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ABCAFC-DF0A-5549-A2F3-6215A5F91819}">
      <dsp:nvSpPr>
        <dsp:cNvPr id="0" name=""/>
        <dsp:cNvSpPr/>
      </dsp:nvSpPr>
      <dsp:spPr>
        <a:xfrm>
          <a:off x="0" y="1808968"/>
          <a:ext cx="7772400" cy="1186879"/>
        </a:xfrm>
        <a:prstGeom prst="rect">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a:t>Precleaning</a:t>
          </a:r>
          <a:endParaRPr lang="en-US" sz="2300" kern="1200" dirty="0"/>
        </a:p>
      </dsp:txBody>
      <dsp:txXfrm>
        <a:off x="0" y="1808968"/>
        <a:ext cx="7772400" cy="640914"/>
      </dsp:txXfrm>
    </dsp:sp>
    <dsp:sp modelId="{018DC2B8-76E2-0D4E-ADFB-FC2DFEC19ABD}">
      <dsp:nvSpPr>
        <dsp:cNvPr id="0" name=""/>
        <dsp:cNvSpPr/>
      </dsp:nvSpPr>
      <dsp:spPr>
        <a:xfrm>
          <a:off x="0" y="2426146"/>
          <a:ext cx="7772400" cy="545964"/>
        </a:xfrm>
        <a:prstGeom prst="rect">
          <a:avLst/>
        </a:prstGeom>
        <a:solidFill>
          <a:schemeClr val="accent1">
            <a:alpha val="90000"/>
            <a:tint val="40000"/>
            <a:hueOff val="0"/>
            <a:satOff val="0"/>
            <a:lumOff val="0"/>
            <a:alphaOff val="0"/>
          </a:schemeClr>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t>Allows the writing of pages in batches</a:t>
          </a:r>
        </a:p>
      </dsp:txBody>
      <dsp:txXfrm>
        <a:off x="0" y="2426146"/>
        <a:ext cx="7772400" cy="545964"/>
      </dsp:txXfrm>
    </dsp:sp>
    <dsp:sp modelId="{07D657C2-6456-3E4C-98E3-58A8B5462A1D}">
      <dsp:nvSpPr>
        <dsp:cNvPr id="0" name=""/>
        <dsp:cNvSpPr/>
      </dsp:nvSpPr>
      <dsp:spPr>
        <a:xfrm rot="10800000">
          <a:off x="0" y="1351"/>
          <a:ext cx="7772400" cy="1825420"/>
        </a:xfrm>
        <a:prstGeom prst="upArrowCallout">
          <a:avLst/>
        </a:prstGeom>
        <a:solidFill>
          <a:schemeClr val="accent6">
            <a:lumMod val="75000"/>
          </a:schemeClr>
        </a:solidFill>
        <a:ln>
          <a:solidFill>
            <a:schemeClr val="accent6">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Demand Cleaning</a:t>
          </a:r>
        </a:p>
      </dsp:txBody>
      <dsp:txXfrm rot="-10800000">
        <a:off x="0" y="1351"/>
        <a:ext cx="7772400" cy="640722"/>
      </dsp:txXfrm>
    </dsp:sp>
    <dsp:sp modelId="{D77A17F0-FD24-804F-B9BA-B89549FA1E9B}">
      <dsp:nvSpPr>
        <dsp:cNvPr id="0" name=""/>
        <dsp:cNvSpPr/>
      </dsp:nvSpPr>
      <dsp:spPr>
        <a:xfrm>
          <a:off x="0" y="642074"/>
          <a:ext cx="7772400" cy="545800"/>
        </a:xfrm>
        <a:prstGeom prst="rect">
          <a:avLst/>
        </a:prstGeom>
        <a:solidFill>
          <a:schemeClr val="accent1">
            <a:alpha val="90000"/>
            <a:tint val="40000"/>
            <a:hueOff val="0"/>
            <a:satOff val="0"/>
            <a:lumOff val="0"/>
            <a:alphaOff val="0"/>
          </a:schemeClr>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t>A page is written out to secondary memory only when it has been selected for replacement</a:t>
          </a:r>
        </a:p>
      </dsp:txBody>
      <dsp:txXfrm>
        <a:off x="0" y="642074"/>
        <a:ext cx="7772400" cy="5458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51CAA0-63EC-5F44-9DA2-A1CCB69B69C7}">
      <dsp:nvSpPr>
        <dsp:cNvPr id="0" name=""/>
        <dsp:cNvSpPr/>
      </dsp:nvSpPr>
      <dsp:spPr>
        <a:xfrm rot="16200000">
          <a:off x="1016000" y="-1016000"/>
          <a:ext cx="3530600" cy="5562600"/>
        </a:xfrm>
        <a:prstGeom prst="flowChartManualOperati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0" tIns="0" rIns="138906" bIns="0" numCol="1" spcCol="1270" anchor="t" anchorCtr="0">
          <a:noAutofit/>
        </a:bodyPr>
        <a:lstStyle/>
        <a:p>
          <a:pPr marL="0" lvl="0" indent="0" algn="l" defTabSz="977900">
            <a:lnSpc>
              <a:spcPct val="90000"/>
            </a:lnSpc>
            <a:spcBef>
              <a:spcPct val="0"/>
            </a:spcBef>
            <a:spcAft>
              <a:spcPct val="35000"/>
            </a:spcAft>
            <a:buNone/>
          </a:pPr>
          <a:r>
            <a:rPr lang="en-NZ" sz="2200" kern="1200" dirty="0"/>
            <a:t>Six possibilities exist:</a:t>
          </a:r>
          <a:endParaRPr lang="en-US" sz="2200" kern="1200" dirty="0"/>
        </a:p>
        <a:p>
          <a:pPr marL="171450" lvl="1" indent="-171450" algn="l" defTabSz="755650">
            <a:lnSpc>
              <a:spcPct val="90000"/>
            </a:lnSpc>
            <a:spcBef>
              <a:spcPct val="0"/>
            </a:spcBef>
            <a:spcAft>
              <a:spcPct val="15000"/>
            </a:spcAft>
            <a:buChar char="•"/>
          </a:pPr>
          <a:r>
            <a:rPr lang="en-NZ" sz="1700" kern="1200" dirty="0"/>
            <a:t>Lowest-priority process</a:t>
          </a:r>
        </a:p>
        <a:p>
          <a:pPr marL="171450" lvl="1" indent="-171450" algn="l" defTabSz="755650">
            <a:lnSpc>
              <a:spcPct val="90000"/>
            </a:lnSpc>
            <a:spcBef>
              <a:spcPct val="0"/>
            </a:spcBef>
            <a:spcAft>
              <a:spcPct val="15000"/>
            </a:spcAft>
            <a:buChar char="•"/>
          </a:pPr>
          <a:r>
            <a:rPr lang="en-NZ" sz="1700" kern="1200" dirty="0"/>
            <a:t>Faulting process</a:t>
          </a:r>
        </a:p>
        <a:p>
          <a:pPr marL="171450" lvl="1" indent="-171450" algn="l" defTabSz="755650">
            <a:lnSpc>
              <a:spcPct val="90000"/>
            </a:lnSpc>
            <a:spcBef>
              <a:spcPct val="0"/>
            </a:spcBef>
            <a:spcAft>
              <a:spcPct val="15000"/>
            </a:spcAft>
            <a:buChar char="•"/>
          </a:pPr>
          <a:r>
            <a:rPr lang="en-NZ" sz="1700" kern="1200" dirty="0"/>
            <a:t>Last process activated</a:t>
          </a:r>
        </a:p>
        <a:p>
          <a:pPr marL="171450" lvl="1" indent="-171450" algn="l" defTabSz="755650">
            <a:lnSpc>
              <a:spcPct val="90000"/>
            </a:lnSpc>
            <a:spcBef>
              <a:spcPct val="0"/>
            </a:spcBef>
            <a:spcAft>
              <a:spcPct val="15000"/>
            </a:spcAft>
            <a:buChar char="•"/>
          </a:pPr>
          <a:r>
            <a:rPr lang="en-NZ" sz="1700" kern="1200" dirty="0"/>
            <a:t>Process with the smallest resident set</a:t>
          </a:r>
        </a:p>
        <a:p>
          <a:pPr marL="171450" lvl="1" indent="-171450" algn="l" defTabSz="755650">
            <a:lnSpc>
              <a:spcPct val="90000"/>
            </a:lnSpc>
            <a:spcBef>
              <a:spcPct val="0"/>
            </a:spcBef>
            <a:spcAft>
              <a:spcPct val="15000"/>
            </a:spcAft>
            <a:buChar char="•"/>
          </a:pPr>
          <a:r>
            <a:rPr lang="en-NZ" sz="1700" kern="1200" dirty="0"/>
            <a:t>Largest process</a:t>
          </a:r>
        </a:p>
        <a:p>
          <a:pPr marL="171450" lvl="1" indent="-171450" algn="l" defTabSz="755650">
            <a:lnSpc>
              <a:spcPct val="90000"/>
            </a:lnSpc>
            <a:spcBef>
              <a:spcPct val="0"/>
            </a:spcBef>
            <a:spcAft>
              <a:spcPct val="15000"/>
            </a:spcAft>
            <a:buChar char="•"/>
          </a:pPr>
          <a:r>
            <a:rPr lang="en-NZ" sz="1700" kern="1200" dirty="0"/>
            <a:t>Process with the largest remaining execution window</a:t>
          </a:r>
        </a:p>
      </dsp:txBody>
      <dsp:txXfrm rot="5400000">
        <a:off x="0" y="706120"/>
        <a:ext cx="5562600" cy="211836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527F61D-6AF2-EC4D-BA2A-C4497BB79593}" type="datetimeFigureOut">
              <a:rPr lang="en-US" smtClean="0"/>
              <a:pPr/>
              <a:t>1/24/2024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CB5FFDE-1A7B-ED48-B88B-494BD77EC864}" type="slidenum">
              <a:rPr lang="en-US" smtClean="0"/>
              <a:pPr/>
              <a:t>‹#›</a:t>
            </a:fld>
            <a:endParaRPr lang="en-US"/>
          </a:p>
        </p:txBody>
      </p:sp>
    </p:spTree>
    <p:extLst>
      <p:ext uri="{BB962C8B-B14F-4D97-AF65-F5344CB8AC3E}">
        <p14:creationId xmlns:p14="http://schemas.microsoft.com/office/powerpoint/2010/main" val="11665636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1/24/2024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37370374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9/e, by William Stallings, Chapter 8 “</a:t>
            </a:r>
            <a:r>
              <a:rPr kumimoji="1" lang="en-GB" dirty="0">
                <a:latin typeface="Times New Roman" pitchFamily="-106" charset="0"/>
                <a:ea typeface="ＭＳ Ｐゴシック" pitchFamily="-106" charset="-128"/>
                <a:cs typeface="ＭＳ Ｐゴシック" pitchFamily="-106" charset="-128"/>
              </a:rPr>
              <a:t>Virtual</a:t>
            </a:r>
            <a:r>
              <a:rPr kumimoji="1" lang="en-GB" baseline="0" dirty="0">
                <a:latin typeface="Times New Roman" pitchFamily="-106" charset="0"/>
                <a:ea typeface="ＭＳ Ｐゴシック" pitchFamily="-106" charset="-128"/>
                <a:cs typeface="ＭＳ Ｐゴシック" pitchFamily="-106" charset="-128"/>
              </a:rPr>
              <a:t> Memory</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extLst>
      <p:ext uri="{BB962C8B-B14F-4D97-AF65-F5344CB8AC3E}">
        <p14:creationId xmlns:p14="http://schemas.microsoft.com/office/powerpoint/2010/main" val="638936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8.1 defines some key terms related to virtual memory.</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extLst>
      <p:ext uri="{BB962C8B-B14F-4D97-AF65-F5344CB8AC3E}">
        <p14:creationId xmlns:p14="http://schemas.microsoft.com/office/powerpoint/2010/main" val="3919972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r>
              <a:rPr lang="en-US" sz="1200" b="0" kern="1200" baseline="0" dirty="0">
                <a:solidFill>
                  <a:schemeClr val="tx1"/>
                </a:solidFill>
                <a:latin typeface="+mn-lt"/>
                <a:ea typeface="+mn-ea"/>
                <a:cs typeface="+mn-cs"/>
              </a:rPr>
              <a:t>Comparing simple paging and simple segmentation, on the one hand, with fixed and</a:t>
            </a:r>
          </a:p>
          <a:p>
            <a:r>
              <a:rPr lang="en-US" sz="1200" b="0" kern="1200" baseline="0" dirty="0">
                <a:solidFill>
                  <a:schemeClr val="tx1"/>
                </a:solidFill>
                <a:latin typeface="+mn-lt"/>
                <a:ea typeface="+mn-ea"/>
                <a:cs typeface="+mn-cs"/>
              </a:rPr>
              <a:t>dynamic partitioning, on the other, we see the foundation for a fundamental breakthrough</a:t>
            </a:r>
          </a:p>
          <a:p>
            <a:r>
              <a:rPr lang="en-US" sz="1200" b="0" kern="1200" baseline="0" dirty="0">
                <a:solidFill>
                  <a:schemeClr val="tx1"/>
                </a:solidFill>
                <a:latin typeface="+mn-lt"/>
                <a:ea typeface="+mn-ea"/>
                <a:cs typeface="+mn-cs"/>
              </a:rPr>
              <a:t>in memory management. Two characteristics of paging and segmentation</a:t>
            </a:r>
          </a:p>
          <a:p>
            <a:r>
              <a:rPr lang="en-US" sz="1200" b="0" kern="1200" baseline="0" dirty="0">
                <a:solidFill>
                  <a:schemeClr val="tx1"/>
                </a:solidFill>
                <a:latin typeface="+mn-lt"/>
                <a:ea typeface="+mn-ea"/>
                <a:cs typeface="+mn-cs"/>
              </a:rPr>
              <a:t>are the keys to this breakthrough:</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All memory references within a process are logical addresses that are dynamically</a:t>
            </a:r>
          </a:p>
          <a:p>
            <a:r>
              <a:rPr lang="en-US" sz="1200" b="0" kern="1200" baseline="0" dirty="0">
                <a:solidFill>
                  <a:schemeClr val="tx1"/>
                </a:solidFill>
                <a:latin typeface="+mn-lt"/>
                <a:ea typeface="+mn-ea"/>
                <a:cs typeface="+mn-cs"/>
              </a:rPr>
              <a:t>translated into physical addresses at run time.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This means that a process may be swapped in and out of main memory such that it occupies different</a:t>
            </a:r>
          </a:p>
          <a:p>
            <a:r>
              <a:rPr lang="en-US" sz="1200" b="0" kern="1200" baseline="0" dirty="0">
                <a:solidFill>
                  <a:schemeClr val="tx1"/>
                </a:solidFill>
                <a:latin typeface="+mn-lt"/>
                <a:ea typeface="+mn-ea"/>
                <a:cs typeface="+mn-cs"/>
              </a:rPr>
              <a:t>regions of main memory at different times during the course of execution.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A process may be broken up into a number of pieces (pages or segments) and</a:t>
            </a:r>
          </a:p>
          <a:p>
            <a:r>
              <a:rPr lang="en-US" sz="1200" b="0" kern="1200" baseline="0" dirty="0">
                <a:solidFill>
                  <a:schemeClr val="tx1"/>
                </a:solidFill>
                <a:latin typeface="+mn-lt"/>
                <a:ea typeface="+mn-ea"/>
                <a:cs typeface="+mn-cs"/>
              </a:rPr>
              <a:t>these pieces need not be contiguously located in main memory during execution.</a:t>
            </a:r>
          </a:p>
          <a:p>
            <a:endParaRPr lang="en-US" sz="1200" b="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The combination of dynamic run-time address translation and the use of</a:t>
            </a:r>
          </a:p>
          <a:p>
            <a:r>
              <a:rPr lang="en-US" sz="1200" b="1" kern="1200" baseline="0" dirty="0">
                <a:solidFill>
                  <a:schemeClr val="tx1"/>
                </a:solidFill>
                <a:latin typeface="+mn-lt"/>
                <a:ea typeface="+mn-ea"/>
                <a:cs typeface="+mn-cs"/>
              </a:rPr>
              <a:t>a page or segment table permits this.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Now we come to the breakthrough. </a:t>
            </a:r>
            <a:r>
              <a:rPr lang="en-US" sz="1200" b="0" i="1" kern="1200" baseline="0" dirty="0">
                <a:solidFill>
                  <a:schemeClr val="tx1"/>
                </a:solidFill>
                <a:latin typeface="+mn-lt"/>
                <a:ea typeface="+mn-ea"/>
                <a:cs typeface="+mn-cs"/>
              </a:rPr>
              <a:t>If the preceding two characteristics are</a:t>
            </a:r>
          </a:p>
          <a:p>
            <a:r>
              <a:rPr lang="en-US" sz="1200" b="0" i="1" kern="1200" baseline="0" dirty="0">
                <a:solidFill>
                  <a:schemeClr val="tx1"/>
                </a:solidFill>
                <a:latin typeface="+mn-lt"/>
                <a:ea typeface="+mn-ea"/>
                <a:cs typeface="+mn-cs"/>
              </a:rPr>
              <a:t>present, then it is not necessary that all of the pages or all of the segments of a process</a:t>
            </a:r>
          </a:p>
          <a:p>
            <a:r>
              <a:rPr lang="en-US" sz="1200" b="0" i="1" kern="1200" baseline="0" dirty="0">
                <a:solidFill>
                  <a:schemeClr val="tx1"/>
                </a:solidFill>
                <a:latin typeface="+mn-lt"/>
                <a:ea typeface="+mn-ea"/>
                <a:cs typeface="+mn-cs"/>
              </a:rPr>
              <a:t>be in main memory during execution. </a:t>
            </a:r>
          </a:p>
          <a:p>
            <a:endParaRPr lang="en-US" sz="1200" b="0" i="1" kern="1200" baseline="0" dirty="0">
              <a:solidFill>
                <a:schemeClr val="tx1"/>
              </a:solidFill>
              <a:latin typeface="+mn-lt"/>
              <a:ea typeface="+mn-ea"/>
              <a:cs typeface="+mn-cs"/>
            </a:endParaRPr>
          </a:p>
          <a:p>
            <a:r>
              <a:rPr lang="en-US" sz="1200" b="0" i="1" kern="1200" baseline="0" dirty="0">
                <a:solidFill>
                  <a:schemeClr val="tx1"/>
                </a:solidFill>
                <a:latin typeface="+mn-lt"/>
                <a:ea typeface="+mn-ea"/>
                <a:cs typeface="+mn-cs"/>
              </a:rPr>
              <a:t>If the piece (segment or page) that holds the</a:t>
            </a:r>
          </a:p>
          <a:p>
            <a:r>
              <a:rPr lang="en-US" sz="1200" b="0" kern="1200" baseline="0" dirty="0">
                <a:solidFill>
                  <a:schemeClr val="tx1"/>
                </a:solidFill>
                <a:latin typeface="+mn-lt"/>
                <a:ea typeface="+mn-ea"/>
                <a:cs typeface="+mn-cs"/>
              </a:rPr>
              <a:t>next instruction to be fetched and the piece that holds the next data location to be</a:t>
            </a:r>
          </a:p>
          <a:p>
            <a:r>
              <a:rPr lang="en-US" sz="1200" b="0" kern="1200" baseline="0" dirty="0">
                <a:solidFill>
                  <a:schemeClr val="tx1"/>
                </a:solidFill>
                <a:latin typeface="+mn-lt"/>
                <a:ea typeface="+mn-ea"/>
                <a:cs typeface="+mn-cs"/>
              </a:rPr>
              <a:t>accessed are in main memory, then at least for a time execution may proceed.</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extLst>
      <p:ext uri="{BB962C8B-B14F-4D97-AF65-F5344CB8AC3E}">
        <p14:creationId xmlns:p14="http://schemas.microsoft.com/office/powerpoint/2010/main" val="615647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For now, we can talk in general</a:t>
            </a:r>
          </a:p>
          <a:p>
            <a:r>
              <a:rPr lang="en-US" sz="1200" kern="1200" baseline="0" dirty="0">
                <a:solidFill>
                  <a:schemeClr val="tx1"/>
                </a:solidFill>
                <a:latin typeface="+mn-lt"/>
                <a:ea typeface="+mn-ea"/>
                <a:cs typeface="+mn-cs"/>
              </a:rPr>
              <a:t>terms, and we will use the </a:t>
            </a:r>
            <a:r>
              <a:rPr lang="en-US" sz="1200" b="1" kern="1200" baseline="0" dirty="0">
                <a:solidFill>
                  <a:schemeClr val="tx1"/>
                </a:solidFill>
                <a:latin typeface="+mn-lt"/>
                <a:ea typeface="+mn-ea"/>
                <a:cs typeface="+mn-cs"/>
              </a:rPr>
              <a:t>term </a:t>
            </a:r>
            <a:r>
              <a:rPr lang="en-US" sz="1200" b="1" i="1" kern="1200" baseline="0" dirty="0">
                <a:solidFill>
                  <a:schemeClr val="tx1"/>
                </a:solidFill>
                <a:latin typeface="+mn-lt"/>
                <a:ea typeface="+mn-ea"/>
                <a:cs typeface="+mn-cs"/>
              </a:rPr>
              <a:t>piece to refer to either page or segment</a:t>
            </a:r>
            <a:r>
              <a:rPr lang="en-US" sz="1200" i="1" kern="1200" baseline="0" dirty="0">
                <a:solidFill>
                  <a:schemeClr val="tx1"/>
                </a:solidFill>
                <a:latin typeface="+mn-lt"/>
                <a:ea typeface="+mn-ea"/>
                <a:cs typeface="+mn-cs"/>
              </a:rPr>
              <a:t>, depending</a:t>
            </a:r>
          </a:p>
          <a:p>
            <a:r>
              <a:rPr lang="en-US" sz="1200" kern="1200" baseline="0" dirty="0">
                <a:solidFill>
                  <a:schemeClr val="tx1"/>
                </a:solidFill>
                <a:latin typeface="+mn-lt"/>
                <a:ea typeface="+mn-ea"/>
                <a:cs typeface="+mn-cs"/>
              </a:rPr>
              <a:t>on whether paging or segmentation is employed.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Suppose that it is time to bring a</a:t>
            </a:r>
          </a:p>
          <a:p>
            <a:r>
              <a:rPr lang="en-US" sz="1200" kern="1200" baseline="0" dirty="0">
                <a:solidFill>
                  <a:schemeClr val="tx1"/>
                </a:solidFill>
                <a:latin typeface="+mn-lt"/>
                <a:ea typeface="+mn-ea"/>
                <a:cs typeface="+mn-cs"/>
              </a:rPr>
              <a:t>new process into memory. The operating system begins by bringing in only one or</a:t>
            </a:r>
          </a:p>
          <a:p>
            <a:r>
              <a:rPr lang="en-US" sz="1200" kern="1200" baseline="0" dirty="0">
                <a:solidFill>
                  <a:schemeClr val="tx1"/>
                </a:solidFill>
                <a:latin typeface="+mn-lt"/>
                <a:ea typeface="+mn-ea"/>
                <a:cs typeface="+mn-cs"/>
              </a:rPr>
              <a:t>a few pieces, to include the </a:t>
            </a:r>
            <a:r>
              <a:rPr lang="en-US" sz="1200" b="1" kern="1200" baseline="0" dirty="0">
                <a:solidFill>
                  <a:schemeClr val="tx1"/>
                </a:solidFill>
                <a:latin typeface="+mn-lt"/>
                <a:ea typeface="+mn-ea"/>
                <a:cs typeface="+mn-cs"/>
              </a:rPr>
              <a:t>initial program piece and the initial data piece </a:t>
            </a:r>
            <a:r>
              <a:rPr lang="en-US" sz="1200" kern="1200" baseline="0" dirty="0">
                <a:solidFill>
                  <a:schemeClr val="tx1"/>
                </a:solidFill>
                <a:latin typeface="+mn-lt"/>
                <a:ea typeface="+mn-ea"/>
                <a:cs typeface="+mn-cs"/>
              </a:rPr>
              <a:t>to which</a:t>
            </a:r>
          </a:p>
          <a:p>
            <a:r>
              <a:rPr lang="en-US" sz="1200" kern="1200" baseline="0" dirty="0">
                <a:solidFill>
                  <a:schemeClr val="tx1"/>
                </a:solidFill>
                <a:latin typeface="+mn-lt"/>
                <a:ea typeface="+mn-ea"/>
                <a:cs typeface="+mn-cs"/>
              </a:rPr>
              <a:t>those instructions refer.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portion of a process that is actually in main memory</a:t>
            </a:r>
          </a:p>
          <a:p>
            <a:r>
              <a:rPr lang="en-US" sz="1200" kern="1200" baseline="0" dirty="0">
                <a:solidFill>
                  <a:schemeClr val="tx1"/>
                </a:solidFill>
                <a:latin typeface="+mn-lt"/>
                <a:ea typeface="+mn-ea"/>
                <a:cs typeface="+mn-cs"/>
              </a:rPr>
              <a:t>at any time is defined to be the </a:t>
            </a:r>
            <a:r>
              <a:rPr lang="en-US" sz="1200" b="1" kern="1200" baseline="0" dirty="0">
                <a:solidFill>
                  <a:schemeClr val="tx1"/>
                </a:solidFill>
                <a:latin typeface="+mn-lt"/>
                <a:ea typeface="+mn-ea"/>
                <a:cs typeface="+mn-cs"/>
              </a:rPr>
              <a:t>resident set</a:t>
            </a:r>
            <a:r>
              <a:rPr lang="en-US" sz="1200" b="0" kern="1200" baseline="0" dirty="0">
                <a:solidFill>
                  <a:schemeClr val="tx1"/>
                </a:solidFill>
                <a:latin typeface="+mn-lt"/>
                <a:ea typeface="+mn-ea"/>
                <a:cs typeface="+mn-cs"/>
              </a:rPr>
              <a:t> of the process.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As the process executes,</a:t>
            </a:r>
          </a:p>
          <a:p>
            <a:r>
              <a:rPr lang="en-US" sz="1200" kern="1200" baseline="0" dirty="0">
                <a:solidFill>
                  <a:schemeClr val="tx1"/>
                </a:solidFill>
                <a:latin typeface="+mn-lt"/>
                <a:ea typeface="+mn-ea"/>
                <a:cs typeface="+mn-cs"/>
              </a:rPr>
              <a:t>things proceed smoothly as long as all memory references are to locations that are</a:t>
            </a:r>
          </a:p>
          <a:p>
            <a:r>
              <a:rPr lang="en-US" sz="1200" kern="1200" baseline="0" dirty="0">
                <a:solidFill>
                  <a:schemeClr val="tx1"/>
                </a:solidFill>
                <a:latin typeface="+mn-lt"/>
                <a:ea typeface="+mn-ea"/>
                <a:cs typeface="+mn-cs"/>
              </a:rPr>
              <a:t>in the resident set. Using the segment or page table, the processor always is able to</a:t>
            </a:r>
          </a:p>
          <a:p>
            <a:r>
              <a:rPr lang="en-US" sz="1200" kern="1200" baseline="0" dirty="0">
                <a:solidFill>
                  <a:schemeClr val="tx1"/>
                </a:solidFill>
                <a:latin typeface="+mn-lt"/>
                <a:ea typeface="+mn-ea"/>
                <a:cs typeface="+mn-cs"/>
              </a:rPr>
              <a:t>determine whether this is so.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If the processor encounters a logical address that is</a:t>
            </a:r>
          </a:p>
          <a:p>
            <a:r>
              <a:rPr lang="en-US" sz="1200" kern="1200" baseline="0" dirty="0">
                <a:solidFill>
                  <a:schemeClr val="tx1"/>
                </a:solidFill>
                <a:latin typeface="+mn-lt"/>
                <a:ea typeface="+mn-ea"/>
                <a:cs typeface="+mn-cs"/>
              </a:rPr>
              <a:t>not in main memory, it generates an interrupt indicating a </a:t>
            </a:r>
            <a:r>
              <a:rPr lang="en-US" sz="1200" b="1" kern="1200" baseline="0" dirty="0">
                <a:solidFill>
                  <a:schemeClr val="tx1"/>
                </a:solidFill>
                <a:latin typeface="+mn-lt"/>
                <a:ea typeface="+mn-ea"/>
                <a:cs typeface="+mn-cs"/>
              </a:rPr>
              <a:t>memory access fault</a:t>
            </a:r>
            <a:r>
              <a:rPr lang="en-US" sz="1200" kern="1200" baseline="0" dirty="0">
                <a:solidFill>
                  <a:schemeClr val="tx1"/>
                </a:solidFill>
                <a:latin typeface="+mn-lt"/>
                <a:ea typeface="+mn-ea"/>
                <a:cs typeface="+mn-cs"/>
              </a:rPr>
              <a:t>. The</a:t>
            </a:r>
          </a:p>
          <a:p>
            <a:r>
              <a:rPr lang="en-US" sz="1200" kern="1200" baseline="0" dirty="0">
                <a:solidFill>
                  <a:schemeClr val="tx1"/>
                </a:solidFill>
                <a:latin typeface="+mn-lt"/>
                <a:ea typeface="+mn-ea"/>
                <a:cs typeface="+mn-cs"/>
              </a:rPr>
              <a:t>operating system puts the interrupted process in a blocking state.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extLst>
      <p:ext uri="{BB962C8B-B14F-4D97-AF65-F5344CB8AC3E}">
        <p14:creationId xmlns:p14="http://schemas.microsoft.com/office/powerpoint/2010/main" val="1509768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For the execution of this process to proceed later, the operating system will need to</a:t>
            </a:r>
          </a:p>
          <a:p>
            <a:r>
              <a:rPr lang="en-US" sz="1200" kern="1200" baseline="0" dirty="0">
                <a:solidFill>
                  <a:schemeClr val="tx1"/>
                </a:solidFill>
                <a:latin typeface="+mn-lt"/>
                <a:ea typeface="+mn-ea"/>
                <a:cs typeface="+mn-cs"/>
              </a:rPr>
              <a:t>bring into main memory the piece of the process that contains the logical address</a:t>
            </a:r>
          </a:p>
          <a:p>
            <a:r>
              <a:rPr lang="en-US" sz="1200" kern="1200" baseline="0" dirty="0">
                <a:solidFill>
                  <a:schemeClr val="tx1"/>
                </a:solidFill>
                <a:latin typeface="+mn-lt"/>
                <a:ea typeface="+mn-ea"/>
                <a:cs typeface="+mn-cs"/>
              </a:rPr>
              <a:t>that caused the </a:t>
            </a:r>
            <a:r>
              <a:rPr lang="en-US" sz="1200" b="1" kern="1200" baseline="0" dirty="0">
                <a:solidFill>
                  <a:schemeClr val="tx1"/>
                </a:solidFill>
                <a:latin typeface="+mn-lt"/>
                <a:ea typeface="+mn-ea"/>
                <a:cs typeface="+mn-cs"/>
              </a:rPr>
              <a:t>access fault</a:t>
            </a:r>
            <a:r>
              <a:rPr lang="en-US" sz="1200" kern="1200" baseline="0" dirty="0">
                <a:solidFill>
                  <a:schemeClr val="tx1"/>
                </a:solidFill>
                <a:latin typeface="+mn-lt"/>
                <a:ea typeface="+mn-ea"/>
                <a:cs typeface="+mn-cs"/>
              </a:rPr>
              <a: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this purpose, the operating system issues a disk I/O</a:t>
            </a:r>
          </a:p>
          <a:p>
            <a:r>
              <a:rPr lang="en-US" sz="1200" kern="1200" baseline="0" dirty="0">
                <a:solidFill>
                  <a:schemeClr val="tx1"/>
                </a:solidFill>
                <a:latin typeface="+mn-lt"/>
                <a:ea typeface="+mn-ea"/>
                <a:cs typeface="+mn-cs"/>
              </a:rPr>
              <a:t>read request.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After the I/O request has been issued, the operating system can dispatch</a:t>
            </a:r>
          </a:p>
          <a:p>
            <a:r>
              <a:rPr lang="en-US" sz="1200" kern="1200" baseline="0" dirty="0">
                <a:solidFill>
                  <a:schemeClr val="tx1"/>
                </a:solidFill>
                <a:latin typeface="+mn-lt"/>
                <a:ea typeface="+mn-ea"/>
                <a:cs typeface="+mn-cs"/>
              </a:rPr>
              <a:t>another process to run while the disk I/O is performed.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Once the desired piece</a:t>
            </a:r>
          </a:p>
          <a:p>
            <a:r>
              <a:rPr lang="en-US" sz="1200" kern="1200" baseline="0" dirty="0">
                <a:solidFill>
                  <a:schemeClr val="tx1"/>
                </a:solidFill>
                <a:latin typeface="+mn-lt"/>
                <a:ea typeface="+mn-ea"/>
                <a:cs typeface="+mn-cs"/>
              </a:rPr>
              <a:t>has been brought into main memory, an I/O interrupt is issued, giving control back</a:t>
            </a:r>
          </a:p>
          <a:p>
            <a:r>
              <a:rPr lang="en-US" sz="1200" kern="1200" baseline="0" dirty="0">
                <a:solidFill>
                  <a:schemeClr val="tx1"/>
                </a:solidFill>
                <a:latin typeface="+mn-lt"/>
                <a:ea typeface="+mn-ea"/>
                <a:cs typeface="+mn-cs"/>
              </a:rPr>
              <a:t>to the operating system, which places the affected process back into a Ready state.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extLst>
      <p:ext uri="{BB962C8B-B14F-4D97-AF65-F5344CB8AC3E}">
        <p14:creationId xmlns:p14="http://schemas.microsoft.com/office/powerpoint/2010/main" val="273110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There are two implications, the second more startling than the first, and both lead to improved</a:t>
            </a:r>
          </a:p>
          <a:p>
            <a:r>
              <a:rPr lang="en-US" sz="1200" kern="1200" baseline="0" dirty="0">
                <a:solidFill>
                  <a:schemeClr val="tx1"/>
                </a:solidFill>
                <a:latin typeface="+mn-lt"/>
                <a:ea typeface="+mn-ea"/>
                <a:cs typeface="+mn-cs"/>
              </a:rPr>
              <a:t>system utilization: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1. More processes may be maintained in main memory.  Because we are only</a:t>
            </a:r>
          </a:p>
          <a:p>
            <a:r>
              <a:rPr lang="en-US" sz="1200" kern="1200" baseline="0" dirty="0">
                <a:solidFill>
                  <a:schemeClr val="tx1"/>
                </a:solidFill>
                <a:latin typeface="+mn-lt"/>
                <a:ea typeface="+mn-ea"/>
                <a:cs typeface="+mn-cs"/>
              </a:rPr>
              <a:t>going to load some of the pieces of any particular process, there is room for</a:t>
            </a:r>
          </a:p>
          <a:p>
            <a:r>
              <a:rPr lang="en-US" sz="1200" kern="1200" baseline="0" dirty="0">
                <a:solidFill>
                  <a:schemeClr val="tx1"/>
                </a:solidFill>
                <a:latin typeface="+mn-lt"/>
                <a:ea typeface="+mn-ea"/>
                <a:cs typeface="+mn-cs"/>
              </a:rPr>
              <a:t>more processes.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leads to more efficient utilization of the processor because</a:t>
            </a:r>
          </a:p>
          <a:p>
            <a:r>
              <a:rPr lang="en-US" sz="1200" kern="1200" baseline="0" dirty="0">
                <a:solidFill>
                  <a:schemeClr val="tx1"/>
                </a:solidFill>
                <a:latin typeface="+mn-lt"/>
                <a:ea typeface="+mn-ea"/>
                <a:cs typeface="+mn-cs"/>
              </a:rPr>
              <a:t>it is more likely that at least one of the more numerous processes will be</a:t>
            </a:r>
          </a:p>
          <a:p>
            <a:r>
              <a:rPr lang="en-US" sz="1200" kern="1200" baseline="0" dirty="0">
                <a:solidFill>
                  <a:schemeClr val="tx1"/>
                </a:solidFill>
                <a:latin typeface="+mn-lt"/>
                <a:ea typeface="+mn-ea"/>
                <a:cs typeface="+mn-cs"/>
              </a:rPr>
              <a:t>in a Ready state at any particular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2. A process may be larger than all of main memory.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of the most fundamental</a:t>
            </a:r>
          </a:p>
          <a:p>
            <a:r>
              <a:rPr lang="en-US" sz="1200" kern="1200" baseline="0" dirty="0">
                <a:solidFill>
                  <a:schemeClr val="tx1"/>
                </a:solidFill>
                <a:latin typeface="+mn-lt"/>
                <a:ea typeface="+mn-ea"/>
                <a:cs typeface="+mn-cs"/>
              </a:rPr>
              <a:t>restrictions in programming is lifted.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Without the scheme we have</a:t>
            </a:r>
          </a:p>
          <a:p>
            <a:r>
              <a:rPr lang="en-US" sz="1200" kern="1200" baseline="0" dirty="0">
                <a:solidFill>
                  <a:schemeClr val="tx1"/>
                </a:solidFill>
                <a:latin typeface="+mn-lt"/>
                <a:ea typeface="+mn-ea"/>
                <a:cs typeface="+mn-cs"/>
              </a:rPr>
              <a:t>been discussing, a programmer must be acutely aware of how much memory</a:t>
            </a:r>
          </a:p>
          <a:p>
            <a:r>
              <a:rPr lang="en-US" sz="1200" kern="1200" baseline="0" dirty="0">
                <a:solidFill>
                  <a:schemeClr val="tx1"/>
                </a:solidFill>
                <a:latin typeface="+mn-lt"/>
                <a:ea typeface="+mn-ea"/>
                <a:cs typeface="+mn-cs"/>
              </a:rPr>
              <a:t>is available. If the program being written is too large, the programmer must</a:t>
            </a:r>
          </a:p>
          <a:p>
            <a:r>
              <a:rPr lang="en-US" sz="1200" kern="1200" baseline="0" dirty="0">
                <a:solidFill>
                  <a:schemeClr val="tx1"/>
                </a:solidFill>
                <a:latin typeface="+mn-lt"/>
                <a:ea typeface="+mn-ea"/>
                <a:cs typeface="+mn-cs"/>
              </a:rPr>
              <a:t>devise ways to structure the program into pieces that can be loaded separately</a:t>
            </a:r>
          </a:p>
          <a:p>
            <a:r>
              <a:rPr lang="en-US" sz="1200" kern="1200" baseline="0" dirty="0">
                <a:solidFill>
                  <a:schemeClr val="tx1"/>
                </a:solidFill>
                <a:latin typeface="+mn-lt"/>
                <a:ea typeface="+mn-ea"/>
                <a:cs typeface="+mn-cs"/>
              </a:rPr>
              <a:t>in some sort of overlay strategy.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virtual memory based on paging</a:t>
            </a:r>
          </a:p>
          <a:p>
            <a:r>
              <a:rPr lang="en-US" sz="1200" kern="1200" baseline="0" dirty="0">
                <a:solidFill>
                  <a:schemeClr val="tx1"/>
                </a:solidFill>
                <a:latin typeface="+mn-lt"/>
                <a:ea typeface="+mn-ea"/>
                <a:cs typeface="+mn-cs"/>
              </a:rPr>
              <a:t> or segmentation, that job is left to the OS and the hardware. As far as the</a:t>
            </a:r>
          </a:p>
          <a:p>
            <a:r>
              <a:rPr lang="en-US" sz="1200" kern="1200" baseline="0" dirty="0">
                <a:solidFill>
                  <a:schemeClr val="tx1"/>
                </a:solidFill>
                <a:latin typeface="+mn-lt"/>
                <a:ea typeface="+mn-ea"/>
                <a:cs typeface="+mn-cs"/>
              </a:rPr>
              <a:t>programmer is concerned, he or she is dealing with a huge memory, the size associated</a:t>
            </a:r>
          </a:p>
          <a:p>
            <a:r>
              <a:rPr lang="en-US" sz="1200" kern="1200" baseline="0" dirty="0">
                <a:solidFill>
                  <a:schemeClr val="tx1"/>
                </a:solidFill>
                <a:latin typeface="+mn-lt"/>
                <a:ea typeface="+mn-ea"/>
                <a:cs typeface="+mn-cs"/>
              </a:rPr>
              <a:t>with disk storage.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OS automatically loads pieces of a process into</a:t>
            </a:r>
          </a:p>
          <a:p>
            <a:r>
              <a:rPr lang="en-US" sz="1200" kern="1200" baseline="0" dirty="0">
                <a:solidFill>
                  <a:schemeClr val="tx1"/>
                </a:solidFill>
                <a:latin typeface="+mn-lt"/>
                <a:ea typeface="+mn-ea"/>
                <a:cs typeface="+mn-cs"/>
              </a:rPr>
              <a:t>main memory as required.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extLst>
      <p:ext uri="{BB962C8B-B14F-4D97-AF65-F5344CB8AC3E}">
        <p14:creationId xmlns:p14="http://schemas.microsoft.com/office/powerpoint/2010/main" val="1672292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Because a process executes only in main memory, that memory is referred to</a:t>
            </a:r>
          </a:p>
          <a:p>
            <a:r>
              <a:rPr lang="en-US" sz="1200" kern="1200" baseline="0" dirty="0">
                <a:solidFill>
                  <a:schemeClr val="tx1"/>
                </a:solidFill>
                <a:latin typeface="+mn-lt"/>
                <a:ea typeface="+mn-ea"/>
                <a:cs typeface="+mn-cs"/>
              </a:rPr>
              <a:t>as </a:t>
            </a:r>
            <a:r>
              <a:rPr lang="en-US" sz="1200" b="1" kern="1200" baseline="0" dirty="0">
                <a:solidFill>
                  <a:schemeClr val="tx1"/>
                </a:solidFill>
                <a:latin typeface="+mn-lt"/>
                <a:ea typeface="+mn-ea"/>
                <a:cs typeface="+mn-cs"/>
              </a:rPr>
              <a:t>real memory </a:t>
            </a:r>
            <a:r>
              <a:rPr lang="en-US" sz="1200" b="0" kern="1200" baseline="0" dirty="0">
                <a:solidFill>
                  <a:schemeClr val="tx1"/>
                </a:solidFill>
                <a:latin typeface="+mn-lt"/>
                <a:ea typeface="+mn-ea"/>
                <a:cs typeface="+mn-cs"/>
              </a:rPr>
              <a:t>.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But a programmer or user perceives a potentially much larger memory—</a:t>
            </a:r>
          </a:p>
          <a:p>
            <a:r>
              <a:rPr lang="en-US" sz="1200" kern="1200" baseline="0" dirty="0">
                <a:solidFill>
                  <a:schemeClr val="tx1"/>
                </a:solidFill>
                <a:latin typeface="+mn-lt"/>
                <a:ea typeface="+mn-ea"/>
                <a:cs typeface="+mn-cs"/>
              </a:rPr>
              <a:t>that which is allocated on disk. This latter is referred to as </a:t>
            </a:r>
            <a:r>
              <a:rPr lang="en-US" sz="1200" b="1" kern="1200" baseline="0" dirty="0">
                <a:solidFill>
                  <a:schemeClr val="tx1"/>
                </a:solidFill>
                <a:latin typeface="+mn-lt"/>
                <a:ea typeface="+mn-ea"/>
                <a:cs typeface="+mn-cs"/>
              </a:rPr>
              <a:t>virtual memory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Virtual memory allows for very effective multiprogramming and relieves the user</a:t>
            </a:r>
          </a:p>
          <a:p>
            <a:r>
              <a:rPr lang="en-US" sz="1200" kern="1200" baseline="0" dirty="0">
                <a:solidFill>
                  <a:schemeClr val="tx1"/>
                </a:solidFill>
                <a:latin typeface="+mn-lt"/>
                <a:ea typeface="+mn-ea"/>
                <a:cs typeface="+mn-cs"/>
              </a:rPr>
              <a:t>of the unnecessarily tight constraints of main memory.</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extLst>
      <p:ext uri="{BB962C8B-B14F-4D97-AF65-F5344CB8AC3E}">
        <p14:creationId xmlns:p14="http://schemas.microsoft.com/office/powerpoint/2010/main" val="3655011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8.2 summarizes characteristics of paging and segmentation, with and without the use of virtual memory.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extLst>
      <p:ext uri="{BB962C8B-B14F-4D97-AF65-F5344CB8AC3E}">
        <p14:creationId xmlns:p14="http://schemas.microsoft.com/office/powerpoint/2010/main" val="2831568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To understand what the key issue is, and why virtual memory was a matter</a:t>
            </a:r>
          </a:p>
          <a:p>
            <a:r>
              <a:rPr lang="en-US" sz="1200" kern="1200" baseline="0" dirty="0">
                <a:solidFill>
                  <a:schemeClr val="tx1"/>
                </a:solidFill>
                <a:latin typeface="+mn-lt"/>
                <a:ea typeface="+mn-ea"/>
                <a:cs typeface="+mn-cs"/>
              </a:rPr>
              <a:t>of much debate, let us examine again the task of the operating system with respect</a:t>
            </a:r>
          </a:p>
          <a:p>
            <a:r>
              <a:rPr lang="en-US" sz="1200" kern="1200" baseline="0" dirty="0">
                <a:solidFill>
                  <a:schemeClr val="tx1"/>
                </a:solidFill>
                <a:latin typeface="+mn-lt"/>
                <a:ea typeface="+mn-ea"/>
                <a:cs typeface="+mn-cs"/>
              </a:rPr>
              <a:t>to virtual memory.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Consider a large process, consisting of a long program plus a</a:t>
            </a:r>
          </a:p>
          <a:p>
            <a:r>
              <a:rPr lang="en-US" sz="1200" kern="1200" baseline="0" dirty="0">
                <a:solidFill>
                  <a:schemeClr val="tx1"/>
                </a:solidFill>
                <a:latin typeface="+mn-lt"/>
                <a:ea typeface="+mn-ea"/>
                <a:cs typeface="+mn-cs"/>
              </a:rPr>
              <a:t>number of arrays of data.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Over any short period of time, execution may be confined</a:t>
            </a:r>
          </a:p>
          <a:p>
            <a:r>
              <a:rPr lang="en-US" sz="1200" kern="1200" baseline="0" dirty="0">
                <a:solidFill>
                  <a:schemeClr val="tx1"/>
                </a:solidFill>
                <a:latin typeface="+mn-lt"/>
                <a:ea typeface="+mn-ea"/>
                <a:cs typeface="+mn-cs"/>
              </a:rPr>
              <a:t>to a small section of the program (e.g., a subroutine) and access to perhaps only one</a:t>
            </a:r>
          </a:p>
          <a:p>
            <a:r>
              <a:rPr lang="en-US" sz="1200" kern="1200" baseline="0" dirty="0">
                <a:solidFill>
                  <a:schemeClr val="tx1"/>
                </a:solidFill>
                <a:latin typeface="+mn-lt"/>
                <a:ea typeface="+mn-ea"/>
                <a:cs typeface="+mn-cs"/>
              </a:rPr>
              <a:t>or two arrays of data.</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If this is so, then it would clearly be wasteful to load in dozens</a:t>
            </a:r>
          </a:p>
          <a:p>
            <a:r>
              <a:rPr lang="en-US" sz="1200" kern="1200" baseline="0" dirty="0">
                <a:solidFill>
                  <a:schemeClr val="tx1"/>
                </a:solidFill>
                <a:latin typeface="+mn-lt"/>
                <a:ea typeface="+mn-ea"/>
                <a:cs typeface="+mn-cs"/>
              </a:rPr>
              <a:t>of pieces for that process when only a few pieces will be used before the program is</a:t>
            </a:r>
          </a:p>
          <a:p>
            <a:r>
              <a:rPr lang="en-US" sz="1200" kern="1200" baseline="0" dirty="0">
                <a:solidFill>
                  <a:schemeClr val="tx1"/>
                </a:solidFill>
                <a:latin typeface="+mn-lt"/>
                <a:ea typeface="+mn-ea"/>
                <a:cs typeface="+mn-cs"/>
              </a:rPr>
              <a:t>suspended and swapped out.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can make better use of memory by loading in just a</a:t>
            </a:r>
          </a:p>
          <a:p>
            <a:r>
              <a:rPr lang="en-US" sz="1200" kern="1200" baseline="0" dirty="0">
                <a:solidFill>
                  <a:schemeClr val="tx1"/>
                </a:solidFill>
                <a:latin typeface="+mn-lt"/>
                <a:ea typeface="+mn-ea"/>
                <a:cs typeface="+mn-cs"/>
              </a:rPr>
              <a:t>few pieces. Then, if the program branches to an instruction or references a data item</a:t>
            </a:r>
          </a:p>
          <a:p>
            <a:r>
              <a:rPr lang="en-US" sz="1200" kern="1200" baseline="0" dirty="0">
                <a:solidFill>
                  <a:schemeClr val="tx1"/>
                </a:solidFill>
                <a:latin typeface="+mn-lt"/>
                <a:ea typeface="+mn-ea"/>
                <a:cs typeface="+mn-cs"/>
              </a:rPr>
              <a:t>on a piece not in main memory, a fault is triggered. This tells the operating system</a:t>
            </a:r>
          </a:p>
          <a:p>
            <a:r>
              <a:rPr lang="en-US" sz="1200" kern="1200" baseline="0" dirty="0">
                <a:solidFill>
                  <a:schemeClr val="tx1"/>
                </a:solidFill>
                <a:latin typeface="+mn-lt"/>
                <a:ea typeface="+mn-ea"/>
                <a:cs typeface="+mn-cs"/>
              </a:rPr>
              <a:t>to bring in the desired piece.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Thus, at any one time, only a few pieces of any given process are in memory,</a:t>
            </a:r>
          </a:p>
          <a:p>
            <a:r>
              <a:rPr lang="en-US" sz="1200" kern="1200" baseline="0" dirty="0">
                <a:solidFill>
                  <a:schemeClr val="tx1"/>
                </a:solidFill>
                <a:latin typeface="+mn-lt"/>
                <a:ea typeface="+mn-ea"/>
                <a:cs typeface="+mn-cs"/>
              </a:rPr>
              <a:t>and therefore more processes can be maintained in memory. Furthermore, time is</a:t>
            </a:r>
          </a:p>
          <a:p>
            <a:r>
              <a:rPr lang="en-US" sz="1200" kern="1200" baseline="0" dirty="0">
                <a:solidFill>
                  <a:schemeClr val="tx1"/>
                </a:solidFill>
                <a:latin typeface="+mn-lt"/>
                <a:ea typeface="+mn-ea"/>
                <a:cs typeface="+mn-cs"/>
              </a:rPr>
              <a:t>saved because unused pieces are not swapped in and out of memory. However, the</a:t>
            </a:r>
          </a:p>
          <a:p>
            <a:r>
              <a:rPr lang="en-US" sz="1200" kern="1200" baseline="0" dirty="0">
                <a:solidFill>
                  <a:schemeClr val="tx1"/>
                </a:solidFill>
                <a:latin typeface="+mn-lt"/>
                <a:ea typeface="+mn-ea"/>
                <a:cs typeface="+mn-cs"/>
              </a:rPr>
              <a:t>operating system must be clever about how it manages this scheme. In the steady</a:t>
            </a:r>
          </a:p>
          <a:p>
            <a:r>
              <a:rPr lang="en-US" sz="1200" kern="1200" baseline="0" dirty="0">
                <a:solidFill>
                  <a:schemeClr val="tx1"/>
                </a:solidFill>
                <a:latin typeface="+mn-lt"/>
                <a:ea typeface="+mn-ea"/>
                <a:cs typeface="+mn-cs"/>
              </a:rPr>
              <a:t>state, practically all of main memory will be occupied with process pieces, so that the</a:t>
            </a:r>
          </a:p>
          <a:p>
            <a:r>
              <a:rPr lang="en-US" sz="1200" kern="1200" baseline="0" dirty="0">
                <a:solidFill>
                  <a:schemeClr val="tx1"/>
                </a:solidFill>
                <a:latin typeface="+mn-lt"/>
                <a:ea typeface="+mn-ea"/>
                <a:cs typeface="+mn-cs"/>
              </a:rPr>
              <a:t>processor and operating system have direct access to as many processes as possible.</a:t>
            </a:r>
          </a:p>
          <a:p>
            <a:r>
              <a:rPr lang="en-US" sz="1200" kern="1200" baseline="0" dirty="0">
                <a:solidFill>
                  <a:schemeClr val="tx1"/>
                </a:solidFill>
                <a:latin typeface="+mn-lt"/>
                <a:ea typeface="+mn-ea"/>
                <a:cs typeface="+mn-cs"/>
              </a:rPr>
              <a:t>Thus, when the operating system brings one piece in, it must throw another out. If it</a:t>
            </a:r>
          </a:p>
          <a:p>
            <a:r>
              <a:rPr lang="en-US" sz="1200" kern="1200" baseline="0" dirty="0">
                <a:solidFill>
                  <a:schemeClr val="tx1"/>
                </a:solidFill>
                <a:latin typeface="+mn-lt"/>
                <a:ea typeface="+mn-ea"/>
                <a:cs typeface="+mn-cs"/>
              </a:rPr>
              <a:t>throws out a piece just before it is used, then it will just have to go get that piece again</a:t>
            </a:r>
          </a:p>
          <a:p>
            <a:r>
              <a:rPr lang="en-US" sz="1200" kern="1200" baseline="0" dirty="0">
                <a:solidFill>
                  <a:schemeClr val="tx1"/>
                </a:solidFill>
                <a:latin typeface="+mn-lt"/>
                <a:ea typeface="+mn-ea"/>
                <a:cs typeface="+mn-cs"/>
              </a:rPr>
              <a:t>almost immediately.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Too much of this leads to a condition known as </a:t>
            </a:r>
            <a:r>
              <a:rPr lang="en-US" sz="1200" b="1" kern="1200" baseline="0" dirty="0">
                <a:solidFill>
                  <a:schemeClr val="tx1"/>
                </a:solidFill>
                <a:latin typeface="+mn-lt"/>
                <a:ea typeface="+mn-ea"/>
                <a:cs typeface="+mn-cs"/>
              </a:rPr>
              <a:t>thrashing : </a:t>
            </a:r>
            <a:r>
              <a:rPr lang="en-US" sz="1200" b="0" kern="1200" baseline="0" dirty="0">
                <a:solidFill>
                  <a:schemeClr val="tx1"/>
                </a:solidFill>
                <a:latin typeface="+mn-lt"/>
                <a:ea typeface="+mn-ea"/>
                <a:cs typeface="+mn-cs"/>
              </a:rPr>
              <a:t>The</a:t>
            </a:r>
          </a:p>
          <a:p>
            <a:r>
              <a:rPr lang="en-US" sz="1200" kern="1200" baseline="0" dirty="0">
                <a:solidFill>
                  <a:schemeClr val="tx1"/>
                </a:solidFill>
                <a:latin typeface="+mn-lt"/>
                <a:ea typeface="+mn-ea"/>
                <a:cs typeface="+mn-cs"/>
              </a:rPr>
              <a:t>system spends most of its time swapping pieces rather than executing instructions.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avoidance of thrashing was a major research area in the 1970s and led to a variety</a:t>
            </a:r>
          </a:p>
          <a:p>
            <a:r>
              <a:rPr lang="en-US" sz="1200" kern="1200" baseline="0" dirty="0">
                <a:solidFill>
                  <a:schemeClr val="tx1"/>
                </a:solidFill>
                <a:latin typeface="+mn-lt"/>
                <a:ea typeface="+mn-ea"/>
                <a:cs typeface="+mn-cs"/>
              </a:rPr>
              <a:t>of complex but effective algorithms. In essence, the operating system tries to guess,</a:t>
            </a:r>
          </a:p>
          <a:p>
            <a:r>
              <a:rPr lang="en-US" sz="1200" kern="1200" baseline="0" dirty="0">
                <a:solidFill>
                  <a:schemeClr val="tx1"/>
                </a:solidFill>
                <a:latin typeface="+mn-lt"/>
                <a:ea typeface="+mn-ea"/>
                <a:cs typeface="+mn-cs"/>
              </a:rPr>
              <a:t>based on recent history, which pieces are least likely to be used in the near future.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extLst>
      <p:ext uri="{BB962C8B-B14F-4D97-AF65-F5344CB8AC3E}">
        <p14:creationId xmlns:p14="http://schemas.microsoft.com/office/powerpoint/2010/main" val="1973256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This reasoning is based on belief in the </a:t>
            </a:r>
            <a:r>
              <a:rPr lang="en-US" sz="1200" b="1" kern="1200" baseline="0" dirty="0">
                <a:solidFill>
                  <a:schemeClr val="tx1"/>
                </a:solidFill>
                <a:latin typeface="+mn-lt"/>
                <a:ea typeface="+mn-ea"/>
                <a:cs typeface="+mn-cs"/>
              </a:rPr>
              <a:t>principle of locality , which was introduced</a:t>
            </a:r>
          </a:p>
          <a:p>
            <a:r>
              <a:rPr lang="en-US" sz="1200" kern="1200" baseline="0" dirty="0">
                <a:solidFill>
                  <a:schemeClr val="tx1"/>
                </a:solidFill>
                <a:latin typeface="+mn-lt"/>
                <a:ea typeface="+mn-ea"/>
                <a:cs typeface="+mn-cs"/>
              </a:rPr>
              <a:t>in Chapter 1 (see especially Appendix 1A).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summarize, the </a:t>
            </a:r>
            <a:r>
              <a:rPr lang="en-US" sz="1200" b="1" kern="1200" baseline="0" dirty="0">
                <a:solidFill>
                  <a:schemeClr val="tx1"/>
                </a:solidFill>
                <a:latin typeface="+mn-lt"/>
                <a:ea typeface="+mn-ea"/>
                <a:cs typeface="+mn-cs"/>
              </a:rPr>
              <a:t>principle of</a:t>
            </a:r>
          </a:p>
          <a:p>
            <a:r>
              <a:rPr lang="en-US" sz="1200" b="1" kern="1200" baseline="0" dirty="0">
                <a:solidFill>
                  <a:schemeClr val="tx1"/>
                </a:solidFill>
                <a:latin typeface="+mn-lt"/>
                <a:ea typeface="+mn-ea"/>
                <a:cs typeface="+mn-cs"/>
              </a:rPr>
              <a:t>locality states that program and data references within a process tend to cluster.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Hence, the assumption that only a few pieces of a process will be needed over a short</a:t>
            </a:r>
          </a:p>
          <a:p>
            <a:r>
              <a:rPr lang="en-US" sz="1200" kern="1200" baseline="0" dirty="0">
                <a:solidFill>
                  <a:schemeClr val="tx1"/>
                </a:solidFill>
                <a:latin typeface="+mn-lt"/>
                <a:ea typeface="+mn-ea"/>
                <a:cs typeface="+mn-cs"/>
              </a:rPr>
              <a:t>period of time is valid. Also, it should be possible to make intelligent guesses about</a:t>
            </a:r>
          </a:p>
          <a:p>
            <a:r>
              <a:rPr lang="en-US" sz="1200" kern="1200" baseline="0" dirty="0">
                <a:solidFill>
                  <a:schemeClr val="tx1"/>
                </a:solidFill>
                <a:latin typeface="+mn-lt"/>
                <a:ea typeface="+mn-ea"/>
                <a:cs typeface="+mn-cs"/>
              </a:rPr>
              <a:t>which pieces of a process will be needed in the near future, which avoids thrashing.</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extLst>
      <p:ext uri="{BB962C8B-B14F-4D97-AF65-F5344CB8AC3E}">
        <p14:creationId xmlns:p14="http://schemas.microsoft.com/office/powerpoint/2010/main" val="2947038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principle of locality suggests that a virtual memory</a:t>
            </a:r>
          </a:p>
          <a:p>
            <a:r>
              <a:rPr lang="en-US" sz="1200" kern="1200" baseline="0" dirty="0">
                <a:solidFill>
                  <a:schemeClr val="tx1"/>
                </a:solidFill>
                <a:latin typeface="+mn-lt"/>
                <a:ea typeface="+mn-ea"/>
                <a:cs typeface="+mn-cs"/>
              </a:rPr>
              <a:t>scheme may work.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virtual memory to be practical and effective, two ingredients</a:t>
            </a:r>
          </a:p>
          <a:p>
            <a:r>
              <a:rPr lang="en-US" sz="1200" kern="1200" baseline="0" dirty="0">
                <a:solidFill>
                  <a:schemeClr val="tx1"/>
                </a:solidFill>
                <a:latin typeface="+mn-lt"/>
                <a:ea typeface="+mn-ea"/>
                <a:cs typeface="+mn-cs"/>
              </a:rPr>
              <a:t>are needed.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First, there must be hardware support for the paging and/or segmentation</a:t>
            </a:r>
          </a:p>
          <a:p>
            <a:r>
              <a:rPr lang="en-US" sz="1200" kern="1200" baseline="0" dirty="0">
                <a:solidFill>
                  <a:schemeClr val="tx1"/>
                </a:solidFill>
                <a:latin typeface="+mn-lt"/>
                <a:ea typeface="+mn-ea"/>
                <a:cs typeface="+mn-cs"/>
              </a:rPr>
              <a:t>scheme to be employed.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Second, the operating system must include software</a:t>
            </a:r>
          </a:p>
          <a:p>
            <a:r>
              <a:rPr lang="en-US" sz="1200" kern="1200" baseline="0" dirty="0">
                <a:solidFill>
                  <a:schemeClr val="tx1"/>
                </a:solidFill>
                <a:latin typeface="+mn-lt"/>
                <a:ea typeface="+mn-ea"/>
                <a:cs typeface="+mn-cs"/>
              </a:rPr>
              <a:t>for managing the movement of pages and/or segments between secondary memory</a:t>
            </a:r>
          </a:p>
          <a:p>
            <a:r>
              <a:rPr lang="en-US" sz="1200" kern="1200" baseline="0" dirty="0">
                <a:solidFill>
                  <a:schemeClr val="tx1"/>
                </a:solidFill>
                <a:latin typeface="+mn-lt"/>
                <a:ea typeface="+mn-ea"/>
                <a:cs typeface="+mn-cs"/>
              </a:rPr>
              <a:t>and main memory.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extLst>
      <p:ext uri="{BB962C8B-B14F-4D97-AF65-F5344CB8AC3E}">
        <p14:creationId xmlns:p14="http://schemas.microsoft.com/office/powerpoint/2010/main" val="1398884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term </a:t>
            </a:r>
            <a:r>
              <a:rPr lang="en-US" sz="1200" i="1" kern="1200" baseline="0" dirty="0">
                <a:solidFill>
                  <a:schemeClr val="tx1"/>
                </a:solidFill>
                <a:latin typeface="+mn-lt"/>
                <a:ea typeface="+mn-ea"/>
                <a:cs typeface="+mn-cs"/>
              </a:rPr>
              <a:t>virtual memory is usually associated with systems that employ paging,</a:t>
            </a:r>
          </a:p>
          <a:p>
            <a:r>
              <a:rPr lang="en-US" sz="1200" kern="1200" baseline="0" dirty="0">
                <a:solidFill>
                  <a:schemeClr val="tx1"/>
                </a:solidFill>
                <a:latin typeface="+mn-lt"/>
                <a:ea typeface="+mn-ea"/>
                <a:cs typeface="+mn-cs"/>
              </a:rPr>
              <a:t>although virtual memory based on segmentation is also used and is discussed next.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use of paging to achieve virtual memory was first reported for the Atlas computer</a:t>
            </a:r>
          </a:p>
          <a:p>
            <a:r>
              <a:rPr lang="en-US" sz="1200" kern="1200" baseline="0" dirty="0">
                <a:solidFill>
                  <a:schemeClr val="tx1"/>
                </a:solidFill>
                <a:latin typeface="+mn-lt"/>
                <a:ea typeface="+mn-ea"/>
                <a:cs typeface="+mn-cs"/>
              </a:rPr>
              <a:t>[KILB62] and soon came into widespread commercial use.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the discussion of simple paging, we indicated that each process has its</a:t>
            </a:r>
          </a:p>
          <a:p>
            <a:r>
              <a:rPr lang="en-US" sz="1200" kern="1200" baseline="0" dirty="0">
                <a:solidFill>
                  <a:schemeClr val="tx1"/>
                </a:solidFill>
                <a:latin typeface="+mn-lt"/>
                <a:ea typeface="+mn-ea"/>
                <a:cs typeface="+mn-cs"/>
              </a:rPr>
              <a:t>own page table, and when all of its pages are loaded into main memory, the page table </a:t>
            </a:r>
          </a:p>
          <a:p>
            <a:r>
              <a:rPr lang="en-US" sz="1200" kern="1200" baseline="0" dirty="0">
                <a:solidFill>
                  <a:schemeClr val="tx1"/>
                </a:solidFill>
                <a:latin typeface="+mn-lt"/>
                <a:ea typeface="+mn-ea"/>
                <a:cs typeface="+mn-cs"/>
              </a:rPr>
              <a:t>for a process is created and loaded into main memory.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Each page table entry</a:t>
            </a:r>
          </a:p>
          <a:p>
            <a:r>
              <a:rPr lang="en-US" sz="1200" kern="1200" baseline="0" dirty="0">
                <a:solidFill>
                  <a:schemeClr val="tx1"/>
                </a:solidFill>
                <a:latin typeface="+mn-lt"/>
                <a:ea typeface="+mn-ea"/>
                <a:cs typeface="+mn-cs"/>
              </a:rPr>
              <a:t>(PTE) contains the frame number of the corresponding page in main memory. A</a:t>
            </a:r>
          </a:p>
          <a:p>
            <a:r>
              <a:rPr lang="en-US" sz="1200" kern="1200" baseline="0" dirty="0">
                <a:solidFill>
                  <a:schemeClr val="tx1"/>
                </a:solidFill>
                <a:latin typeface="+mn-lt"/>
                <a:ea typeface="+mn-ea"/>
                <a:cs typeface="+mn-cs"/>
              </a:rPr>
              <a:t>page table is also needed for a virtual memory scheme based on paging.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extLst>
      <p:ext uri="{BB962C8B-B14F-4D97-AF65-F5344CB8AC3E}">
        <p14:creationId xmlns:p14="http://schemas.microsoft.com/office/powerpoint/2010/main" val="4037612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r>
              <a:rPr lang="en-US" sz="1200" b="0" i="0" kern="1200" baseline="0" dirty="0">
                <a:solidFill>
                  <a:schemeClr val="tx1"/>
                </a:solidFill>
                <a:latin typeface="+mn-lt"/>
                <a:ea typeface="+mn-ea"/>
                <a:cs typeface="+mn-cs"/>
              </a:rPr>
              <a:t>A drawback of the type of page tables that we have been</a:t>
            </a:r>
          </a:p>
          <a:p>
            <a:r>
              <a:rPr lang="en-US" sz="1200" kern="1200" baseline="0" dirty="0">
                <a:solidFill>
                  <a:schemeClr val="tx1"/>
                </a:solidFill>
                <a:latin typeface="+mn-lt"/>
                <a:ea typeface="+mn-ea"/>
                <a:cs typeface="+mn-cs"/>
              </a:rPr>
              <a:t>discussing is that their size is proportional to that of the virtual address space.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 alternative approach to the use of one or multiple-level page tables is the</a:t>
            </a:r>
          </a:p>
          <a:p>
            <a:r>
              <a:rPr lang="en-US" sz="1200" kern="1200" baseline="0" dirty="0">
                <a:solidFill>
                  <a:schemeClr val="tx1"/>
                </a:solidFill>
                <a:latin typeface="+mn-lt"/>
                <a:ea typeface="+mn-ea"/>
                <a:cs typeface="+mn-cs"/>
              </a:rPr>
              <a:t>use of an </a:t>
            </a:r>
            <a:r>
              <a:rPr lang="en-US" sz="1200" b="1" kern="1200" baseline="0" dirty="0">
                <a:solidFill>
                  <a:schemeClr val="tx1"/>
                </a:solidFill>
                <a:latin typeface="+mn-lt"/>
                <a:ea typeface="+mn-ea"/>
                <a:cs typeface="+mn-cs"/>
              </a:rPr>
              <a:t>inverted page table structure. </a:t>
            </a:r>
            <a:r>
              <a:rPr lang="en-US" sz="1200" b="0" kern="1200" baseline="0" dirty="0">
                <a:solidFill>
                  <a:schemeClr val="tx1"/>
                </a:solidFill>
                <a:latin typeface="+mn-lt"/>
                <a:ea typeface="+mn-ea"/>
                <a:cs typeface="+mn-cs"/>
              </a:rPr>
              <a:t>Variations on this approach are used on</a:t>
            </a:r>
          </a:p>
          <a:p>
            <a:r>
              <a:rPr lang="en-US" sz="1200" kern="1200" baseline="0" dirty="0">
                <a:solidFill>
                  <a:schemeClr val="tx1"/>
                </a:solidFill>
                <a:latin typeface="+mn-lt"/>
                <a:ea typeface="+mn-ea"/>
                <a:cs typeface="+mn-cs"/>
              </a:rPr>
              <a:t>the PowerPC, </a:t>
            </a:r>
            <a:r>
              <a:rPr lang="en-US" sz="1200" kern="1200" baseline="0" dirty="0" err="1">
                <a:solidFill>
                  <a:schemeClr val="tx1"/>
                </a:solidFill>
                <a:latin typeface="+mn-lt"/>
                <a:ea typeface="+mn-ea"/>
                <a:cs typeface="+mn-cs"/>
              </a:rPr>
              <a:t>UltraSPARC</a:t>
            </a:r>
            <a:r>
              <a:rPr lang="en-US" sz="1200" kern="1200" baseline="0" dirty="0">
                <a:solidFill>
                  <a:schemeClr val="tx1"/>
                </a:solidFill>
                <a:latin typeface="+mn-lt"/>
                <a:ea typeface="+mn-ea"/>
                <a:cs typeface="+mn-cs"/>
              </a:rPr>
              <a:t>, and the IA-64 architecture. An implementation of the</a:t>
            </a:r>
          </a:p>
          <a:p>
            <a:r>
              <a:rPr lang="en-US" sz="1200" kern="1200" baseline="0" dirty="0">
                <a:solidFill>
                  <a:schemeClr val="tx1"/>
                </a:solidFill>
                <a:latin typeface="+mn-lt"/>
                <a:ea typeface="+mn-ea"/>
                <a:cs typeface="+mn-cs"/>
              </a:rPr>
              <a:t>Mach operating system on the RT-PC also uses this technique.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this approach, the page number portion of a virtual address is mapped into a</a:t>
            </a:r>
          </a:p>
          <a:p>
            <a:r>
              <a:rPr lang="en-US" sz="1200" kern="1200" baseline="0" dirty="0">
                <a:solidFill>
                  <a:schemeClr val="tx1"/>
                </a:solidFill>
                <a:latin typeface="+mn-lt"/>
                <a:ea typeface="+mn-ea"/>
                <a:cs typeface="+mn-cs"/>
              </a:rPr>
              <a:t>hash value using a simple hashing function.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hash value is a pointer to the inverted</a:t>
            </a:r>
          </a:p>
          <a:p>
            <a:r>
              <a:rPr lang="en-US" sz="1200" kern="1200" baseline="0" dirty="0">
                <a:solidFill>
                  <a:schemeClr val="tx1"/>
                </a:solidFill>
                <a:latin typeface="+mn-lt"/>
                <a:ea typeface="+mn-ea"/>
                <a:cs typeface="+mn-cs"/>
              </a:rPr>
              <a:t>page table, which contains the page table entries.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is one entry in the inverted</a:t>
            </a:r>
          </a:p>
          <a:p>
            <a:r>
              <a:rPr lang="en-US" sz="1200" kern="1200" baseline="0" dirty="0">
                <a:solidFill>
                  <a:schemeClr val="tx1"/>
                </a:solidFill>
                <a:latin typeface="+mn-lt"/>
                <a:ea typeface="+mn-ea"/>
                <a:cs typeface="+mn-cs"/>
              </a:rPr>
              <a:t>page table for each real memory page frame rather than one per virtual page. Thus,</a:t>
            </a:r>
          </a:p>
          <a:p>
            <a:r>
              <a:rPr lang="en-US" sz="1200" kern="1200" baseline="0" dirty="0">
                <a:solidFill>
                  <a:schemeClr val="tx1"/>
                </a:solidFill>
                <a:latin typeface="+mn-lt"/>
                <a:ea typeface="+mn-ea"/>
                <a:cs typeface="+mn-cs"/>
              </a:rPr>
              <a:t>a fixed proportion of real memory is required for the tables regardless of the number</a:t>
            </a:r>
          </a:p>
          <a:p>
            <a:r>
              <a:rPr lang="en-US" sz="1200" kern="1200" baseline="0" dirty="0">
                <a:solidFill>
                  <a:schemeClr val="tx1"/>
                </a:solidFill>
                <a:latin typeface="+mn-lt"/>
                <a:ea typeface="+mn-ea"/>
                <a:cs typeface="+mn-cs"/>
              </a:rPr>
              <a:t>of processes or virtual pages supported.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Because more than one virtual address may</a:t>
            </a:r>
          </a:p>
          <a:p>
            <a:r>
              <a:rPr lang="en-US" sz="1200" kern="1200" baseline="0" dirty="0">
                <a:solidFill>
                  <a:schemeClr val="tx1"/>
                </a:solidFill>
                <a:latin typeface="+mn-lt"/>
                <a:ea typeface="+mn-ea"/>
                <a:cs typeface="+mn-cs"/>
              </a:rPr>
              <a:t>map into the same hash table entry, a chaining technique is used for managing the</a:t>
            </a:r>
          </a:p>
          <a:p>
            <a:r>
              <a:rPr lang="en-US" sz="1200" kern="1200" baseline="0" dirty="0">
                <a:solidFill>
                  <a:schemeClr val="tx1"/>
                </a:solidFill>
                <a:latin typeface="+mn-lt"/>
                <a:ea typeface="+mn-ea"/>
                <a:cs typeface="+mn-cs"/>
              </a:rPr>
              <a:t>overflow. The hashing technique results in chains that are typically short—between</a:t>
            </a:r>
          </a:p>
          <a:p>
            <a:r>
              <a:rPr lang="en-US" sz="1200" kern="1200" baseline="0" dirty="0">
                <a:solidFill>
                  <a:schemeClr val="tx1"/>
                </a:solidFill>
                <a:latin typeface="+mn-lt"/>
                <a:ea typeface="+mn-ea"/>
                <a:cs typeface="+mn-cs"/>
              </a:rPr>
              <a:t>one and two entries. The page table’s structure is called </a:t>
            </a:r>
            <a:r>
              <a:rPr lang="en-US" sz="1200" i="1" kern="1200" baseline="0" dirty="0">
                <a:solidFill>
                  <a:schemeClr val="tx1"/>
                </a:solidFill>
                <a:latin typeface="+mn-lt"/>
                <a:ea typeface="+mn-ea"/>
                <a:cs typeface="+mn-cs"/>
              </a:rPr>
              <a:t>inverted because it indexes</a:t>
            </a:r>
          </a:p>
          <a:p>
            <a:r>
              <a:rPr lang="en-US" sz="1200" kern="1200" baseline="0" dirty="0">
                <a:solidFill>
                  <a:schemeClr val="tx1"/>
                </a:solidFill>
                <a:latin typeface="+mn-lt"/>
                <a:ea typeface="+mn-ea"/>
                <a:cs typeface="+mn-cs"/>
              </a:rPr>
              <a:t>page table entries by frame number rather than by virtual page number.</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extLst>
      <p:ext uri="{BB962C8B-B14F-4D97-AF65-F5344CB8AC3E}">
        <p14:creationId xmlns:p14="http://schemas.microsoft.com/office/powerpoint/2010/main" val="1556456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Each entry in the page table includes the</a:t>
            </a:r>
          </a:p>
          <a:p>
            <a:r>
              <a:rPr lang="en-US" sz="1200" kern="1200" baseline="0" dirty="0">
                <a:solidFill>
                  <a:schemeClr val="tx1"/>
                </a:solidFill>
                <a:latin typeface="+mn-lt"/>
                <a:ea typeface="+mn-ea"/>
                <a:cs typeface="+mn-cs"/>
              </a:rPr>
              <a:t>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Page number: </a:t>
            </a:r>
            <a:r>
              <a:rPr lang="en-US" sz="1200" b="0" kern="1200" baseline="0" dirty="0">
                <a:solidFill>
                  <a:schemeClr val="tx1"/>
                </a:solidFill>
                <a:latin typeface="+mn-lt"/>
                <a:ea typeface="+mn-ea"/>
                <a:cs typeface="+mn-cs"/>
              </a:rPr>
              <a:t>This is the page number portion of the virtual address.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 identifier: </a:t>
            </a:r>
            <a:r>
              <a:rPr lang="en-US" sz="1200" b="0" kern="1200" baseline="0" dirty="0">
                <a:solidFill>
                  <a:schemeClr val="tx1"/>
                </a:solidFill>
                <a:latin typeface="+mn-lt"/>
                <a:ea typeface="+mn-ea"/>
                <a:cs typeface="+mn-cs"/>
              </a:rPr>
              <a:t>The process that owns this page. The combination of page</a:t>
            </a:r>
          </a:p>
          <a:p>
            <a:r>
              <a:rPr lang="en-US" sz="1200" kern="1200" baseline="0" dirty="0">
                <a:solidFill>
                  <a:schemeClr val="tx1"/>
                </a:solidFill>
                <a:latin typeface="+mn-lt"/>
                <a:ea typeface="+mn-ea"/>
                <a:cs typeface="+mn-cs"/>
              </a:rPr>
              <a:t>number and process identifier identify a page within the virtual address space</a:t>
            </a:r>
          </a:p>
          <a:p>
            <a:r>
              <a:rPr lang="en-US" sz="1200" kern="1200" baseline="0" dirty="0">
                <a:solidFill>
                  <a:schemeClr val="tx1"/>
                </a:solidFill>
                <a:latin typeface="+mn-lt"/>
                <a:ea typeface="+mn-ea"/>
                <a:cs typeface="+mn-cs"/>
              </a:rPr>
              <a:t>of a particular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Control bits: </a:t>
            </a:r>
            <a:r>
              <a:rPr lang="en-US" sz="1200" b="0" kern="1200" baseline="0" dirty="0">
                <a:solidFill>
                  <a:schemeClr val="tx1"/>
                </a:solidFill>
                <a:latin typeface="+mn-lt"/>
                <a:ea typeface="+mn-ea"/>
                <a:cs typeface="+mn-cs"/>
              </a:rPr>
              <a:t>This field includes flags, such as valid, referenced, and modified;</a:t>
            </a:r>
          </a:p>
          <a:p>
            <a:r>
              <a:rPr lang="en-US" sz="1200" kern="1200" baseline="0" dirty="0">
                <a:solidFill>
                  <a:schemeClr val="tx1"/>
                </a:solidFill>
                <a:latin typeface="+mn-lt"/>
                <a:ea typeface="+mn-ea"/>
                <a:cs typeface="+mn-cs"/>
              </a:rPr>
              <a:t>and protection and locking information.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Chain pointer: </a:t>
            </a:r>
            <a:r>
              <a:rPr lang="en-US" sz="1200" b="0" kern="1200" baseline="0" dirty="0">
                <a:solidFill>
                  <a:schemeClr val="tx1"/>
                </a:solidFill>
                <a:latin typeface="+mn-lt"/>
                <a:ea typeface="+mn-ea"/>
                <a:cs typeface="+mn-cs"/>
              </a:rPr>
              <a:t>This field is null (perhaps indicated by a separate bit) if there</a:t>
            </a:r>
          </a:p>
          <a:p>
            <a:r>
              <a:rPr lang="en-US" sz="1200" kern="1200" baseline="0" dirty="0">
                <a:solidFill>
                  <a:schemeClr val="tx1"/>
                </a:solidFill>
                <a:latin typeface="+mn-lt"/>
                <a:ea typeface="+mn-ea"/>
                <a:cs typeface="+mn-cs"/>
              </a:rPr>
              <a:t>are no chained entries for this entry. Otherwise, the field contains the index</a:t>
            </a:r>
          </a:p>
          <a:p>
            <a:r>
              <a:rPr lang="en-US" sz="1200" kern="1200" baseline="0" dirty="0">
                <a:solidFill>
                  <a:schemeClr val="tx1"/>
                </a:solidFill>
                <a:latin typeface="+mn-lt"/>
                <a:ea typeface="+mn-ea"/>
                <a:cs typeface="+mn-cs"/>
              </a:rPr>
              <a:t>value (number between 0 and 2 </a:t>
            </a:r>
            <a:r>
              <a:rPr lang="en-US" sz="1200" i="1" kern="1200" baseline="30000" dirty="0" err="1">
                <a:solidFill>
                  <a:schemeClr val="tx1"/>
                </a:solidFill>
                <a:latin typeface="+mn-lt"/>
                <a:ea typeface="+mn-ea"/>
                <a:cs typeface="+mn-cs"/>
              </a:rPr>
              <a:t>m</a:t>
            </a:r>
            <a:r>
              <a:rPr lang="en-US" sz="1200" i="1" kern="1200" baseline="0" dirty="0">
                <a:solidFill>
                  <a:schemeClr val="tx1"/>
                </a:solidFill>
                <a:latin typeface="+mn-lt"/>
                <a:ea typeface="+mn-ea"/>
                <a:cs typeface="+mn-cs"/>
              </a:rPr>
              <a:t> – 1</a:t>
            </a:r>
            <a:r>
              <a:rPr lang="en-US" sz="1200" i="0" kern="1200" baseline="0" dirty="0">
                <a:solidFill>
                  <a:schemeClr val="tx1"/>
                </a:solidFill>
                <a:latin typeface="+mn-lt"/>
                <a:ea typeface="+mn-ea"/>
                <a:cs typeface="+mn-cs"/>
              </a:rPr>
              <a:t>) of the next entry in the chain.</a:t>
            </a:r>
            <a:endParaRPr lang="en-NZ" b="0" i="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extLst>
      <p:ext uri="{BB962C8B-B14F-4D97-AF65-F5344CB8AC3E}">
        <p14:creationId xmlns:p14="http://schemas.microsoft.com/office/powerpoint/2010/main" val="20748793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7500" lnSpcReduction="20000"/>
          </a:bodyPr>
          <a:lstStyle/>
          <a:p>
            <a:r>
              <a:rPr lang="en-NZ" dirty="0"/>
              <a:t>Segmentation allows the programmer to view memory as consisting of multiple address spaces or segments. </a:t>
            </a:r>
          </a:p>
          <a:p>
            <a:r>
              <a:rPr lang="en-NZ" dirty="0"/>
              <a:t>Segments may be of unequal, indeed dynamic, size. </a:t>
            </a:r>
          </a:p>
          <a:p>
            <a:r>
              <a:rPr lang="en-NZ" dirty="0"/>
              <a:t>Memory references consist of a form of address (segment number, offset).</a:t>
            </a:r>
          </a:p>
          <a:p>
            <a:endParaRPr lang="en-NZ" dirty="0"/>
          </a:p>
          <a:p>
            <a:r>
              <a:rPr lang="en-NZ" dirty="0"/>
              <a:t>This organization has a number of advantages to the programmer over a nonsegmented address space:</a:t>
            </a:r>
          </a:p>
          <a:p>
            <a:endParaRPr lang="en-NZ" dirty="0"/>
          </a:p>
          <a:p>
            <a:pPr marL="228600" indent="-228600">
              <a:buAutoNum type="arabicPeriod"/>
            </a:pPr>
            <a:r>
              <a:rPr lang="en-NZ" b="1" dirty="0"/>
              <a:t>It simplifies the handling of growing data structures</a:t>
            </a:r>
            <a:r>
              <a:rPr lang="en-NZ" dirty="0"/>
              <a:t>. </a:t>
            </a:r>
          </a:p>
          <a:p>
            <a:pPr marL="685800" lvl="1" indent="-228600">
              <a:buFont typeface="Arial" pitchFamily="34" charset="0"/>
              <a:buChar char="•"/>
            </a:pPr>
            <a:r>
              <a:rPr lang="en-NZ" dirty="0"/>
              <a:t>If the programmer doesn’t know ahead of time how large a particular data structure will become, it is necessary to guess unless dynamic segment sizes are allowed. With segmented virtual memory, the data structure can be assigned its own segment, and the operating system will expand or shrink the segment as needed. </a:t>
            </a:r>
          </a:p>
          <a:p>
            <a:pPr marL="685800" lvl="1" indent="-228600">
              <a:buFont typeface="Arial" pitchFamily="34" charset="0"/>
              <a:buChar char="•"/>
            </a:pPr>
            <a:r>
              <a:rPr lang="en-NZ" dirty="0"/>
              <a:t>If a segment that needs to be expanded is in main memory and there is insufficient room, the operating system may move the segment to a larger area of main memory, if available, or swap it out. The enlarged segment would be swapped back in at the next opportunity.</a:t>
            </a:r>
          </a:p>
          <a:p>
            <a:endParaRPr lang="en-NZ" dirty="0"/>
          </a:p>
          <a:p>
            <a:r>
              <a:rPr lang="en-NZ" dirty="0"/>
              <a:t>2. </a:t>
            </a:r>
            <a:r>
              <a:rPr lang="en-NZ" b="1" dirty="0"/>
              <a:t>It allows programs to be altered and recompiled independently, </a:t>
            </a:r>
          </a:p>
          <a:p>
            <a:pPr lvl="1">
              <a:buFont typeface="Arial" pitchFamily="34" charset="0"/>
              <a:buChar char="•"/>
            </a:pPr>
            <a:r>
              <a:rPr lang="en-NZ" b="1" dirty="0"/>
              <a:t> </a:t>
            </a:r>
            <a:r>
              <a:rPr lang="en-NZ" dirty="0"/>
              <a:t>without requiring the entire set of programs to be relinked and reloaded.</a:t>
            </a:r>
          </a:p>
          <a:p>
            <a:pPr lvl="1">
              <a:buFont typeface="Arial" pitchFamily="34" charset="0"/>
              <a:buChar char="•"/>
            </a:pPr>
            <a:r>
              <a:rPr lang="en-NZ" dirty="0"/>
              <a:t> Again, this is accomplished using multiple segments.</a:t>
            </a:r>
          </a:p>
          <a:p>
            <a:pPr lvl="1">
              <a:buFont typeface="Arial" pitchFamily="34" charset="0"/>
              <a:buNone/>
            </a:pPr>
            <a:endParaRPr lang="en-NZ" dirty="0"/>
          </a:p>
          <a:p>
            <a:r>
              <a:rPr lang="en-NZ" dirty="0"/>
              <a:t>3. </a:t>
            </a:r>
            <a:r>
              <a:rPr lang="en-NZ" b="1" dirty="0"/>
              <a:t>It lends itself to sharing among processes</a:t>
            </a:r>
            <a:r>
              <a:rPr lang="en-NZ" dirty="0"/>
              <a:t>. </a:t>
            </a:r>
          </a:p>
          <a:p>
            <a:pPr lvl="1">
              <a:buFont typeface="Arial" pitchFamily="34" charset="0"/>
              <a:buChar char="•"/>
            </a:pPr>
            <a:r>
              <a:rPr lang="en-NZ" dirty="0"/>
              <a:t> A programmer can place a utility program or a useful table of data in a segment that can be referenced by other processes.</a:t>
            </a:r>
          </a:p>
          <a:p>
            <a:pPr lvl="1">
              <a:buFont typeface="Arial" pitchFamily="34" charset="0"/>
              <a:buNone/>
            </a:pPr>
            <a:endParaRPr lang="en-NZ" dirty="0"/>
          </a:p>
          <a:p>
            <a:r>
              <a:rPr lang="en-NZ" dirty="0"/>
              <a:t>4. </a:t>
            </a:r>
            <a:r>
              <a:rPr lang="en-NZ" b="1" dirty="0"/>
              <a:t>It lends itself to protection.</a:t>
            </a:r>
          </a:p>
          <a:p>
            <a:pPr lvl="1">
              <a:buFont typeface="Arial" pitchFamily="34" charset="0"/>
              <a:buChar char="•"/>
            </a:pPr>
            <a:r>
              <a:rPr lang="en-NZ" b="1" dirty="0"/>
              <a:t> </a:t>
            </a:r>
            <a:r>
              <a:rPr lang="en-NZ" dirty="0"/>
              <a:t>Because a segment can be constructed to contain a well-defined set of programs or data, the programmer or system administrator can assign access privileges in a convenient fashion.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extLst>
      <p:ext uri="{BB962C8B-B14F-4D97-AF65-F5344CB8AC3E}">
        <p14:creationId xmlns:p14="http://schemas.microsoft.com/office/powerpoint/2010/main" val="15184918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r>
              <a:rPr lang="en-US" sz="1200" b="0" i="0" kern="1200" baseline="0" dirty="0">
                <a:solidFill>
                  <a:schemeClr val="tx1"/>
                </a:solidFill>
                <a:latin typeface="+mn-lt"/>
                <a:ea typeface="+mn-ea"/>
                <a:cs typeface="+mn-cs"/>
              </a:rPr>
              <a:t>In the discussion of simple segmentation, we indicated that each</a:t>
            </a:r>
          </a:p>
          <a:p>
            <a:r>
              <a:rPr lang="en-US" sz="1200" kern="1200" baseline="0" dirty="0">
                <a:solidFill>
                  <a:schemeClr val="tx1"/>
                </a:solidFill>
                <a:latin typeface="+mn-lt"/>
                <a:ea typeface="+mn-ea"/>
                <a:cs typeface="+mn-cs"/>
              </a:rPr>
              <a:t>process has its own segment table, and when all of its segments are loaded into main</a:t>
            </a:r>
          </a:p>
          <a:p>
            <a:r>
              <a:rPr lang="en-US" sz="1200" kern="1200" baseline="0" dirty="0">
                <a:solidFill>
                  <a:schemeClr val="tx1"/>
                </a:solidFill>
                <a:latin typeface="+mn-lt"/>
                <a:ea typeface="+mn-ea"/>
                <a:cs typeface="+mn-cs"/>
              </a:rPr>
              <a:t>memory, the segment table for a process is created and loaded into main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Each segment table entry contains the starting address of the corresponding segment</a:t>
            </a:r>
          </a:p>
          <a:p>
            <a:r>
              <a:rPr lang="en-US" sz="1200" kern="1200" baseline="0" dirty="0">
                <a:solidFill>
                  <a:schemeClr val="tx1"/>
                </a:solidFill>
                <a:latin typeface="+mn-lt"/>
                <a:ea typeface="+mn-ea"/>
                <a:cs typeface="+mn-cs"/>
              </a:rPr>
              <a:t>in main memory, as well as the length of the segment. The same device, a segment</a:t>
            </a:r>
          </a:p>
          <a:p>
            <a:r>
              <a:rPr lang="en-US" sz="1200" kern="1200" baseline="0" dirty="0">
                <a:solidFill>
                  <a:schemeClr val="tx1"/>
                </a:solidFill>
                <a:latin typeface="+mn-lt"/>
                <a:ea typeface="+mn-ea"/>
                <a:cs typeface="+mn-cs"/>
              </a:rPr>
              <a:t>table, is needed when we consider a virtual memory scheme based on segmentation.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Again, it is typical to associate a unique segment table with each process. In this</a:t>
            </a:r>
          </a:p>
          <a:p>
            <a:r>
              <a:rPr lang="en-US" sz="1200" kern="1200" baseline="0" dirty="0">
                <a:solidFill>
                  <a:schemeClr val="tx1"/>
                </a:solidFill>
                <a:latin typeface="+mn-lt"/>
                <a:ea typeface="+mn-ea"/>
                <a:cs typeface="+mn-cs"/>
              </a:rPr>
              <a:t>case, however, the segment table entries become more complex ( Figure 8.1b ).</a:t>
            </a:r>
          </a:p>
          <a:p>
            <a:r>
              <a:rPr lang="en-US" sz="1200" kern="1200" baseline="0" dirty="0">
                <a:solidFill>
                  <a:schemeClr val="tx1"/>
                </a:solidFill>
                <a:latin typeface="+mn-lt"/>
                <a:ea typeface="+mn-ea"/>
                <a:cs typeface="+mn-cs"/>
              </a:rPr>
              <a:t>Because only some of the segments of a process may be in main memory, a bit is</a:t>
            </a:r>
          </a:p>
          <a:p>
            <a:r>
              <a:rPr lang="en-US" sz="1200" kern="1200" baseline="0" dirty="0">
                <a:solidFill>
                  <a:schemeClr val="tx1"/>
                </a:solidFill>
                <a:latin typeface="+mn-lt"/>
                <a:ea typeface="+mn-ea"/>
                <a:cs typeface="+mn-cs"/>
              </a:rPr>
              <a:t>needed in each segment table entry to indicate whether the corresponding segment</a:t>
            </a:r>
          </a:p>
          <a:p>
            <a:r>
              <a:rPr lang="en-US" sz="1200" kern="1200" baseline="0" dirty="0">
                <a:solidFill>
                  <a:schemeClr val="tx1"/>
                </a:solidFill>
                <a:latin typeface="+mn-lt"/>
                <a:ea typeface="+mn-ea"/>
                <a:cs typeface="+mn-cs"/>
              </a:rPr>
              <a:t>is present in main memory or not. If the bit indicates that the segment is in memory,</a:t>
            </a:r>
          </a:p>
          <a:p>
            <a:r>
              <a:rPr lang="en-US" sz="1200" kern="1200" baseline="0" dirty="0">
                <a:solidFill>
                  <a:schemeClr val="tx1"/>
                </a:solidFill>
                <a:latin typeface="+mn-lt"/>
                <a:ea typeface="+mn-ea"/>
                <a:cs typeface="+mn-cs"/>
              </a:rPr>
              <a:t>then the entry also includes the starting address and length of that segment.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control bit in the segmentation table entry is a modify bit, indicating</a:t>
            </a:r>
          </a:p>
          <a:p>
            <a:r>
              <a:rPr lang="en-US" sz="1200" kern="1200" baseline="0" dirty="0">
                <a:solidFill>
                  <a:schemeClr val="tx1"/>
                </a:solidFill>
                <a:latin typeface="+mn-lt"/>
                <a:ea typeface="+mn-ea"/>
                <a:cs typeface="+mn-cs"/>
              </a:rPr>
              <a:t>whether the contents of the corresponding segment have been altered since the segment</a:t>
            </a:r>
          </a:p>
          <a:p>
            <a:r>
              <a:rPr lang="en-US" sz="1200" kern="1200" baseline="0" dirty="0">
                <a:solidFill>
                  <a:schemeClr val="tx1"/>
                </a:solidFill>
                <a:latin typeface="+mn-lt"/>
                <a:ea typeface="+mn-ea"/>
                <a:cs typeface="+mn-cs"/>
              </a:rPr>
              <a:t>was last loaded into main memory. If there has been no change, then it is not</a:t>
            </a:r>
          </a:p>
          <a:p>
            <a:r>
              <a:rPr lang="en-US" sz="1200" kern="1200" baseline="0" dirty="0">
                <a:solidFill>
                  <a:schemeClr val="tx1"/>
                </a:solidFill>
                <a:latin typeface="+mn-lt"/>
                <a:ea typeface="+mn-ea"/>
                <a:cs typeface="+mn-cs"/>
              </a:rPr>
              <a:t>necessary to write the segment out when it comes time to replace the segment in the</a:t>
            </a:r>
          </a:p>
          <a:p>
            <a:r>
              <a:rPr lang="en-US" sz="1200" kern="1200" baseline="0" dirty="0">
                <a:solidFill>
                  <a:schemeClr val="tx1"/>
                </a:solidFill>
                <a:latin typeface="+mn-lt"/>
                <a:ea typeface="+mn-ea"/>
                <a:cs typeface="+mn-cs"/>
              </a:rPr>
              <a:t>frame that it currently occupies.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Other control bits may also be present. For example,</a:t>
            </a:r>
          </a:p>
          <a:p>
            <a:r>
              <a:rPr lang="en-US" sz="1200" kern="1200" baseline="0" dirty="0">
                <a:solidFill>
                  <a:schemeClr val="tx1"/>
                </a:solidFill>
                <a:latin typeface="+mn-lt"/>
                <a:ea typeface="+mn-ea"/>
                <a:cs typeface="+mn-cs"/>
              </a:rPr>
              <a:t>if protection or sharing is managed at the segment level, then bits for that purpose</a:t>
            </a:r>
          </a:p>
          <a:p>
            <a:r>
              <a:rPr lang="en-US" sz="1200" kern="1200" baseline="0" dirty="0">
                <a:solidFill>
                  <a:schemeClr val="tx1"/>
                </a:solidFill>
                <a:latin typeface="+mn-lt"/>
                <a:ea typeface="+mn-ea"/>
                <a:cs typeface="+mn-cs"/>
              </a:rPr>
              <a:t>will be required.</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extLst>
      <p:ext uri="{BB962C8B-B14F-4D97-AF65-F5344CB8AC3E}">
        <p14:creationId xmlns:p14="http://schemas.microsoft.com/office/powerpoint/2010/main" val="37352243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Both paging and segmentation have their strengths.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Paging, which is transparent</a:t>
            </a:r>
          </a:p>
          <a:p>
            <a:r>
              <a:rPr lang="en-US" sz="1200" kern="1200" baseline="0" dirty="0">
                <a:solidFill>
                  <a:schemeClr val="tx1"/>
                </a:solidFill>
                <a:latin typeface="+mn-lt"/>
                <a:ea typeface="+mn-ea"/>
                <a:cs typeface="+mn-cs"/>
              </a:rPr>
              <a:t>to the programmer, eliminates external fragmentation and thus provides efficient</a:t>
            </a:r>
          </a:p>
          <a:p>
            <a:r>
              <a:rPr lang="en-US" sz="1200" kern="1200" baseline="0" dirty="0">
                <a:solidFill>
                  <a:schemeClr val="tx1"/>
                </a:solidFill>
                <a:latin typeface="+mn-lt"/>
                <a:ea typeface="+mn-ea"/>
                <a:cs typeface="+mn-cs"/>
              </a:rPr>
              <a:t>use of main memory. In addition, because the pieces that are moved in and out of</a:t>
            </a:r>
          </a:p>
          <a:p>
            <a:r>
              <a:rPr lang="en-US" sz="1200" kern="1200" baseline="0" dirty="0">
                <a:solidFill>
                  <a:schemeClr val="tx1"/>
                </a:solidFill>
                <a:latin typeface="+mn-lt"/>
                <a:ea typeface="+mn-ea"/>
                <a:cs typeface="+mn-cs"/>
              </a:rPr>
              <a:t>main memory are of fixed, equal size, it is possible to develop sophisticated memory</a:t>
            </a:r>
          </a:p>
          <a:p>
            <a:r>
              <a:rPr lang="en-US" sz="1200" kern="1200" baseline="0" dirty="0">
                <a:solidFill>
                  <a:schemeClr val="tx1"/>
                </a:solidFill>
                <a:latin typeface="+mn-lt"/>
                <a:ea typeface="+mn-ea"/>
                <a:cs typeface="+mn-cs"/>
              </a:rPr>
              <a:t>management algorithms that exploit the behavior of programs, as we shall see.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Segmentation, which is visible to the programmer, has the strengths listed earlier,</a:t>
            </a:r>
          </a:p>
          <a:p>
            <a:r>
              <a:rPr lang="en-US" sz="1200" kern="1200" baseline="0" dirty="0">
                <a:solidFill>
                  <a:schemeClr val="tx1"/>
                </a:solidFill>
                <a:latin typeface="+mn-lt"/>
                <a:ea typeface="+mn-ea"/>
                <a:cs typeface="+mn-cs"/>
              </a:rPr>
              <a:t>including the ability to handle growing data structures, modularity, and support</a:t>
            </a:r>
          </a:p>
          <a:p>
            <a:r>
              <a:rPr lang="en-US" sz="1200" kern="1200" baseline="0" dirty="0">
                <a:solidFill>
                  <a:schemeClr val="tx1"/>
                </a:solidFill>
                <a:latin typeface="+mn-lt"/>
                <a:ea typeface="+mn-ea"/>
                <a:cs typeface="+mn-cs"/>
              </a:rPr>
              <a:t>for sharing and protection.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combine the advantages of both, some systems are</a:t>
            </a:r>
          </a:p>
          <a:p>
            <a:r>
              <a:rPr lang="en-US" sz="1200" kern="1200" baseline="0" dirty="0">
                <a:solidFill>
                  <a:schemeClr val="tx1"/>
                </a:solidFill>
                <a:latin typeface="+mn-lt"/>
                <a:ea typeface="+mn-ea"/>
                <a:cs typeface="+mn-cs"/>
              </a:rPr>
              <a:t>equipped with processor hardware and operating system software to provide both.</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 combined paging/segmentation system, a user’s address space is broken</a:t>
            </a:r>
          </a:p>
          <a:p>
            <a:r>
              <a:rPr lang="en-US" sz="1200" kern="1200" baseline="0" dirty="0">
                <a:solidFill>
                  <a:schemeClr val="tx1"/>
                </a:solidFill>
                <a:latin typeface="+mn-lt"/>
                <a:ea typeface="+mn-ea"/>
                <a:cs typeface="+mn-cs"/>
              </a:rPr>
              <a:t>up into a number of segments, at the discretion of the programmer.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Each segment</a:t>
            </a:r>
          </a:p>
          <a:p>
            <a:r>
              <a:rPr lang="en-US" sz="1200" kern="1200" baseline="0" dirty="0">
                <a:solidFill>
                  <a:schemeClr val="tx1"/>
                </a:solidFill>
                <a:latin typeface="+mn-lt"/>
                <a:ea typeface="+mn-ea"/>
                <a:cs typeface="+mn-cs"/>
              </a:rPr>
              <a:t>is, in turn, broken up into a number of fixed-size pages, which are equal in length to</a:t>
            </a:r>
          </a:p>
          <a:p>
            <a:r>
              <a:rPr lang="en-US" sz="1200" kern="1200" baseline="0" dirty="0">
                <a:solidFill>
                  <a:schemeClr val="tx1"/>
                </a:solidFill>
                <a:latin typeface="+mn-lt"/>
                <a:ea typeface="+mn-ea"/>
                <a:cs typeface="+mn-cs"/>
              </a:rPr>
              <a:t>a main memory frame.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If a segment has length less than that of a page, the segment</a:t>
            </a:r>
          </a:p>
          <a:p>
            <a:r>
              <a:rPr lang="en-US" sz="1200" kern="1200" baseline="0" dirty="0">
                <a:solidFill>
                  <a:schemeClr val="tx1"/>
                </a:solidFill>
                <a:latin typeface="+mn-lt"/>
                <a:ea typeface="+mn-ea"/>
                <a:cs typeface="+mn-cs"/>
              </a:rPr>
              <a:t>occupies just one page.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From the programmer’s point of view, a logical address still</a:t>
            </a:r>
          </a:p>
          <a:p>
            <a:r>
              <a:rPr lang="en-US" sz="1200" kern="1200" baseline="0" dirty="0">
                <a:solidFill>
                  <a:schemeClr val="tx1"/>
                </a:solidFill>
                <a:latin typeface="+mn-lt"/>
                <a:ea typeface="+mn-ea"/>
                <a:cs typeface="+mn-cs"/>
              </a:rPr>
              <a:t>consists of a segment number and a segment offset. From the system’s point of view,</a:t>
            </a:r>
          </a:p>
          <a:p>
            <a:r>
              <a:rPr lang="en-US" sz="1200" kern="1200" baseline="0" dirty="0">
                <a:solidFill>
                  <a:schemeClr val="tx1"/>
                </a:solidFill>
                <a:latin typeface="+mn-lt"/>
                <a:ea typeface="+mn-ea"/>
                <a:cs typeface="+mn-cs"/>
              </a:rPr>
              <a:t>the segment offset is viewed as a page number and page offset for a page within the</a:t>
            </a:r>
          </a:p>
          <a:p>
            <a:r>
              <a:rPr lang="en-US" sz="1200" kern="1200" baseline="0" dirty="0">
                <a:solidFill>
                  <a:schemeClr val="tx1"/>
                </a:solidFill>
                <a:latin typeface="+mn-lt"/>
                <a:ea typeface="+mn-ea"/>
                <a:cs typeface="+mn-cs"/>
              </a:rPr>
              <a:t>specified segment.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extLst>
      <p:ext uri="{BB962C8B-B14F-4D97-AF65-F5344CB8AC3E}">
        <p14:creationId xmlns:p14="http://schemas.microsoft.com/office/powerpoint/2010/main" val="40690163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The design of the memory management portion of an operating system depends on</a:t>
            </a:r>
          </a:p>
          <a:p>
            <a:r>
              <a:rPr lang="en-US" sz="1200" kern="1200" baseline="0" dirty="0">
                <a:solidFill>
                  <a:schemeClr val="tx1"/>
                </a:solidFill>
                <a:latin typeface="+mn-lt"/>
                <a:ea typeface="+mn-ea"/>
                <a:cs typeface="+mn-cs"/>
              </a:rPr>
              <a:t>three fundamental areas of choice: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Whether or not to use virtual memory techniques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use of paging or segmentation or both</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algorithms employed for various aspects of memory management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choices made in the first two areas depend on the hardware platform available.</a:t>
            </a:r>
          </a:p>
          <a:p>
            <a:r>
              <a:rPr lang="en-US" sz="1200" kern="1200" baseline="0" dirty="0">
                <a:solidFill>
                  <a:schemeClr val="tx1"/>
                </a:solidFill>
                <a:latin typeface="+mn-lt"/>
                <a:ea typeface="+mn-ea"/>
                <a:cs typeface="+mn-cs"/>
              </a:rPr>
              <a:t>Thus, earlier UNIX implementations did not provide virtual memory because the</a:t>
            </a:r>
          </a:p>
          <a:p>
            <a:r>
              <a:rPr lang="en-US" sz="1200" kern="1200" baseline="0" dirty="0">
                <a:solidFill>
                  <a:schemeClr val="tx1"/>
                </a:solidFill>
                <a:latin typeface="+mn-lt"/>
                <a:ea typeface="+mn-ea"/>
                <a:cs typeface="+mn-cs"/>
              </a:rPr>
              <a:t>processors on which the system ran did not support paging or segmentation. Neither</a:t>
            </a:r>
          </a:p>
          <a:p>
            <a:r>
              <a:rPr lang="en-US" sz="1200" kern="1200" baseline="0" dirty="0">
                <a:solidFill>
                  <a:schemeClr val="tx1"/>
                </a:solidFill>
                <a:latin typeface="+mn-lt"/>
                <a:ea typeface="+mn-ea"/>
                <a:cs typeface="+mn-cs"/>
              </a:rPr>
              <a:t>of these techniques is practical without hardware support for address translation</a:t>
            </a:r>
          </a:p>
          <a:p>
            <a:r>
              <a:rPr lang="en-US" sz="1200" kern="1200" baseline="0" dirty="0">
                <a:solidFill>
                  <a:schemeClr val="tx1"/>
                </a:solidFill>
                <a:latin typeface="+mn-lt"/>
                <a:ea typeface="+mn-ea"/>
                <a:cs typeface="+mn-cs"/>
              </a:rPr>
              <a:t>and other basic functions.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Two additional comments about the first two items in the preceding list: First,</a:t>
            </a:r>
          </a:p>
          <a:p>
            <a:r>
              <a:rPr lang="en-US" sz="1200" kern="1200" baseline="0" dirty="0">
                <a:solidFill>
                  <a:schemeClr val="tx1"/>
                </a:solidFill>
                <a:latin typeface="+mn-lt"/>
                <a:ea typeface="+mn-ea"/>
                <a:cs typeface="+mn-cs"/>
              </a:rPr>
              <a:t>with the exception of operating systems for some of the older personal computers,</a:t>
            </a:r>
          </a:p>
          <a:p>
            <a:r>
              <a:rPr lang="en-US" sz="1200" kern="1200" baseline="0" dirty="0">
                <a:solidFill>
                  <a:schemeClr val="tx1"/>
                </a:solidFill>
                <a:latin typeface="+mn-lt"/>
                <a:ea typeface="+mn-ea"/>
                <a:cs typeface="+mn-cs"/>
              </a:rPr>
              <a:t>such as MS-DOS, and specialized systems, all </a:t>
            </a:r>
            <a:r>
              <a:rPr lang="en-US" sz="1200" b="1" kern="1200" baseline="0" dirty="0">
                <a:solidFill>
                  <a:schemeClr val="tx1"/>
                </a:solidFill>
                <a:latin typeface="+mn-lt"/>
                <a:ea typeface="+mn-ea"/>
                <a:cs typeface="+mn-cs"/>
              </a:rPr>
              <a:t>important operating systems provide</a:t>
            </a:r>
          </a:p>
          <a:p>
            <a:r>
              <a:rPr lang="en-US" sz="1200" b="1" kern="1200" baseline="0" dirty="0">
                <a:solidFill>
                  <a:schemeClr val="tx1"/>
                </a:solidFill>
                <a:latin typeface="+mn-lt"/>
                <a:ea typeface="+mn-ea"/>
                <a:cs typeface="+mn-cs"/>
              </a:rPr>
              <a:t>virtual memory</a:t>
            </a:r>
            <a:r>
              <a:rPr lang="en-US" sz="1200" kern="1200" baseline="0" dirty="0">
                <a:solidFill>
                  <a:schemeClr val="tx1"/>
                </a:solidFill>
                <a:latin typeface="+mn-lt"/>
                <a:ea typeface="+mn-ea"/>
                <a:cs typeface="+mn-cs"/>
              </a:rPr>
              <a:t>. </a:t>
            </a:r>
          </a:p>
          <a:p>
            <a:endParaRPr lang="en-US" sz="120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Second, pure segmentation systems are becoming increasingly rare.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segmentation is combined with paging, most of the memory management</a:t>
            </a:r>
          </a:p>
          <a:p>
            <a:r>
              <a:rPr lang="en-US" sz="1200" kern="1200" baseline="0" dirty="0">
                <a:solidFill>
                  <a:schemeClr val="tx1"/>
                </a:solidFill>
                <a:latin typeface="+mn-lt"/>
                <a:ea typeface="+mn-ea"/>
                <a:cs typeface="+mn-cs"/>
              </a:rPr>
              <a:t>issues confronting the operating system designer are in the area of paging. Thus,</a:t>
            </a:r>
          </a:p>
          <a:p>
            <a:r>
              <a:rPr lang="en-US" sz="1200" kern="1200" baseline="0" dirty="0">
                <a:solidFill>
                  <a:schemeClr val="tx1"/>
                </a:solidFill>
                <a:latin typeface="+mn-lt"/>
                <a:ea typeface="+mn-ea"/>
                <a:cs typeface="+mn-cs"/>
              </a:rPr>
              <a:t>we can concentrate in this section on the issues associated with paging.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choices related to the third item are the domain of operating system software</a:t>
            </a:r>
          </a:p>
          <a:p>
            <a:r>
              <a:rPr lang="en-US" sz="1200" kern="1200" baseline="0" dirty="0">
                <a:solidFill>
                  <a:schemeClr val="tx1"/>
                </a:solidFill>
                <a:latin typeface="+mn-lt"/>
                <a:ea typeface="+mn-ea"/>
                <a:cs typeface="+mn-cs"/>
              </a:rPr>
              <a:t>and are the subject of this section.</a:t>
            </a:r>
            <a:endParaRPr lang="en-NZ" baseline="0" dirty="0"/>
          </a:p>
          <a:p>
            <a:pPr lvl="0"/>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extLst>
      <p:ext uri="{BB962C8B-B14F-4D97-AF65-F5344CB8AC3E}">
        <p14:creationId xmlns:p14="http://schemas.microsoft.com/office/powerpoint/2010/main" val="1548548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fetch policy determines when a page should be brought into main memory. The</a:t>
            </a:r>
          </a:p>
          <a:p>
            <a:r>
              <a:rPr lang="en-US" sz="1200" kern="1200" baseline="0" dirty="0">
                <a:solidFill>
                  <a:schemeClr val="tx1"/>
                </a:solidFill>
                <a:latin typeface="+mn-lt"/>
                <a:ea typeface="+mn-ea"/>
                <a:cs typeface="+mn-cs"/>
              </a:rPr>
              <a:t>two common alternatives are demand paging and </a:t>
            </a:r>
            <a:r>
              <a:rPr lang="en-US" sz="1200" kern="1200" baseline="0" dirty="0" err="1">
                <a:solidFill>
                  <a:schemeClr val="tx1"/>
                </a:solidFill>
                <a:latin typeface="+mn-lt"/>
                <a:ea typeface="+mn-ea"/>
                <a:cs typeface="+mn-cs"/>
              </a:rPr>
              <a:t>prepaging</a:t>
            </a:r>
            <a:r>
              <a:rPr lang="en-US" sz="1200"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extLst>
      <p:ext uri="{BB962C8B-B14F-4D97-AF65-F5344CB8AC3E}">
        <p14:creationId xmlns:p14="http://schemas.microsoft.com/office/powerpoint/2010/main" val="42917074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With </a:t>
            </a:r>
            <a:r>
              <a:rPr lang="en-US" sz="1200" b="1" kern="1200" baseline="0" dirty="0">
                <a:solidFill>
                  <a:schemeClr val="tx1"/>
                </a:solidFill>
                <a:latin typeface="+mn-lt"/>
                <a:ea typeface="+mn-ea"/>
                <a:cs typeface="+mn-cs"/>
              </a:rPr>
              <a:t>demand paging ,</a:t>
            </a:r>
          </a:p>
          <a:p>
            <a:r>
              <a:rPr lang="en-US" sz="1200" kern="1200" baseline="0" dirty="0">
                <a:solidFill>
                  <a:schemeClr val="tx1"/>
                </a:solidFill>
                <a:latin typeface="+mn-lt"/>
                <a:ea typeface="+mn-ea"/>
                <a:cs typeface="+mn-cs"/>
              </a:rPr>
              <a:t>a page is brought into main memory only when a reference is made to a location on</a:t>
            </a:r>
          </a:p>
          <a:p>
            <a:r>
              <a:rPr lang="en-US" sz="1200" kern="1200" baseline="0" dirty="0">
                <a:solidFill>
                  <a:schemeClr val="tx1"/>
                </a:solidFill>
                <a:latin typeface="+mn-lt"/>
                <a:ea typeface="+mn-ea"/>
                <a:cs typeface="+mn-cs"/>
              </a:rPr>
              <a:t>that page.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If the other elements of memory management policy are good, the following</a:t>
            </a:r>
          </a:p>
          <a:p>
            <a:r>
              <a:rPr lang="en-US" sz="1200" kern="1200" baseline="0" dirty="0">
                <a:solidFill>
                  <a:schemeClr val="tx1"/>
                </a:solidFill>
                <a:latin typeface="+mn-lt"/>
                <a:ea typeface="+mn-ea"/>
                <a:cs typeface="+mn-cs"/>
              </a:rPr>
              <a:t>should happen. When a process is first started, there will be a flurry of page</a:t>
            </a:r>
          </a:p>
          <a:p>
            <a:r>
              <a:rPr lang="en-US" sz="1200" kern="1200" baseline="0" dirty="0">
                <a:solidFill>
                  <a:schemeClr val="tx1"/>
                </a:solidFill>
                <a:latin typeface="+mn-lt"/>
                <a:ea typeface="+mn-ea"/>
                <a:cs typeface="+mn-cs"/>
              </a:rPr>
              <a:t>faults.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As more and more pages are brought in, the principle of locality suggests that</a:t>
            </a:r>
          </a:p>
          <a:p>
            <a:r>
              <a:rPr lang="en-US" sz="1200" kern="1200" baseline="0" dirty="0">
                <a:solidFill>
                  <a:schemeClr val="tx1"/>
                </a:solidFill>
                <a:latin typeface="+mn-lt"/>
                <a:ea typeface="+mn-ea"/>
                <a:cs typeface="+mn-cs"/>
              </a:rPr>
              <a:t>most future references will be to pages that have recently been brought in. Thus,</a:t>
            </a:r>
          </a:p>
          <a:p>
            <a:r>
              <a:rPr lang="en-US" sz="1200" kern="1200" baseline="0" dirty="0">
                <a:solidFill>
                  <a:schemeClr val="tx1"/>
                </a:solidFill>
                <a:latin typeface="+mn-lt"/>
                <a:ea typeface="+mn-ea"/>
                <a:cs typeface="+mn-cs"/>
              </a:rPr>
              <a:t>after a time, matters should settle down and the number of page faults should drop</a:t>
            </a:r>
          </a:p>
          <a:p>
            <a:r>
              <a:rPr lang="en-US" sz="1200" kern="1200" baseline="0" dirty="0">
                <a:solidFill>
                  <a:schemeClr val="tx1"/>
                </a:solidFill>
                <a:latin typeface="+mn-lt"/>
                <a:ea typeface="+mn-ea"/>
                <a:cs typeface="+mn-cs"/>
              </a:rPr>
              <a:t>to a very low level.</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extLst>
      <p:ext uri="{BB962C8B-B14F-4D97-AF65-F5344CB8AC3E}">
        <p14:creationId xmlns:p14="http://schemas.microsoft.com/office/powerpoint/2010/main" val="4676544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With </a:t>
            </a:r>
            <a:r>
              <a:rPr lang="en-US" sz="1200" b="1" kern="1200" baseline="0" dirty="0" err="1">
                <a:solidFill>
                  <a:schemeClr val="tx1"/>
                </a:solidFill>
                <a:latin typeface="+mn-lt"/>
                <a:ea typeface="+mn-ea"/>
                <a:cs typeface="+mn-cs"/>
              </a:rPr>
              <a:t>prepaging</a:t>
            </a:r>
            <a:r>
              <a:rPr lang="en-US" sz="1200" b="1" kern="1200" baseline="0" dirty="0">
                <a:solidFill>
                  <a:schemeClr val="tx1"/>
                </a:solidFill>
                <a:latin typeface="+mn-lt"/>
                <a:ea typeface="+mn-ea"/>
                <a:cs typeface="+mn-cs"/>
              </a:rPr>
              <a:t> , </a:t>
            </a:r>
            <a:r>
              <a:rPr lang="en-US" sz="1200" b="0" kern="1200" baseline="0" dirty="0">
                <a:solidFill>
                  <a:schemeClr val="tx1"/>
                </a:solidFill>
                <a:latin typeface="+mn-lt"/>
                <a:ea typeface="+mn-ea"/>
                <a:cs typeface="+mn-cs"/>
              </a:rPr>
              <a:t>pages other than the one demanded by a page fault are</a:t>
            </a:r>
          </a:p>
          <a:p>
            <a:r>
              <a:rPr lang="en-US" sz="1200" kern="1200" baseline="0" dirty="0">
                <a:solidFill>
                  <a:schemeClr val="tx1"/>
                </a:solidFill>
                <a:latin typeface="+mn-lt"/>
                <a:ea typeface="+mn-ea"/>
                <a:cs typeface="+mn-cs"/>
              </a:rPr>
              <a:t>brought in. </a:t>
            </a:r>
          </a:p>
          <a:p>
            <a:endParaRPr lang="en-US" sz="1200" kern="1200" baseline="0" dirty="0">
              <a:solidFill>
                <a:schemeClr val="tx1"/>
              </a:solidFill>
              <a:latin typeface="+mn-lt"/>
              <a:ea typeface="+mn-ea"/>
              <a:cs typeface="+mn-cs"/>
            </a:endParaRPr>
          </a:p>
          <a:p>
            <a:r>
              <a:rPr lang="en-US" sz="1200" kern="1200" baseline="0" dirty="0" err="1">
                <a:solidFill>
                  <a:schemeClr val="tx1"/>
                </a:solidFill>
                <a:latin typeface="+mn-lt"/>
                <a:ea typeface="+mn-ea"/>
                <a:cs typeface="+mn-cs"/>
              </a:rPr>
              <a:t>Prepaging</a:t>
            </a:r>
            <a:r>
              <a:rPr lang="en-US" sz="1200" kern="1200" baseline="0" dirty="0">
                <a:solidFill>
                  <a:schemeClr val="tx1"/>
                </a:solidFill>
                <a:latin typeface="+mn-lt"/>
                <a:ea typeface="+mn-ea"/>
                <a:cs typeface="+mn-cs"/>
              </a:rPr>
              <a:t> exploits the characteristics of most secondary memory</a:t>
            </a:r>
          </a:p>
          <a:p>
            <a:r>
              <a:rPr lang="en-US" sz="1200" kern="1200" baseline="0" dirty="0">
                <a:solidFill>
                  <a:schemeClr val="tx1"/>
                </a:solidFill>
                <a:latin typeface="+mn-lt"/>
                <a:ea typeface="+mn-ea"/>
                <a:cs typeface="+mn-cs"/>
              </a:rPr>
              <a:t>devices, such as disks, which have seek times and rotational latency.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If the pages of</a:t>
            </a:r>
          </a:p>
          <a:p>
            <a:r>
              <a:rPr lang="en-US" sz="1200" kern="1200" baseline="0" dirty="0">
                <a:solidFill>
                  <a:schemeClr val="tx1"/>
                </a:solidFill>
                <a:latin typeface="+mn-lt"/>
                <a:ea typeface="+mn-ea"/>
                <a:cs typeface="+mn-cs"/>
              </a:rPr>
              <a:t>a process are stored contiguously in secondary memory, then it is more efficient to</a:t>
            </a:r>
          </a:p>
          <a:p>
            <a:r>
              <a:rPr lang="en-US" sz="1200" kern="1200" baseline="0" dirty="0">
                <a:solidFill>
                  <a:schemeClr val="tx1"/>
                </a:solidFill>
                <a:latin typeface="+mn-lt"/>
                <a:ea typeface="+mn-ea"/>
                <a:cs typeface="+mn-cs"/>
              </a:rPr>
              <a:t>bring in a number of contiguous pages at one time rather than bringing them in one</a:t>
            </a:r>
          </a:p>
          <a:p>
            <a:r>
              <a:rPr lang="en-US" sz="1200" kern="1200" baseline="0" dirty="0">
                <a:solidFill>
                  <a:schemeClr val="tx1"/>
                </a:solidFill>
                <a:latin typeface="+mn-lt"/>
                <a:ea typeface="+mn-ea"/>
                <a:cs typeface="+mn-cs"/>
              </a:rPr>
              <a:t>at a time over an extended period.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Of course, this policy is ineffective if most of the</a:t>
            </a:r>
          </a:p>
          <a:p>
            <a:r>
              <a:rPr lang="en-US" sz="1200" kern="1200" baseline="0" dirty="0">
                <a:solidFill>
                  <a:schemeClr val="tx1"/>
                </a:solidFill>
                <a:latin typeface="+mn-lt"/>
                <a:ea typeface="+mn-ea"/>
                <a:cs typeface="+mn-cs"/>
              </a:rPr>
              <a:t>extra pages that are brought in are not referenced.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t>
            </a:r>
            <a:r>
              <a:rPr lang="en-US" sz="1200" kern="1200" baseline="0" dirty="0" err="1">
                <a:solidFill>
                  <a:schemeClr val="tx1"/>
                </a:solidFill>
                <a:latin typeface="+mn-lt"/>
                <a:ea typeface="+mn-ea"/>
                <a:cs typeface="+mn-cs"/>
              </a:rPr>
              <a:t>prepaging</a:t>
            </a:r>
            <a:r>
              <a:rPr lang="en-US" sz="1200" kern="1200" baseline="0" dirty="0">
                <a:solidFill>
                  <a:schemeClr val="tx1"/>
                </a:solidFill>
                <a:latin typeface="+mn-lt"/>
                <a:ea typeface="+mn-ea"/>
                <a:cs typeface="+mn-cs"/>
              </a:rPr>
              <a:t> policy could be employed either when a process first starts up,</a:t>
            </a:r>
          </a:p>
          <a:p>
            <a:r>
              <a:rPr lang="en-US" sz="1200" kern="1200" baseline="0" dirty="0">
                <a:solidFill>
                  <a:schemeClr val="tx1"/>
                </a:solidFill>
                <a:latin typeface="+mn-lt"/>
                <a:ea typeface="+mn-ea"/>
                <a:cs typeface="+mn-cs"/>
              </a:rPr>
              <a:t>in which case the programmer would somehow have to designate desired pages, or</a:t>
            </a:r>
          </a:p>
          <a:p>
            <a:r>
              <a:rPr lang="en-US" sz="1200" kern="1200" baseline="0" dirty="0">
                <a:solidFill>
                  <a:schemeClr val="tx1"/>
                </a:solidFill>
                <a:latin typeface="+mn-lt"/>
                <a:ea typeface="+mn-ea"/>
                <a:cs typeface="+mn-cs"/>
              </a:rPr>
              <a:t>every time a page fault occurs. This latter course would seem preferable because</a:t>
            </a:r>
          </a:p>
          <a:p>
            <a:r>
              <a:rPr lang="en-US" sz="1200" kern="1200" baseline="0" dirty="0">
                <a:solidFill>
                  <a:schemeClr val="tx1"/>
                </a:solidFill>
                <a:latin typeface="+mn-lt"/>
                <a:ea typeface="+mn-ea"/>
                <a:cs typeface="+mn-cs"/>
              </a:rPr>
              <a:t>it is invisible to the programmer. </a:t>
            </a:r>
          </a:p>
          <a:p>
            <a:endParaRPr lang="en-US" sz="1200" kern="1200" baseline="0" dirty="0">
              <a:solidFill>
                <a:schemeClr val="tx1"/>
              </a:solidFill>
              <a:latin typeface="+mn-lt"/>
              <a:ea typeface="+mn-ea"/>
              <a:cs typeface="+mn-cs"/>
            </a:endParaRPr>
          </a:p>
          <a:p>
            <a:r>
              <a:rPr lang="en-US" sz="1200" kern="1200" baseline="0" dirty="0" err="1">
                <a:solidFill>
                  <a:schemeClr val="tx1"/>
                </a:solidFill>
                <a:latin typeface="+mn-lt"/>
                <a:ea typeface="+mn-ea"/>
                <a:cs typeface="+mn-cs"/>
              </a:rPr>
              <a:t>Prepaging</a:t>
            </a:r>
            <a:r>
              <a:rPr lang="en-US" sz="1200" kern="1200" baseline="0" dirty="0">
                <a:solidFill>
                  <a:schemeClr val="tx1"/>
                </a:solidFill>
                <a:latin typeface="+mn-lt"/>
                <a:ea typeface="+mn-ea"/>
                <a:cs typeface="+mn-cs"/>
              </a:rPr>
              <a:t> should not be confused with swapping. When a process is swapped</a:t>
            </a:r>
          </a:p>
          <a:p>
            <a:r>
              <a:rPr lang="en-US" sz="1200" kern="1200" baseline="0" dirty="0">
                <a:solidFill>
                  <a:schemeClr val="tx1"/>
                </a:solidFill>
                <a:latin typeface="+mn-lt"/>
                <a:ea typeface="+mn-ea"/>
                <a:cs typeface="+mn-cs"/>
              </a:rPr>
              <a:t>out of memory and put in a suspended state, all of its resident pages are moved out.</a:t>
            </a:r>
          </a:p>
          <a:p>
            <a:r>
              <a:rPr lang="en-US" sz="1200" kern="1200" baseline="0" dirty="0">
                <a:solidFill>
                  <a:schemeClr val="tx1"/>
                </a:solidFill>
                <a:latin typeface="+mn-lt"/>
                <a:ea typeface="+mn-ea"/>
                <a:cs typeface="+mn-cs"/>
              </a:rPr>
              <a:t>When the process is resumed, all of the pages that were previously in main memory</a:t>
            </a:r>
          </a:p>
          <a:p>
            <a:r>
              <a:rPr lang="en-US" sz="1200" kern="1200" baseline="0" dirty="0">
                <a:solidFill>
                  <a:schemeClr val="tx1"/>
                </a:solidFill>
                <a:latin typeface="+mn-lt"/>
                <a:ea typeface="+mn-ea"/>
                <a:cs typeface="+mn-cs"/>
              </a:rPr>
              <a:t>are returned to main memory.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extLst>
      <p:ext uri="{BB962C8B-B14F-4D97-AF65-F5344CB8AC3E}">
        <p14:creationId xmlns:p14="http://schemas.microsoft.com/office/powerpoint/2010/main" val="6457028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The placement policy determines where in real memory a process piece is to reside.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 pure segmentation system, the placement policy is an important design issue;</a:t>
            </a:r>
          </a:p>
          <a:p>
            <a:r>
              <a:rPr lang="en-US" sz="1200" kern="1200" baseline="0" dirty="0">
                <a:solidFill>
                  <a:schemeClr val="tx1"/>
                </a:solidFill>
                <a:latin typeface="+mn-lt"/>
                <a:ea typeface="+mn-ea"/>
                <a:cs typeface="+mn-cs"/>
              </a:rPr>
              <a:t>policies such as best-fit, first-fit, and so on, which were discussed in Chapter 7 , are</a:t>
            </a:r>
          </a:p>
          <a:p>
            <a:r>
              <a:rPr lang="en-US" sz="1200" kern="1200" baseline="0" dirty="0">
                <a:solidFill>
                  <a:schemeClr val="tx1"/>
                </a:solidFill>
                <a:latin typeface="+mn-lt"/>
                <a:ea typeface="+mn-ea"/>
                <a:cs typeface="+mn-cs"/>
              </a:rPr>
              <a:t>possible alternatives. However, for a system that uses either pure paging or paging</a:t>
            </a:r>
          </a:p>
          <a:p>
            <a:r>
              <a:rPr lang="en-US" sz="1200" kern="1200" baseline="0" dirty="0">
                <a:solidFill>
                  <a:schemeClr val="tx1"/>
                </a:solidFill>
                <a:latin typeface="+mn-lt"/>
                <a:ea typeface="+mn-ea"/>
                <a:cs typeface="+mn-cs"/>
              </a:rPr>
              <a:t>combined with segmentation, placement is usually irrelevant because the address</a:t>
            </a:r>
          </a:p>
          <a:p>
            <a:r>
              <a:rPr lang="en-US" sz="1200" kern="1200" baseline="0" dirty="0">
                <a:solidFill>
                  <a:schemeClr val="tx1"/>
                </a:solidFill>
                <a:latin typeface="+mn-lt"/>
                <a:ea typeface="+mn-ea"/>
                <a:cs typeface="+mn-cs"/>
              </a:rPr>
              <a:t>translation hardware and the main memory access hardware can perform their</a:t>
            </a:r>
          </a:p>
          <a:p>
            <a:r>
              <a:rPr lang="en-US" sz="1200" kern="1200" baseline="0" dirty="0">
                <a:solidFill>
                  <a:schemeClr val="tx1"/>
                </a:solidFill>
                <a:latin typeface="+mn-lt"/>
                <a:ea typeface="+mn-ea"/>
                <a:cs typeface="+mn-cs"/>
              </a:rPr>
              <a:t>functions for any page-frame combination with equal efficiency.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is one area in which placement does become a concern, and this is a</a:t>
            </a:r>
          </a:p>
          <a:p>
            <a:r>
              <a:rPr lang="en-US" sz="1200" kern="1200" baseline="0" dirty="0">
                <a:solidFill>
                  <a:schemeClr val="tx1"/>
                </a:solidFill>
                <a:latin typeface="+mn-lt"/>
                <a:ea typeface="+mn-ea"/>
                <a:cs typeface="+mn-cs"/>
              </a:rPr>
              <a:t>subject of research and development.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 a so-called nonuniform memory access</a:t>
            </a:r>
          </a:p>
          <a:p>
            <a:r>
              <a:rPr lang="en-US" sz="1200" kern="1200" baseline="0" dirty="0">
                <a:solidFill>
                  <a:schemeClr val="tx1"/>
                </a:solidFill>
                <a:latin typeface="+mn-lt"/>
                <a:ea typeface="+mn-ea"/>
                <a:cs typeface="+mn-cs"/>
              </a:rPr>
              <a:t>(NUMA) multiprocessor, the distributed, shared memory of the machine can be</a:t>
            </a:r>
          </a:p>
          <a:p>
            <a:r>
              <a:rPr lang="en-US" sz="1200" kern="1200" baseline="0" dirty="0">
                <a:solidFill>
                  <a:schemeClr val="tx1"/>
                </a:solidFill>
                <a:latin typeface="+mn-lt"/>
                <a:ea typeface="+mn-ea"/>
                <a:cs typeface="+mn-cs"/>
              </a:rPr>
              <a:t>referenced by any processor on the machine, but the time for accessing a particular</a:t>
            </a:r>
          </a:p>
          <a:p>
            <a:r>
              <a:rPr lang="en-US" sz="1200" kern="1200" baseline="0" dirty="0">
                <a:solidFill>
                  <a:schemeClr val="tx1"/>
                </a:solidFill>
                <a:latin typeface="+mn-lt"/>
                <a:ea typeface="+mn-ea"/>
                <a:cs typeface="+mn-cs"/>
              </a:rPr>
              <a:t>physical location varies with the distance between the processor and the memory</a:t>
            </a:r>
          </a:p>
          <a:p>
            <a:r>
              <a:rPr lang="en-US" sz="1200" kern="1200" baseline="0" dirty="0">
                <a:solidFill>
                  <a:schemeClr val="tx1"/>
                </a:solidFill>
                <a:latin typeface="+mn-lt"/>
                <a:ea typeface="+mn-ea"/>
                <a:cs typeface="+mn-cs"/>
              </a:rPr>
              <a:t>module. Thus, performance depends heavily on the extent to which data reside</a:t>
            </a:r>
          </a:p>
          <a:p>
            <a:r>
              <a:rPr lang="en-US" sz="1200" kern="1200" baseline="0" dirty="0">
                <a:solidFill>
                  <a:schemeClr val="tx1"/>
                </a:solidFill>
                <a:latin typeface="+mn-lt"/>
                <a:ea typeface="+mn-ea"/>
                <a:cs typeface="+mn-cs"/>
              </a:rPr>
              <a:t>close to the processors that use them [LARO92, BOLO89, COX89]. For NUMA</a:t>
            </a:r>
          </a:p>
          <a:p>
            <a:r>
              <a:rPr lang="en-US" sz="1200" kern="1200" baseline="0" dirty="0">
                <a:solidFill>
                  <a:schemeClr val="tx1"/>
                </a:solidFill>
                <a:latin typeface="+mn-lt"/>
                <a:ea typeface="+mn-ea"/>
                <a:cs typeface="+mn-cs"/>
              </a:rPr>
              <a:t>systems, an automatic placement strategy is desirable to assign pages to the memory</a:t>
            </a:r>
          </a:p>
          <a:p>
            <a:r>
              <a:rPr lang="en-US" sz="1200" kern="1200" baseline="0" dirty="0">
                <a:solidFill>
                  <a:schemeClr val="tx1"/>
                </a:solidFill>
                <a:latin typeface="+mn-lt"/>
                <a:ea typeface="+mn-ea"/>
                <a:cs typeface="+mn-cs"/>
              </a:rPr>
              <a:t>module that provides the best performance.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extLst>
      <p:ext uri="{BB962C8B-B14F-4D97-AF65-F5344CB8AC3E}">
        <p14:creationId xmlns:p14="http://schemas.microsoft.com/office/powerpoint/2010/main" val="23629577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In most operating system texts, the treatment of memory management includes a</a:t>
            </a:r>
          </a:p>
          <a:p>
            <a:r>
              <a:rPr lang="en-US" sz="1200" kern="1200" baseline="0" dirty="0">
                <a:solidFill>
                  <a:schemeClr val="tx1"/>
                </a:solidFill>
                <a:latin typeface="+mn-lt"/>
                <a:ea typeface="+mn-ea"/>
                <a:cs typeface="+mn-cs"/>
              </a:rPr>
              <a:t>section entitled “replacement policy,” which deals with the selection of a page in</a:t>
            </a:r>
          </a:p>
          <a:p>
            <a:r>
              <a:rPr lang="en-US" sz="1200" kern="1200" baseline="0" dirty="0">
                <a:solidFill>
                  <a:schemeClr val="tx1"/>
                </a:solidFill>
                <a:latin typeface="+mn-lt"/>
                <a:ea typeface="+mn-ea"/>
                <a:cs typeface="+mn-cs"/>
              </a:rPr>
              <a:t>main memory to be replaced when a new page must be brought in. This topic is</a:t>
            </a:r>
          </a:p>
          <a:p>
            <a:r>
              <a:rPr lang="en-US" sz="1200" kern="1200" baseline="0" dirty="0">
                <a:solidFill>
                  <a:schemeClr val="tx1"/>
                </a:solidFill>
                <a:latin typeface="+mn-lt"/>
                <a:ea typeface="+mn-ea"/>
                <a:cs typeface="+mn-cs"/>
              </a:rPr>
              <a:t>sometimes difficult to explain because several interrelated concepts are involved: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How many page frames are to be allocated to each active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Whether the set of pages to be considered for replacement should be limited</a:t>
            </a:r>
          </a:p>
          <a:p>
            <a:r>
              <a:rPr lang="en-US" sz="1200" kern="1200" baseline="0" dirty="0">
                <a:solidFill>
                  <a:schemeClr val="tx1"/>
                </a:solidFill>
                <a:latin typeface="+mn-lt"/>
                <a:ea typeface="+mn-ea"/>
                <a:cs typeface="+mn-cs"/>
              </a:rPr>
              <a:t>to those of the process that caused the page fault or encompass all the page</a:t>
            </a:r>
          </a:p>
          <a:p>
            <a:r>
              <a:rPr lang="en-US" sz="1200" kern="1200" baseline="0" dirty="0">
                <a:solidFill>
                  <a:schemeClr val="tx1"/>
                </a:solidFill>
                <a:latin typeface="+mn-lt"/>
                <a:ea typeface="+mn-ea"/>
                <a:cs typeface="+mn-cs"/>
              </a:rPr>
              <a:t>frames in main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Among the set of pages considered, which particular page should be selected</a:t>
            </a:r>
          </a:p>
          <a:p>
            <a:r>
              <a:rPr lang="en-US" sz="1200" kern="1200" baseline="0" dirty="0">
                <a:solidFill>
                  <a:schemeClr val="tx1"/>
                </a:solidFill>
                <a:latin typeface="+mn-lt"/>
                <a:ea typeface="+mn-ea"/>
                <a:cs typeface="+mn-cs"/>
              </a:rPr>
              <a:t>for replacement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shall refer to the first two concepts as </a:t>
            </a:r>
            <a:r>
              <a:rPr lang="en-US" sz="1200" i="1" kern="1200" baseline="0" dirty="0">
                <a:solidFill>
                  <a:schemeClr val="tx1"/>
                </a:solidFill>
                <a:latin typeface="+mn-lt"/>
                <a:ea typeface="+mn-ea"/>
                <a:cs typeface="+mn-cs"/>
              </a:rPr>
              <a:t>resident set management , which is dealt</a:t>
            </a:r>
          </a:p>
          <a:p>
            <a:r>
              <a:rPr lang="en-US" sz="1200" kern="1200" baseline="0" dirty="0">
                <a:solidFill>
                  <a:schemeClr val="tx1"/>
                </a:solidFill>
                <a:latin typeface="+mn-lt"/>
                <a:ea typeface="+mn-ea"/>
                <a:cs typeface="+mn-cs"/>
              </a:rPr>
              <a:t>with in the next subsection, and reserve the term </a:t>
            </a:r>
            <a:r>
              <a:rPr lang="en-US" sz="1200" i="1" kern="1200" baseline="0" dirty="0">
                <a:solidFill>
                  <a:schemeClr val="tx1"/>
                </a:solidFill>
                <a:latin typeface="+mn-lt"/>
                <a:ea typeface="+mn-ea"/>
                <a:cs typeface="+mn-cs"/>
              </a:rPr>
              <a:t>replacement policy for the third</a:t>
            </a:r>
          </a:p>
          <a:p>
            <a:r>
              <a:rPr lang="en-US" sz="1200" kern="1200" baseline="0" dirty="0">
                <a:solidFill>
                  <a:schemeClr val="tx1"/>
                </a:solidFill>
                <a:latin typeface="+mn-lt"/>
                <a:ea typeface="+mn-ea"/>
                <a:cs typeface="+mn-cs"/>
              </a:rPr>
              <a:t>concept, which is discussed in this subsection.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area of replacement policy is probably the most studied of any area of</a:t>
            </a:r>
          </a:p>
          <a:p>
            <a:r>
              <a:rPr lang="en-US" sz="1200" kern="1200" baseline="0" dirty="0">
                <a:solidFill>
                  <a:schemeClr val="tx1"/>
                </a:solidFill>
                <a:latin typeface="+mn-lt"/>
                <a:ea typeface="+mn-ea"/>
                <a:cs typeface="+mn-cs"/>
              </a:rPr>
              <a:t>memory management.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all of the frames in main memory are occupied and</a:t>
            </a:r>
          </a:p>
          <a:p>
            <a:r>
              <a:rPr lang="en-US" sz="1200" kern="1200" baseline="0" dirty="0">
                <a:solidFill>
                  <a:schemeClr val="tx1"/>
                </a:solidFill>
                <a:latin typeface="+mn-lt"/>
                <a:ea typeface="+mn-ea"/>
                <a:cs typeface="+mn-cs"/>
              </a:rPr>
              <a:t>it is necessary to bring in a new page to satisfy a page fault, the replacement policy</a:t>
            </a:r>
          </a:p>
          <a:p>
            <a:r>
              <a:rPr lang="en-US" sz="1200" kern="1200" baseline="0" dirty="0">
                <a:solidFill>
                  <a:schemeClr val="tx1"/>
                </a:solidFill>
                <a:latin typeface="+mn-lt"/>
                <a:ea typeface="+mn-ea"/>
                <a:cs typeface="+mn-cs"/>
              </a:rPr>
              <a:t>determines which page currently in memory is to be replaced.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All of the policies</a:t>
            </a:r>
          </a:p>
          <a:p>
            <a:r>
              <a:rPr lang="en-US" sz="1200" kern="1200" baseline="0" dirty="0">
                <a:solidFill>
                  <a:schemeClr val="tx1"/>
                </a:solidFill>
                <a:latin typeface="+mn-lt"/>
                <a:ea typeface="+mn-ea"/>
                <a:cs typeface="+mn-cs"/>
              </a:rPr>
              <a:t>have as their objective that the page that is removed should be the page least likely</a:t>
            </a:r>
          </a:p>
          <a:p>
            <a:r>
              <a:rPr lang="en-US" sz="1200" kern="1200" baseline="0" dirty="0">
                <a:solidFill>
                  <a:schemeClr val="tx1"/>
                </a:solidFill>
                <a:latin typeface="+mn-lt"/>
                <a:ea typeface="+mn-ea"/>
                <a:cs typeface="+mn-cs"/>
              </a:rPr>
              <a:t>to be referenced in the near future.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Because of the principle of locality, there is</a:t>
            </a:r>
          </a:p>
          <a:p>
            <a:r>
              <a:rPr lang="en-US" sz="1200" kern="1200" baseline="0" dirty="0">
                <a:solidFill>
                  <a:schemeClr val="tx1"/>
                </a:solidFill>
                <a:latin typeface="+mn-lt"/>
                <a:ea typeface="+mn-ea"/>
                <a:cs typeface="+mn-cs"/>
              </a:rPr>
              <a:t>often a high correlation between recent referencing history and near-future referencing</a:t>
            </a:r>
          </a:p>
          <a:p>
            <a:r>
              <a:rPr lang="en-US" sz="1200" kern="1200" baseline="0" dirty="0">
                <a:solidFill>
                  <a:schemeClr val="tx1"/>
                </a:solidFill>
                <a:latin typeface="+mn-lt"/>
                <a:ea typeface="+mn-ea"/>
                <a:cs typeface="+mn-cs"/>
              </a:rPr>
              <a:t>patterns. Thus, most policies try to predict future behavior on the basis of</a:t>
            </a:r>
          </a:p>
          <a:p>
            <a:r>
              <a:rPr lang="en-US" sz="1200" kern="1200" baseline="0" dirty="0">
                <a:solidFill>
                  <a:schemeClr val="tx1"/>
                </a:solidFill>
                <a:latin typeface="+mn-lt"/>
                <a:ea typeface="+mn-ea"/>
                <a:cs typeface="+mn-cs"/>
              </a:rPr>
              <a:t>past behavior.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trade-off that must be considered is that the more elaborate and</a:t>
            </a:r>
          </a:p>
          <a:p>
            <a:r>
              <a:rPr lang="en-US" sz="1200" kern="1200" baseline="0" dirty="0">
                <a:solidFill>
                  <a:schemeClr val="tx1"/>
                </a:solidFill>
                <a:latin typeface="+mn-lt"/>
                <a:ea typeface="+mn-ea"/>
                <a:cs typeface="+mn-cs"/>
              </a:rPr>
              <a:t>sophisticated the replacement policy, the greater will be the hardware and software</a:t>
            </a:r>
          </a:p>
          <a:p>
            <a:r>
              <a:rPr lang="en-US" sz="1200" kern="1200" baseline="0" dirty="0">
                <a:solidFill>
                  <a:schemeClr val="tx1"/>
                </a:solidFill>
                <a:latin typeface="+mn-lt"/>
                <a:ea typeface="+mn-ea"/>
                <a:cs typeface="+mn-cs"/>
              </a:rPr>
              <a:t>overhead to implement it.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extLst>
      <p:ext uri="{BB962C8B-B14F-4D97-AF65-F5344CB8AC3E}">
        <p14:creationId xmlns:p14="http://schemas.microsoft.com/office/powerpoint/2010/main" val="26461065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One restriction on replacement policy needs to be mentioned</a:t>
            </a:r>
          </a:p>
          <a:p>
            <a:r>
              <a:rPr lang="en-US" sz="1200" kern="1200" baseline="0" dirty="0">
                <a:solidFill>
                  <a:schemeClr val="tx1"/>
                </a:solidFill>
                <a:latin typeface="+mn-lt"/>
                <a:ea typeface="+mn-ea"/>
                <a:cs typeface="+mn-cs"/>
              </a:rPr>
              <a:t>before looking at various algorithms: Some of the frames in main memory may be</a:t>
            </a:r>
          </a:p>
          <a:p>
            <a:r>
              <a:rPr lang="en-US" sz="1200" kern="1200" baseline="0" dirty="0">
                <a:solidFill>
                  <a:schemeClr val="tx1"/>
                </a:solidFill>
                <a:latin typeface="+mn-lt"/>
                <a:ea typeface="+mn-ea"/>
                <a:cs typeface="+mn-cs"/>
              </a:rPr>
              <a:t>locked.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a frame is locked, the page currently stored in that frame may not be</a:t>
            </a:r>
          </a:p>
          <a:p>
            <a:r>
              <a:rPr lang="en-US" sz="1200" kern="1200" baseline="0" dirty="0">
                <a:solidFill>
                  <a:schemeClr val="tx1"/>
                </a:solidFill>
                <a:latin typeface="+mn-lt"/>
                <a:ea typeface="+mn-ea"/>
                <a:cs typeface="+mn-cs"/>
              </a:rPr>
              <a:t>replaced.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Much of the kernel of the OS, as well as key control structures, are held in</a:t>
            </a:r>
          </a:p>
          <a:p>
            <a:r>
              <a:rPr lang="en-US" sz="1200" kern="1200" baseline="0" dirty="0">
                <a:solidFill>
                  <a:schemeClr val="tx1"/>
                </a:solidFill>
                <a:latin typeface="+mn-lt"/>
                <a:ea typeface="+mn-ea"/>
                <a:cs typeface="+mn-cs"/>
              </a:rPr>
              <a:t>locked frames.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In addition, I/O buffers and other time-critical areas may be locked</a:t>
            </a:r>
          </a:p>
          <a:p>
            <a:r>
              <a:rPr lang="en-US" sz="1200" kern="1200" baseline="0" dirty="0">
                <a:solidFill>
                  <a:schemeClr val="tx1"/>
                </a:solidFill>
                <a:latin typeface="+mn-lt"/>
                <a:ea typeface="+mn-ea"/>
                <a:cs typeface="+mn-cs"/>
              </a:rPr>
              <a:t>into main memory frames. Locking is achieved by associating a lock bit with each</a:t>
            </a:r>
          </a:p>
          <a:p>
            <a:r>
              <a:rPr lang="en-US" sz="1200" kern="1200" baseline="0" dirty="0">
                <a:solidFill>
                  <a:schemeClr val="tx1"/>
                </a:solidFill>
                <a:latin typeface="+mn-lt"/>
                <a:ea typeface="+mn-ea"/>
                <a:cs typeface="+mn-cs"/>
              </a:rPr>
              <a:t>frame. This bit may be kept in a frame table as well as being included in the current</a:t>
            </a:r>
          </a:p>
          <a:p>
            <a:r>
              <a:rPr lang="en-US" sz="1200" kern="1200" baseline="0" dirty="0">
                <a:solidFill>
                  <a:schemeClr val="tx1"/>
                </a:solidFill>
                <a:latin typeface="+mn-lt"/>
                <a:ea typeface="+mn-ea"/>
                <a:cs typeface="+mn-cs"/>
              </a:rPr>
              <a:t>page table.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extLst>
      <p:ext uri="{BB962C8B-B14F-4D97-AF65-F5344CB8AC3E}">
        <p14:creationId xmlns:p14="http://schemas.microsoft.com/office/powerpoint/2010/main" val="23848759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Regardless of the resident set management strategy (discussed</a:t>
            </a:r>
          </a:p>
          <a:p>
            <a:r>
              <a:rPr lang="en-US" sz="1200" kern="1200" baseline="0" dirty="0">
                <a:solidFill>
                  <a:schemeClr val="tx1"/>
                </a:solidFill>
                <a:latin typeface="+mn-lt"/>
                <a:ea typeface="+mn-ea"/>
                <a:cs typeface="+mn-cs"/>
              </a:rPr>
              <a:t>in the next subsection), there are certain basic algorithms that are used for the</a:t>
            </a:r>
          </a:p>
          <a:p>
            <a:r>
              <a:rPr lang="en-US" sz="1200" kern="1200" baseline="0" dirty="0">
                <a:solidFill>
                  <a:schemeClr val="tx1"/>
                </a:solidFill>
                <a:latin typeface="+mn-lt"/>
                <a:ea typeface="+mn-ea"/>
                <a:cs typeface="+mn-cs"/>
              </a:rPr>
              <a:t>selection of a page to replace. Replacement algorithms that have been discussed in</a:t>
            </a:r>
          </a:p>
          <a:p>
            <a:r>
              <a:rPr lang="en-US" sz="1200" kern="1200" baseline="0" dirty="0">
                <a:solidFill>
                  <a:schemeClr val="tx1"/>
                </a:solidFill>
                <a:latin typeface="+mn-lt"/>
                <a:ea typeface="+mn-ea"/>
                <a:cs typeface="+mn-cs"/>
              </a:rPr>
              <a:t>the literature include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Optimal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Least recently used (LRU)</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First-in-first-out (FIFO)</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Clock</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extLst>
      <p:ext uri="{BB962C8B-B14F-4D97-AF65-F5344CB8AC3E}">
        <p14:creationId xmlns:p14="http://schemas.microsoft.com/office/powerpoint/2010/main" val="23483112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optimal policy </a:t>
            </a:r>
            <a:r>
              <a:rPr lang="en-US" sz="1200" b="0" kern="1200" baseline="0" dirty="0">
                <a:solidFill>
                  <a:schemeClr val="tx1"/>
                </a:solidFill>
                <a:latin typeface="+mn-lt"/>
                <a:ea typeface="+mn-ea"/>
                <a:cs typeface="+mn-cs"/>
              </a:rPr>
              <a:t>selects for replacement that page for which the time to the next</a:t>
            </a:r>
          </a:p>
          <a:p>
            <a:r>
              <a:rPr lang="en-US" sz="1200" kern="1200" baseline="0" dirty="0">
                <a:solidFill>
                  <a:schemeClr val="tx1"/>
                </a:solidFill>
                <a:latin typeface="+mn-lt"/>
                <a:ea typeface="+mn-ea"/>
                <a:cs typeface="+mn-cs"/>
              </a:rPr>
              <a:t>reference is the longest.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It can be shown that this policy results in the fewest number of</a:t>
            </a:r>
          </a:p>
          <a:p>
            <a:r>
              <a:rPr lang="en-US" sz="1200" kern="1200" baseline="0" dirty="0">
                <a:solidFill>
                  <a:schemeClr val="tx1"/>
                </a:solidFill>
                <a:latin typeface="+mn-lt"/>
                <a:ea typeface="+mn-ea"/>
                <a:cs typeface="+mn-cs"/>
              </a:rPr>
              <a:t>page faults [BELA66].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Clearly, this policy is impossible to implement, because it would</a:t>
            </a:r>
          </a:p>
          <a:p>
            <a:r>
              <a:rPr lang="en-US" sz="1200" kern="1200" baseline="0" dirty="0">
                <a:solidFill>
                  <a:schemeClr val="tx1"/>
                </a:solidFill>
                <a:latin typeface="+mn-lt"/>
                <a:ea typeface="+mn-ea"/>
                <a:cs typeface="+mn-cs"/>
              </a:rPr>
              <a:t>require the operating system to have perfect knowledge of future events. However, it</a:t>
            </a:r>
          </a:p>
          <a:p>
            <a:r>
              <a:rPr lang="en-US" sz="1200" kern="1200" baseline="0" dirty="0">
                <a:solidFill>
                  <a:schemeClr val="tx1"/>
                </a:solidFill>
                <a:latin typeface="+mn-lt"/>
                <a:ea typeface="+mn-ea"/>
                <a:cs typeface="+mn-cs"/>
              </a:rPr>
              <a:t>does serve as a standard against which to judge real-world algorithms.</a:t>
            </a:r>
            <a:endParaRPr lang="en-US" dirty="0"/>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8.14 gives an example of the optimal policy. The example assumes a</a:t>
            </a:r>
          </a:p>
          <a:p>
            <a:r>
              <a:rPr lang="en-US" sz="1200" kern="1200" baseline="0" dirty="0">
                <a:solidFill>
                  <a:schemeClr val="tx1"/>
                </a:solidFill>
                <a:latin typeface="+mn-lt"/>
                <a:ea typeface="+mn-ea"/>
                <a:cs typeface="+mn-cs"/>
              </a:rPr>
              <a:t>fixed frame allocation (fixed resident set size) for this process of three frames. The</a:t>
            </a:r>
          </a:p>
          <a:p>
            <a:r>
              <a:rPr lang="en-US" sz="1200" kern="1200" baseline="0" dirty="0">
                <a:solidFill>
                  <a:schemeClr val="tx1"/>
                </a:solidFill>
                <a:latin typeface="+mn-lt"/>
                <a:ea typeface="+mn-ea"/>
                <a:cs typeface="+mn-cs"/>
              </a:rPr>
              <a:t>execution of the process requires reference to five distinct pages. The page address</a:t>
            </a:r>
          </a:p>
          <a:p>
            <a:r>
              <a:rPr lang="en-US" sz="1200" kern="1200" baseline="0" dirty="0">
                <a:solidFill>
                  <a:schemeClr val="tx1"/>
                </a:solidFill>
                <a:latin typeface="+mn-lt"/>
                <a:ea typeface="+mn-ea"/>
                <a:cs typeface="+mn-cs"/>
              </a:rPr>
              <a:t>stream formed by executing the program is</a:t>
            </a:r>
          </a:p>
          <a:p>
            <a:r>
              <a:rPr lang="en-US" sz="1200" kern="1200" baseline="0" dirty="0">
                <a:solidFill>
                  <a:schemeClr val="tx1"/>
                </a:solidFill>
                <a:latin typeface="+mn-lt"/>
                <a:ea typeface="+mn-ea"/>
                <a:cs typeface="+mn-cs"/>
              </a:rPr>
              <a:t>2 3 2 1 5 2 4 5 3 2 5 2</a:t>
            </a:r>
          </a:p>
          <a:p>
            <a:r>
              <a:rPr lang="en-US" sz="1200" kern="1200" baseline="0" dirty="0">
                <a:solidFill>
                  <a:schemeClr val="tx1"/>
                </a:solidFill>
                <a:latin typeface="+mn-lt"/>
                <a:ea typeface="+mn-ea"/>
                <a:cs typeface="+mn-cs"/>
              </a:rPr>
              <a:t>which means that the first page referenced is 2, the second page referenced is 3, and</a:t>
            </a:r>
          </a:p>
          <a:p>
            <a:r>
              <a:rPr lang="en-US" sz="1200" kern="1200" baseline="0" dirty="0">
                <a:solidFill>
                  <a:schemeClr val="tx1"/>
                </a:solidFill>
                <a:latin typeface="+mn-lt"/>
                <a:ea typeface="+mn-ea"/>
                <a:cs typeface="+mn-cs"/>
              </a:rPr>
              <a:t>so on. The optimal policy produces three page faults after the frame allocation has</a:t>
            </a:r>
          </a:p>
          <a:p>
            <a:r>
              <a:rPr lang="en-US" sz="1200" kern="1200" baseline="0" dirty="0">
                <a:solidFill>
                  <a:schemeClr val="tx1"/>
                </a:solidFill>
                <a:latin typeface="+mn-lt"/>
                <a:ea typeface="+mn-ea"/>
                <a:cs typeface="+mn-cs"/>
              </a:rPr>
              <a:t>been filled.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extLst>
      <p:ext uri="{BB962C8B-B14F-4D97-AF65-F5344CB8AC3E}">
        <p14:creationId xmlns:p14="http://schemas.microsoft.com/office/powerpoint/2010/main" val="16889281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least recently used (LRU) policy replaces the page in memory that has</a:t>
            </a:r>
          </a:p>
          <a:p>
            <a:r>
              <a:rPr lang="en-US" sz="1200" kern="1200" baseline="0" dirty="0">
                <a:solidFill>
                  <a:schemeClr val="tx1"/>
                </a:solidFill>
                <a:latin typeface="+mn-lt"/>
                <a:ea typeface="+mn-ea"/>
                <a:cs typeface="+mn-cs"/>
              </a:rPr>
              <a:t>not been referenced for the longest time. By the principle of locality, this should</a:t>
            </a:r>
          </a:p>
          <a:p>
            <a:r>
              <a:rPr lang="en-US" sz="1200" kern="1200" baseline="0" dirty="0">
                <a:solidFill>
                  <a:schemeClr val="tx1"/>
                </a:solidFill>
                <a:latin typeface="+mn-lt"/>
                <a:ea typeface="+mn-ea"/>
                <a:cs typeface="+mn-cs"/>
              </a:rPr>
              <a:t>be the page least likely to be referenced in the near future.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And, in fact, the LRU</a:t>
            </a:r>
          </a:p>
          <a:p>
            <a:r>
              <a:rPr lang="en-US" sz="1200" kern="1200" baseline="0" dirty="0">
                <a:solidFill>
                  <a:schemeClr val="tx1"/>
                </a:solidFill>
                <a:latin typeface="+mn-lt"/>
                <a:ea typeface="+mn-ea"/>
                <a:cs typeface="+mn-cs"/>
              </a:rPr>
              <a:t>policy does nearly as well as the optimal policy.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problem with this approach is</a:t>
            </a:r>
          </a:p>
          <a:p>
            <a:r>
              <a:rPr lang="en-US" sz="1200" kern="1200" baseline="0" dirty="0">
                <a:solidFill>
                  <a:schemeClr val="tx1"/>
                </a:solidFill>
                <a:latin typeface="+mn-lt"/>
                <a:ea typeface="+mn-ea"/>
                <a:cs typeface="+mn-cs"/>
              </a:rPr>
              <a:t>the difficulty in implementation. One approach would be to tag each page with the</a:t>
            </a:r>
          </a:p>
          <a:p>
            <a:r>
              <a:rPr lang="en-US" sz="1200" kern="1200" baseline="0" dirty="0">
                <a:solidFill>
                  <a:schemeClr val="tx1"/>
                </a:solidFill>
                <a:latin typeface="+mn-lt"/>
                <a:ea typeface="+mn-ea"/>
                <a:cs typeface="+mn-cs"/>
              </a:rPr>
              <a:t>time of its last reference; this would have to be done at each memory reference,</a:t>
            </a:r>
          </a:p>
          <a:p>
            <a:r>
              <a:rPr lang="en-US" sz="1200" kern="1200" baseline="0" dirty="0">
                <a:solidFill>
                  <a:schemeClr val="tx1"/>
                </a:solidFill>
                <a:latin typeface="+mn-lt"/>
                <a:ea typeface="+mn-ea"/>
                <a:cs typeface="+mn-cs"/>
              </a:rPr>
              <a:t>both instruction and data.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Even if the hardware would support such a scheme, the</a:t>
            </a:r>
          </a:p>
          <a:p>
            <a:r>
              <a:rPr lang="en-US" sz="1200" kern="1200" baseline="0" dirty="0">
                <a:solidFill>
                  <a:schemeClr val="tx1"/>
                </a:solidFill>
                <a:latin typeface="+mn-lt"/>
                <a:ea typeface="+mn-ea"/>
                <a:cs typeface="+mn-cs"/>
              </a:rPr>
              <a:t>overhead would be tremendous. Alternatively, one could maintain a stack of page</a:t>
            </a:r>
          </a:p>
          <a:p>
            <a:r>
              <a:rPr lang="en-US" sz="1200" kern="1200" baseline="0" dirty="0">
                <a:solidFill>
                  <a:schemeClr val="tx1"/>
                </a:solidFill>
                <a:latin typeface="+mn-lt"/>
                <a:ea typeface="+mn-ea"/>
                <a:cs typeface="+mn-cs"/>
              </a:rPr>
              <a:t>references, again an expensive prospect.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extLst>
      <p:ext uri="{BB962C8B-B14F-4D97-AF65-F5344CB8AC3E}">
        <p14:creationId xmlns:p14="http://schemas.microsoft.com/office/powerpoint/2010/main" val="3109912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first-in-first-out (FIFO) </a:t>
            </a:r>
            <a:r>
              <a:rPr lang="en-US" sz="1200" b="0" kern="1200" baseline="0" dirty="0">
                <a:solidFill>
                  <a:schemeClr val="tx1"/>
                </a:solidFill>
                <a:latin typeface="+mn-lt"/>
                <a:ea typeface="+mn-ea"/>
                <a:cs typeface="+mn-cs"/>
              </a:rPr>
              <a:t>policy treats the page frames allocated to a process</a:t>
            </a:r>
          </a:p>
          <a:p>
            <a:r>
              <a:rPr lang="en-US" sz="1200" kern="1200" baseline="0" dirty="0">
                <a:solidFill>
                  <a:schemeClr val="tx1"/>
                </a:solidFill>
                <a:latin typeface="+mn-lt"/>
                <a:ea typeface="+mn-ea"/>
                <a:cs typeface="+mn-cs"/>
              </a:rPr>
              <a:t>as a circular buffer, and pages are removed in round-robin style.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All that is</a:t>
            </a:r>
          </a:p>
          <a:p>
            <a:r>
              <a:rPr lang="en-US" sz="1200" kern="1200" baseline="0" dirty="0">
                <a:solidFill>
                  <a:schemeClr val="tx1"/>
                </a:solidFill>
                <a:latin typeface="+mn-lt"/>
                <a:ea typeface="+mn-ea"/>
                <a:cs typeface="+mn-cs"/>
              </a:rPr>
              <a:t>required is a pointer that circles through the page frames of the process. This is</a:t>
            </a:r>
          </a:p>
          <a:p>
            <a:r>
              <a:rPr lang="en-US" sz="1200" kern="1200" baseline="0" dirty="0">
                <a:solidFill>
                  <a:schemeClr val="tx1"/>
                </a:solidFill>
                <a:latin typeface="+mn-lt"/>
                <a:ea typeface="+mn-ea"/>
                <a:cs typeface="+mn-cs"/>
              </a:rPr>
              <a:t>therefore one of the simplest page replacement policies to implement.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logic</a:t>
            </a:r>
          </a:p>
          <a:p>
            <a:r>
              <a:rPr lang="en-US" sz="1200" kern="1200" baseline="0" dirty="0">
                <a:solidFill>
                  <a:schemeClr val="tx1"/>
                </a:solidFill>
                <a:latin typeface="+mn-lt"/>
                <a:ea typeface="+mn-ea"/>
                <a:cs typeface="+mn-cs"/>
              </a:rPr>
              <a:t>behind this choice, other than its simplicity, is that one is replacing the page that</a:t>
            </a:r>
          </a:p>
          <a:p>
            <a:r>
              <a:rPr lang="en-US" sz="1200" kern="1200" baseline="0" dirty="0">
                <a:solidFill>
                  <a:schemeClr val="tx1"/>
                </a:solidFill>
                <a:latin typeface="+mn-lt"/>
                <a:ea typeface="+mn-ea"/>
                <a:cs typeface="+mn-cs"/>
              </a:rPr>
              <a:t>has been in memory the longest: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page fetched into memory a long time ago may</a:t>
            </a:r>
          </a:p>
          <a:p>
            <a:r>
              <a:rPr lang="en-US" sz="1200" kern="1200" baseline="0" dirty="0">
                <a:solidFill>
                  <a:schemeClr val="tx1"/>
                </a:solidFill>
                <a:latin typeface="+mn-lt"/>
                <a:ea typeface="+mn-ea"/>
                <a:cs typeface="+mn-cs"/>
              </a:rPr>
              <a:t>have now fallen out of use.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reasoning will often be wrong, because there will</a:t>
            </a:r>
          </a:p>
          <a:p>
            <a:r>
              <a:rPr lang="en-US" sz="1200" kern="1200" baseline="0" dirty="0">
                <a:solidFill>
                  <a:schemeClr val="tx1"/>
                </a:solidFill>
                <a:latin typeface="+mn-lt"/>
                <a:ea typeface="+mn-ea"/>
                <a:cs typeface="+mn-cs"/>
              </a:rPr>
              <a:t>often be regions of program or data that are heavily used throughout the life of a</a:t>
            </a:r>
          </a:p>
          <a:p>
            <a:r>
              <a:rPr lang="en-US" sz="1200" kern="1200" baseline="0" dirty="0">
                <a:solidFill>
                  <a:schemeClr val="tx1"/>
                </a:solidFill>
                <a:latin typeface="+mn-lt"/>
                <a:ea typeface="+mn-ea"/>
                <a:cs typeface="+mn-cs"/>
              </a:rPr>
              <a:t>program.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Those pages will be repeatedly paged in and out by the FIFO algorithm.</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extLst>
      <p:ext uri="{BB962C8B-B14F-4D97-AF65-F5344CB8AC3E}">
        <p14:creationId xmlns:p14="http://schemas.microsoft.com/office/powerpoint/2010/main" val="17105822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The simplest form of clock policy requires the association of an additional</a:t>
            </a:r>
          </a:p>
          <a:p>
            <a:r>
              <a:rPr lang="en-US" sz="1200" kern="1200" baseline="0" dirty="0">
                <a:solidFill>
                  <a:schemeClr val="tx1"/>
                </a:solidFill>
                <a:latin typeface="+mn-lt"/>
                <a:ea typeface="+mn-ea"/>
                <a:cs typeface="+mn-cs"/>
              </a:rPr>
              <a:t>bit with each frame, referred to as the use bit.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a page is first loaded into a</a:t>
            </a:r>
          </a:p>
          <a:p>
            <a:r>
              <a:rPr lang="en-US" sz="1200" kern="1200" baseline="0" dirty="0">
                <a:solidFill>
                  <a:schemeClr val="tx1"/>
                </a:solidFill>
                <a:latin typeface="+mn-lt"/>
                <a:ea typeface="+mn-ea"/>
                <a:cs typeface="+mn-cs"/>
              </a:rPr>
              <a:t>frame in memory, the use bit for that frame is set to 1.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Whenever the page is subsequently</a:t>
            </a:r>
          </a:p>
          <a:p>
            <a:r>
              <a:rPr lang="en-US" sz="1200" kern="1200" baseline="0" dirty="0">
                <a:solidFill>
                  <a:schemeClr val="tx1"/>
                </a:solidFill>
                <a:latin typeface="+mn-lt"/>
                <a:ea typeface="+mn-ea"/>
                <a:cs typeface="+mn-cs"/>
              </a:rPr>
              <a:t>referenced (after the reference that generated the page fault), its use bit is</a:t>
            </a:r>
          </a:p>
          <a:p>
            <a:r>
              <a:rPr lang="en-US" sz="1200" kern="1200" baseline="0" dirty="0">
                <a:solidFill>
                  <a:schemeClr val="tx1"/>
                </a:solidFill>
                <a:latin typeface="+mn-lt"/>
                <a:ea typeface="+mn-ea"/>
                <a:cs typeface="+mn-cs"/>
              </a:rPr>
              <a:t>set to 1.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the page replacement algorithm, the set of frames that are candidates</a:t>
            </a:r>
          </a:p>
          <a:p>
            <a:r>
              <a:rPr lang="en-US" sz="1200" kern="1200" baseline="0" dirty="0">
                <a:solidFill>
                  <a:schemeClr val="tx1"/>
                </a:solidFill>
                <a:latin typeface="+mn-lt"/>
                <a:ea typeface="+mn-ea"/>
                <a:cs typeface="+mn-cs"/>
              </a:rPr>
              <a:t>for replacement (this process: local scope; all of main memory: global scope  ) is</a:t>
            </a:r>
          </a:p>
          <a:p>
            <a:r>
              <a:rPr lang="en-US" sz="1200" kern="1200" baseline="0" dirty="0">
                <a:solidFill>
                  <a:schemeClr val="tx1"/>
                </a:solidFill>
                <a:latin typeface="+mn-lt"/>
                <a:ea typeface="+mn-ea"/>
                <a:cs typeface="+mn-cs"/>
              </a:rPr>
              <a:t>considered to be a circular buffer, with which a pointer is associated.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a page</a:t>
            </a:r>
          </a:p>
          <a:p>
            <a:r>
              <a:rPr lang="en-US" sz="1200" kern="1200" baseline="0" dirty="0">
                <a:solidFill>
                  <a:schemeClr val="tx1"/>
                </a:solidFill>
                <a:latin typeface="+mn-lt"/>
                <a:ea typeface="+mn-ea"/>
                <a:cs typeface="+mn-cs"/>
              </a:rPr>
              <a:t>is replaced, the pointer is set to indicate the next frame in the buffer after the one</a:t>
            </a:r>
          </a:p>
          <a:p>
            <a:r>
              <a:rPr lang="en-US" sz="1200" kern="1200" baseline="0" dirty="0">
                <a:solidFill>
                  <a:schemeClr val="tx1"/>
                </a:solidFill>
                <a:latin typeface="+mn-lt"/>
                <a:ea typeface="+mn-ea"/>
                <a:cs typeface="+mn-cs"/>
              </a:rPr>
              <a:t>just updated.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it comes time to replace a page, the operating system scans</a:t>
            </a:r>
          </a:p>
          <a:p>
            <a:r>
              <a:rPr lang="en-US" sz="1200" kern="1200" baseline="0" dirty="0">
                <a:solidFill>
                  <a:schemeClr val="tx1"/>
                </a:solidFill>
                <a:latin typeface="+mn-lt"/>
                <a:ea typeface="+mn-ea"/>
                <a:cs typeface="+mn-cs"/>
              </a:rPr>
              <a:t>the buffer to find a frame with a use bit set to 0.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Each time it encounters a frame</a:t>
            </a:r>
          </a:p>
          <a:p>
            <a:r>
              <a:rPr lang="en-US" sz="1200" kern="1200" baseline="0" dirty="0">
                <a:solidFill>
                  <a:schemeClr val="tx1"/>
                </a:solidFill>
                <a:latin typeface="+mn-lt"/>
                <a:ea typeface="+mn-ea"/>
                <a:cs typeface="+mn-cs"/>
              </a:rPr>
              <a:t>with a use bit of 1, it resets that bit to 0 and continues on. If any of the frames in</a:t>
            </a:r>
          </a:p>
          <a:p>
            <a:r>
              <a:rPr lang="en-US" sz="1200" kern="1200" baseline="0" dirty="0">
                <a:solidFill>
                  <a:schemeClr val="tx1"/>
                </a:solidFill>
                <a:latin typeface="+mn-lt"/>
                <a:ea typeface="+mn-ea"/>
                <a:cs typeface="+mn-cs"/>
              </a:rPr>
              <a:t>the buffer have a use bit of 0 at the beginning of this process, the first such frame</a:t>
            </a:r>
          </a:p>
          <a:p>
            <a:r>
              <a:rPr lang="en-US" sz="1200" kern="1200" baseline="0" dirty="0">
                <a:solidFill>
                  <a:schemeClr val="tx1"/>
                </a:solidFill>
                <a:latin typeface="+mn-lt"/>
                <a:ea typeface="+mn-ea"/>
                <a:cs typeface="+mn-cs"/>
              </a:rPr>
              <a:t>encountered is chosen for replacement.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If all of the frames have a use bit of 1, then</a:t>
            </a:r>
          </a:p>
          <a:p>
            <a:r>
              <a:rPr lang="en-US" sz="1200" kern="1200" baseline="0" dirty="0">
                <a:solidFill>
                  <a:schemeClr val="tx1"/>
                </a:solidFill>
                <a:latin typeface="+mn-lt"/>
                <a:ea typeface="+mn-ea"/>
                <a:cs typeface="+mn-cs"/>
              </a:rPr>
              <a:t>the pointer will make one complete cycle through the buffer, setting all the use bits</a:t>
            </a:r>
          </a:p>
          <a:p>
            <a:r>
              <a:rPr lang="en-US" sz="1200" kern="1200" baseline="0" dirty="0">
                <a:solidFill>
                  <a:schemeClr val="tx1"/>
                </a:solidFill>
                <a:latin typeface="+mn-lt"/>
                <a:ea typeface="+mn-ea"/>
                <a:cs typeface="+mn-cs"/>
              </a:rPr>
              <a:t>to 0, and stop at its original position, replacing the page in that frame.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can see</a:t>
            </a:r>
          </a:p>
          <a:p>
            <a:r>
              <a:rPr lang="en-US" sz="1200" kern="1200" baseline="0" dirty="0">
                <a:solidFill>
                  <a:schemeClr val="tx1"/>
                </a:solidFill>
                <a:latin typeface="+mn-lt"/>
                <a:ea typeface="+mn-ea"/>
                <a:cs typeface="+mn-cs"/>
              </a:rPr>
              <a:t>that this policy is similar to FIFO, except that, in the clock policy, any frame with</a:t>
            </a:r>
          </a:p>
          <a:p>
            <a:r>
              <a:rPr lang="en-US" sz="1200" kern="1200" baseline="0" dirty="0">
                <a:solidFill>
                  <a:schemeClr val="tx1"/>
                </a:solidFill>
                <a:latin typeface="+mn-lt"/>
                <a:ea typeface="+mn-ea"/>
                <a:cs typeface="+mn-cs"/>
              </a:rPr>
              <a:t>a use bit of 1 is passed over by the algorithm. The policy is referred to as a clock</a:t>
            </a:r>
          </a:p>
          <a:p>
            <a:r>
              <a:rPr lang="en-US" sz="1200" kern="1200" baseline="0" dirty="0">
                <a:solidFill>
                  <a:schemeClr val="tx1"/>
                </a:solidFill>
                <a:latin typeface="+mn-lt"/>
                <a:ea typeface="+mn-ea"/>
                <a:cs typeface="+mn-cs"/>
              </a:rPr>
              <a:t>policy because we can visualize the page frames as laid out in a circle. A number of</a:t>
            </a:r>
          </a:p>
          <a:p>
            <a:r>
              <a:rPr lang="en-US" sz="1200" kern="1200" baseline="0" dirty="0">
                <a:solidFill>
                  <a:schemeClr val="tx1"/>
                </a:solidFill>
                <a:latin typeface="+mn-lt"/>
                <a:ea typeface="+mn-ea"/>
                <a:cs typeface="+mn-cs"/>
              </a:rPr>
              <a:t>operating systems have employed some variation of this simple clock policy (e.g.,</a:t>
            </a:r>
          </a:p>
          <a:p>
            <a:r>
              <a:rPr lang="en-US" sz="1200" kern="1200" baseline="0" dirty="0" err="1">
                <a:solidFill>
                  <a:schemeClr val="tx1"/>
                </a:solidFill>
                <a:latin typeface="+mn-lt"/>
                <a:ea typeface="+mn-ea"/>
                <a:cs typeface="+mn-cs"/>
              </a:rPr>
              <a:t>Multics</a:t>
            </a:r>
            <a:r>
              <a:rPr lang="en-US" sz="1200" kern="1200" baseline="0" dirty="0">
                <a:solidFill>
                  <a:schemeClr val="tx1"/>
                </a:solidFill>
                <a:latin typeface="+mn-lt"/>
                <a:ea typeface="+mn-ea"/>
                <a:cs typeface="+mn-cs"/>
              </a:rPr>
              <a:t> [CORB68]).</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extLst>
      <p:ext uri="{BB962C8B-B14F-4D97-AF65-F5344CB8AC3E}">
        <p14:creationId xmlns:p14="http://schemas.microsoft.com/office/powerpoint/2010/main" val="31145353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8.15 provides an example of the simple clock policy mechanism. A circular</a:t>
            </a:r>
          </a:p>
          <a:p>
            <a:r>
              <a:rPr lang="en-US" sz="1200" kern="1200" baseline="0" dirty="0">
                <a:solidFill>
                  <a:schemeClr val="tx1"/>
                </a:solidFill>
                <a:latin typeface="+mn-lt"/>
                <a:ea typeface="+mn-ea"/>
                <a:cs typeface="+mn-cs"/>
              </a:rPr>
              <a:t>buffer of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main memory frames is available for page replacement. Just prior</a:t>
            </a:r>
          </a:p>
          <a:p>
            <a:r>
              <a:rPr lang="en-US" sz="1200" kern="1200" baseline="0" dirty="0">
                <a:solidFill>
                  <a:schemeClr val="tx1"/>
                </a:solidFill>
                <a:latin typeface="+mn-lt"/>
                <a:ea typeface="+mn-ea"/>
                <a:cs typeface="+mn-cs"/>
              </a:rPr>
              <a:t>to the replacement of a page from the buffer with incoming page 727 , the next frame</a:t>
            </a:r>
          </a:p>
          <a:p>
            <a:r>
              <a:rPr lang="en-US" sz="1200" kern="1200" baseline="0" dirty="0">
                <a:solidFill>
                  <a:schemeClr val="tx1"/>
                </a:solidFill>
                <a:latin typeface="+mn-lt"/>
                <a:ea typeface="+mn-ea"/>
                <a:cs typeface="+mn-cs"/>
              </a:rPr>
              <a:t>pointer points at frame 2, which contains page 45 . The clock policy is now executed.</a:t>
            </a:r>
          </a:p>
          <a:p>
            <a:r>
              <a:rPr lang="en-US" sz="1200" kern="1200" baseline="0" dirty="0">
                <a:solidFill>
                  <a:schemeClr val="tx1"/>
                </a:solidFill>
                <a:latin typeface="+mn-lt"/>
                <a:ea typeface="+mn-ea"/>
                <a:cs typeface="+mn-cs"/>
              </a:rPr>
              <a:t>Because the use bit for page 45 in frame 2 is equal to 1, this page is not replaced.</a:t>
            </a:r>
          </a:p>
          <a:p>
            <a:r>
              <a:rPr lang="en-US" sz="1200" kern="1200" baseline="0" dirty="0">
                <a:solidFill>
                  <a:schemeClr val="tx1"/>
                </a:solidFill>
                <a:latin typeface="+mn-lt"/>
                <a:ea typeface="+mn-ea"/>
                <a:cs typeface="+mn-cs"/>
              </a:rPr>
              <a:t>Instead, the use bit is set to 0 and the pointer advances. Similarly, page 191 in frame</a:t>
            </a:r>
          </a:p>
          <a:p>
            <a:r>
              <a:rPr lang="en-US" sz="1200" kern="1200" baseline="0" dirty="0">
                <a:solidFill>
                  <a:schemeClr val="tx1"/>
                </a:solidFill>
                <a:latin typeface="+mn-lt"/>
                <a:ea typeface="+mn-ea"/>
                <a:cs typeface="+mn-cs"/>
              </a:rPr>
              <a:t>3 is not replaced; its use bit is set to 0 and the pointer advances. In the next frame,</a:t>
            </a:r>
          </a:p>
          <a:p>
            <a:r>
              <a:rPr lang="en-US" sz="1200" kern="1200" baseline="0" dirty="0">
                <a:solidFill>
                  <a:schemeClr val="tx1"/>
                </a:solidFill>
                <a:latin typeface="+mn-lt"/>
                <a:ea typeface="+mn-ea"/>
                <a:cs typeface="+mn-cs"/>
              </a:rPr>
              <a:t>frame 4, the use bit is set to 0. Therefore, page 556 is replaced with page 727 . The</a:t>
            </a:r>
          </a:p>
          <a:p>
            <a:r>
              <a:rPr lang="en-US" sz="1200" kern="1200" baseline="0" dirty="0">
                <a:solidFill>
                  <a:schemeClr val="tx1"/>
                </a:solidFill>
                <a:latin typeface="+mn-lt"/>
                <a:ea typeface="+mn-ea"/>
                <a:cs typeface="+mn-cs"/>
              </a:rPr>
              <a:t>use bit is set to 1 for this frame and the pointer advances to frame 5, completing the</a:t>
            </a:r>
          </a:p>
          <a:p>
            <a:r>
              <a:rPr lang="en-US" sz="1200" kern="1200" baseline="0" dirty="0">
                <a:solidFill>
                  <a:schemeClr val="tx1"/>
                </a:solidFill>
                <a:latin typeface="+mn-lt"/>
                <a:ea typeface="+mn-ea"/>
                <a:cs typeface="+mn-cs"/>
              </a:rPr>
              <a:t>page replacement procedure.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behavior of the clock policy is illustrated in Figure 8.14. The presence of an</a:t>
            </a:r>
          </a:p>
          <a:p>
            <a:r>
              <a:rPr lang="en-US" sz="1200" kern="1200" baseline="0" dirty="0">
                <a:solidFill>
                  <a:schemeClr val="tx1"/>
                </a:solidFill>
                <a:latin typeface="+mn-lt"/>
                <a:ea typeface="+mn-ea"/>
                <a:cs typeface="+mn-cs"/>
              </a:rPr>
              <a:t>asterisk indicates that the corresponding use bit is equal to 1, and the arrow indicates</a:t>
            </a:r>
          </a:p>
          <a:p>
            <a:r>
              <a:rPr lang="en-US" sz="1200" kern="1200" baseline="0" dirty="0">
                <a:solidFill>
                  <a:schemeClr val="tx1"/>
                </a:solidFill>
                <a:latin typeface="+mn-lt"/>
                <a:ea typeface="+mn-ea"/>
                <a:cs typeface="+mn-cs"/>
              </a:rPr>
              <a:t>the current position of the pointer. Note the clock policy is adept at protecting frames</a:t>
            </a:r>
          </a:p>
          <a:p>
            <a:r>
              <a:rPr lang="en-US" sz="1200" kern="1200" baseline="0" dirty="0">
                <a:solidFill>
                  <a:schemeClr val="tx1"/>
                </a:solidFill>
                <a:latin typeface="+mn-lt"/>
                <a:ea typeface="+mn-ea"/>
                <a:cs typeface="+mn-cs"/>
              </a:rPr>
              <a:t>2 and 5 from replacement.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extLst>
      <p:ext uri="{BB962C8B-B14F-4D97-AF65-F5344CB8AC3E}">
        <p14:creationId xmlns:p14="http://schemas.microsoft.com/office/powerpoint/2010/main" val="16323461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8.16 shows the results of an experiment reported in [BAER80], which</a:t>
            </a:r>
          </a:p>
          <a:p>
            <a:r>
              <a:rPr lang="en-US" sz="1200" kern="1200" baseline="0" dirty="0">
                <a:solidFill>
                  <a:schemeClr val="tx1"/>
                </a:solidFill>
                <a:latin typeface="+mn-lt"/>
                <a:ea typeface="+mn-ea"/>
                <a:cs typeface="+mn-cs"/>
              </a:rPr>
              <a:t>compares the four algorithms that we have been discussing; it is assumed that the</a:t>
            </a:r>
          </a:p>
          <a:p>
            <a:r>
              <a:rPr lang="en-US" sz="1200" kern="1200" baseline="0" dirty="0">
                <a:solidFill>
                  <a:schemeClr val="tx1"/>
                </a:solidFill>
                <a:latin typeface="+mn-lt"/>
                <a:ea typeface="+mn-ea"/>
                <a:cs typeface="+mn-cs"/>
              </a:rPr>
              <a:t>number of page frames assigned to a process is fixed. The results are based on the</a:t>
            </a:r>
          </a:p>
          <a:p>
            <a:r>
              <a:rPr lang="en-US" sz="1200" kern="1200" baseline="0" dirty="0">
                <a:solidFill>
                  <a:schemeClr val="tx1"/>
                </a:solidFill>
                <a:latin typeface="+mn-lt"/>
                <a:ea typeface="+mn-ea"/>
                <a:cs typeface="+mn-cs"/>
              </a:rPr>
              <a:t>execution of 0.25 </a:t>
            </a:r>
            <a:r>
              <a:rPr lang="en-US" sz="1200" kern="1200" baseline="0" dirty="0" err="1">
                <a:solidFill>
                  <a:schemeClr val="tx1"/>
                </a:solidFill>
                <a:latin typeface="+mn-lt"/>
                <a:ea typeface="+mn-ea"/>
                <a:cs typeface="+mn-cs"/>
              </a:rPr>
              <a:t>x</a:t>
            </a:r>
            <a:r>
              <a:rPr lang="en-US" sz="1200" kern="1200" baseline="0" dirty="0">
                <a:solidFill>
                  <a:schemeClr val="tx1"/>
                </a:solidFill>
                <a:latin typeface="+mn-lt"/>
                <a:ea typeface="+mn-ea"/>
                <a:cs typeface="+mn-cs"/>
              </a:rPr>
              <a:t> 10</a:t>
            </a:r>
            <a:r>
              <a:rPr lang="en-US" sz="1200" kern="1200" baseline="30000" dirty="0">
                <a:solidFill>
                  <a:schemeClr val="tx1"/>
                </a:solidFill>
                <a:latin typeface="+mn-lt"/>
                <a:ea typeface="+mn-ea"/>
                <a:cs typeface="+mn-cs"/>
              </a:rPr>
              <a:t>6</a:t>
            </a:r>
            <a:r>
              <a:rPr lang="en-US" sz="1200" kern="1200" baseline="0" dirty="0">
                <a:solidFill>
                  <a:schemeClr val="tx1"/>
                </a:solidFill>
                <a:latin typeface="+mn-lt"/>
                <a:ea typeface="+mn-ea"/>
                <a:cs typeface="+mn-cs"/>
              </a:rPr>
              <a:t> references in a FORTRAN program, using a page size of 256</a:t>
            </a:r>
          </a:p>
          <a:p>
            <a:r>
              <a:rPr lang="en-US" sz="1200" kern="1200" baseline="0" dirty="0">
                <a:solidFill>
                  <a:schemeClr val="tx1"/>
                </a:solidFill>
                <a:latin typeface="+mn-lt"/>
                <a:ea typeface="+mn-ea"/>
                <a:cs typeface="+mn-cs"/>
              </a:rPr>
              <a:t>words. Baer ran the experiment with frame allocations of 6, 8, 10, 12, and 14 frames.</a:t>
            </a:r>
          </a:p>
          <a:p>
            <a:r>
              <a:rPr lang="en-US" sz="1200" kern="1200" baseline="0" dirty="0">
                <a:solidFill>
                  <a:schemeClr val="tx1"/>
                </a:solidFill>
                <a:latin typeface="+mn-lt"/>
                <a:ea typeface="+mn-ea"/>
                <a:cs typeface="+mn-cs"/>
              </a:rPr>
              <a:t>The differences among the four policies are most striking at small allocations, with</a:t>
            </a:r>
          </a:p>
          <a:p>
            <a:r>
              <a:rPr lang="en-US" sz="1200" kern="1200" baseline="0" dirty="0">
                <a:solidFill>
                  <a:schemeClr val="tx1"/>
                </a:solidFill>
                <a:latin typeface="+mn-lt"/>
                <a:ea typeface="+mn-ea"/>
                <a:cs typeface="+mn-cs"/>
              </a:rPr>
              <a:t>FIFO being over a factor of 2 worse than optimal. All four curves have the same shape</a:t>
            </a:r>
          </a:p>
          <a:p>
            <a:r>
              <a:rPr lang="en-US" sz="1200" kern="1200" baseline="0" dirty="0">
                <a:solidFill>
                  <a:schemeClr val="tx1"/>
                </a:solidFill>
                <a:latin typeface="+mn-lt"/>
                <a:ea typeface="+mn-ea"/>
                <a:cs typeface="+mn-cs"/>
              </a:rPr>
              <a:t>as the idealized behavior shown in Figure 8.10b . In order to run efficiently, we would</a:t>
            </a:r>
          </a:p>
          <a:p>
            <a:r>
              <a:rPr lang="en-US" sz="1200" kern="1200" baseline="0" dirty="0">
                <a:solidFill>
                  <a:schemeClr val="tx1"/>
                </a:solidFill>
                <a:latin typeface="+mn-lt"/>
                <a:ea typeface="+mn-ea"/>
                <a:cs typeface="+mn-cs"/>
              </a:rPr>
              <a:t>like to be to the right of the knee of the curve (with a small page fault rate) while</a:t>
            </a:r>
          </a:p>
          <a:p>
            <a:r>
              <a:rPr lang="en-US" sz="1200" kern="1200" baseline="0" dirty="0">
                <a:solidFill>
                  <a:schemeClr val="tx1"/>
                </a:solidFill>
                <a:latin typeface="+mn-lt"/>
                <a:ea typeface="+mn-ea"/>
                <a:cs typeface="+mn-cs"/>
              </a:rPr>
              <a:t>keeping a small frame allocation (to the left of the knee of the curve). These two constraints</a:t>
            </a:r>
          </a:p>
          <a:p>
            <a:r>
              <a:rPr lang="en-US" sz="1200" kern="1200" baseline="0" dirty="0">
                <a:solidFill>
                  <a:schemeClr val="tx1"/>
                </a:solidFill>
                <a:latin typeface="+mn-lt"/>
                <a:ea typeface="+mn-ea"/>
                <a:cs typeface="+mn-cs"/>
              </a:rPr>
              <a:t>indicate that a desirable mode of operation would be at the knee of the curve.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clock algorithm has also been compared to these other algorithms when</a:t>
            </a:r>
          </a:p>
          <a:p>
            <a:r>
              <a:rPr lang="en-US" sz="1200" kern="1200" baseline="0" dirty="0">
                <a:solidFill>
                  <a:schemeClr val="tx1"/>
                </a:solidFill>
                <a:latin typeface="+mn-lt"/>
                <a:ea typeface="+mn-ea"/>
                <a:cs typeface="+mn-cs"/>
              </a:rPr>
              <a:t>a variable allocation and either global or local replacement scope (see the following</a:t>
            </a:r>
          </a:p>
          <a:p>
            <a:r>
              <a:rPr lang="en-US" sz="1200" kern="1200" baseline="0" dirty="0">
                <a:solidFill>
                  <a:schemeClr val="tx1"/>
                </a:solidFill>
                <a:latin typeface="+mn-lt"/>
                <a:ea typeface="+mn-ea"/>
                <a:cs typeface="+mn-cs"/>
              </a:rPr>
              <a:t>discussion of replacement policy) is used [CARR81]. The clock algorithm</a:t>
            </a:r>
          </a:p>
          <a:p>
            <a:r>
              <a:rPr lang="en-US" sz="1200" kern="1200" baseline="0" dirty="0">
                <a:solidFill>
                  <a:schemeClr val="tx1"/>
                </a:solidFill>
                <a:latin typeface="+mn-lt"/>
                <a:ea typeface="+mn-ea"/>
                <a:cs typeface="+mn-cs"/>
              </a:rPr>
              <a:t>was found to approximate closely the performance of LRU.</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extLst>
      <p:ext uri="{BB962C8B-B14F-4D97-AF65-F5344CB8AC3E}">
        <p14:creationId xmlns:p14="http://schemas.microsoft.com/office/powerpoint/2010/main" val="6039655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40000" lnSpcReduction="20000"/>
          </a:bodyPr>
          <a:lstStyle/>
          <a:p>
            <a:r>
              <a:rPr lang="en-US" sz="1200" b="0" i="0" kern="1200" baseline="0" dirty="0">
                <a:solidFill>
                  <a:schemeClr val="tx1"/>
                </a:solidFill>
                <a:latin typeface="+mn-lt"/>
                <a:ea typeface="+mn-ea"/>
                <a:cs typeface="+mn-cs"/>
              </a:rPr>
              <a:t>Although LRU and the clock policies are superior to FIFO,</a:t>
            </a:r>
          </a:p>
          <a:p>
            <a:r>
              <a:rPr lang="en-US" sz="1200" kern="1200" baseline="0" dirty="0">
                <a:solidFill>
                  <a:schemeClr val="tx1"/>
                </a:solidFill>
                <a:latin typeface="+mn-lt"/>
                <a:ea typeface="+mn-ea"/>
                <a:cs typeface="+mn-cs"/>
              </a:rPr>
              <a:t>they both involve complexity and overhead not suffered with FIFO. In addition,</a:t>
            </a:r>
          </a:p>
          <a:p>
            <a:r>
              <a:rPr lang="en-US" sz="1200" kern="1200" baseline="0" dirty="0">
                <a:solidFill>
                  <a:schemeClr val="tx1"/>
                </a:solidFill>
                <a:latin typeface="+mn-lt"/>
                <a:ea typeface="+mn-ea"/>
                <a:cs typeface="+mn-cs"/>
              </a:rPr>
              <a:t>there is the related issue that the cost of replacing a page that has been modified is</a:t>
            </a:r>
          </a:p>
          <a:p>
            <a:r>
              <a:rPr lang="en-US" sz="1200" kern="1200" baseline="0" dirty="0">
                <a:solidFill>
                  <a:schemeClr val="tx1"/>
                </a:solidFill>
                <a:latin typeface="+mn-lt"/>
                <a:ea typeface="+mn-ea"/>
                <a:cs typeface="+mn-cs"/>
              </a:rPr>
              <a:t>greater than for one that has not, because the former must be written back out to</a:t>
            </a:r>
          </a:p>
          <a:p>
            <a:r>
              <a:rPr lang="en-US" sz="1200" kern="1200" baseline="0" dirty="0">
                <a:solidFill>
                  <a:schemeClr val="tx1"/>
                </a:solidFill>
                <a:latin typeface="+mn-lt"/>
                <a:ea typeface="+mn-ea"/>
                <a:cs typeface="+mn-cs"/>
              </a:rPr>
              <a:t>secondary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 interesting strategy that can improve paging performance and allow</a:t>
            </a:r>
          </a:p>
          <a:p>
            <a:r>
              <a:rPr lang="en-US" sz="1200" kern="1200" baseline="0" dirty="0">
                <a:solidFill>
                  <a:schemeClr val="tx1"/>
                </a:solidFill>
                <a:latin typeface="+mn-lt"/>
                <a:ea typeface="+mn-ea"/>
                <a:cs typeface="+mn-cs"/>
              </a:rPr>
              <a:t>the use of a simpler page replacement policy is page buffering. The VAX VMS</a:t>
            </a:r>
          </a:p>
          <a:p>
            <a:r>
              <a:rPr lang="en-US" sz="1200" kern="1200" baseline="0" dirty="0">
                <a:solidFill>
                  <a:schemeClr val="tx1"/>
                </a:solidFill>
                <a:latin typeface="+mn-lt"/>
                <a:ea typeface="+mn-ea"/>
                <a:cs typeface="+mn-cs"/>
              </a:rPr>
              <a:t>approach is representative.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page replacement algorithm is simple FIFO. To</a:t>
            </a:r>
          </a:p>
          <a:p>
            <a:r>
              <a:rPr lang="en-US" sz="1200" kern="1200" baseline="0" dirty="0">
                <a:solidFill>
                  <a:schemeClr val="tx1"/>
                </a:solidFill>
                <a:latin typeface="+mn-lt"/>
                <a:ea typeface="+mn-ea"/>
                <a:cs typeface="+mn-cs"/>
              </a:rPr>
              <a:t>improve performance, a replaced page is not lost but rather is assigned to one of</a:t>
            </a:r>
          </a:p>
          <a:p>
            <a:r>
              <a:rPr lang="en-US" sz="1200" kern="1200" baseline="0" dirty="0">
                <a:solidFill>
                  <a:schemeClr val="tx1"/>
                </a:solidFill>
                <a:latin typeface="+mn-lt"/>
                <a:ea typeface="+mn-ea"/>
                <a:cs typeface="+mn-cs"/>
              </a:rPr>
              <a:t>two lists:</a:t>
            </a:r>
          </a:p>
          <a:p>
            <a:r>
              <a:rPr lang="en-US" sz="1200" kern="1200" baseline="0" dirty="0">
                <a:solidFill>
                  <a:schemeClr val="tx1"/>
                </a:solidFill>
                <a:latin typeface="+mn-lt"/>
                <a:ea typeface="+mn-ea"/>
                <a:cs typeface="+mn-cs"/>
              </a:rPr>
              <a:t> the free page list if the page has not been modified, </a:t>
            </a:r>
          </a:p>
          <a:p>
            <a:r>
              <a:rPr lang="en-US" sz="1200" kern="1200" baseline="0" dirty="0">
                <a:solidFill>
                  <a:schemeClr val="tx1"/>
                </a:solidFill>
                <a:latin typeface="+mn-lt"/>
                <a:ea typeface="+mn-ea"/>
                <a:cs typeface="+mn-cs"/>
              </a:rPr>
              <a:t>or the modified page</a:t>
            </a:r>
          </a:p>
          <a:p>
            <a:r>
              <a:rPr lang="en-US" sz="1200" kern="1200" baseline="0" dirty="0">
                <a:solidFill>
                  <a:schemeClr val="tx1"/>
                </a:solidFill>
                <a:latin typeface="+mn-lt"/>
                <a:ea typeface="+mn-ea"/>
                <a:cs typeface="+mn-cs"/>
              </a:rPr>
              <a:t>list if it has.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Note that the page is not physically moved about in main memory;</a:t>
            </a:r>
          </a:p>
          <a:p>
            <a:r>
              <a:rPr lang="en-US" sz="1200" kern="1200" baseline="0" dirty="0">
                <a:solidFill>
                  <a:schemeClr val="tx1"/>
                </a:solidFill>
                <a:latin typeface="+mn-lt"/>
                <a:ea typeface="+mn-ea"/>
                <a:cs typeface="+mn-cs"/>
              </a:rPr>
              <a:t>instead, the entry in the page table for this page is removed and placed in either the</a:t>
            </a:r>
          </a:p>
          <a:p>
            <a:r>
              <a:rPr lang="en-US" sz="1200" kern="1200" baseline="0" dirty="0">
                <a:solidFill>
                  <a:schemeClr val="tx1"/>
                </a:solidFill>
                <a:latin typeface="+mn-lt"/>
                <a:ea typeface="+mn-ea"/>
                <a:cs typeface="+mn-cs"/>
              </a:rPr>
              <a:t>free or modified page list.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free page list is a list of page frames available for reading in pages. VMS</a:t>
            </a:r>
          </a:p>
          <a:p>
            <a:r>
              <a:rPr lang="en-US" sz="1200" kern="1200" baseline="0" dirty="0">
                <a:solidFill>
                  <a:schemeClr val="tx1"/>
                </a:solidFill>
                <a:latin typeface="+mn-lt"/>
                <a:ea typeface="+mn-ea"/>
                <a:cs typeface="+mn-cs"/>
              </a:rPr>
              <a:t>tries to keep some small number of frames free at all times. When a page is to be</a:t>
            </a:r>
          </a:p>
          <a:p>
            <a:r>
              <a:rPr lang="en-US" sz="1200" kern="1200" baseline="0" dirty="0">
                <a:solidFill>
                  <a:schemeClr val="tx1"/>
                </a:solidFill>
                <a:latin typeface="+mn-lt"/>
                <a:ea typeface="+mn-ea"/>
                <a:cs typeface="+mn-cs"/>
              </a:rPr>
              <a:t>read in, the page frame at the head of the list is used, destroying the page that was</a:t>
            </a:r>
          </a:p>
          <a:p>
            <a:r>
              <a:rPr lang="en-US" sz="1200" kern="1200" baseline="0" dirty="0">
                <a:solidFill>
                  <a:schemeClr val="tx1"/>
                </a:solidFill>
                <a:latin typeface="+mn-lt"/>
                <a:ea typeface="+mn-ea"/>
                <a:cs typeface="+mn-cs"/>
              </a:rPr>
              <a:t>there. When an unmodified page is to be replaced, it remains in memory and its</a:t>
            </a:r>
          </a:p>
          <a:p>
            <a:r>
              <a:rPr lang="en-US" sz="1200" kern="1200" baseline="0" dirty="0">
                <a:solidFill>
                  <a:schemeClr val="tx1"/>
                </a:solidFill>
                <a:latin typeface="+mn-lt"/>
                <a:ea typeface="+mn-ea"/>
                <a:cs typeface="+mn-cs"/>
              </a:rPr>
              <a:t>page frame is added to the tail of the free page list. Similarly, when a modified page</a:t>
            </a:r>
          </a:p>
          <a:p>
            <a:r>
              <a:rPr lang="en-US" sz="1200" kern="1200" baseline="0" dirty="0">
                <a:solidFill>
                  <a:schemeClr val="tx1"/>
                </a:solidFill>
                <a:latin typeface="+mn-lt"/>
                <a:ea typeface="+mn-ea"/>
                <a:cs typeface="+mn-cs"/>
              </a:rPr>
              <a:t>is to be written out and replaced, its page frame is added to the tail of the modified</a:t>
            </a:r>
          </a:p>
          <a:p>
            <a:r>
              <a:rPr lang="en-US" sz="1200" kern="1200" baseline="0" dirty="0">
                <a:solidFill>
                  <a:schemeClr val="tx1"/>
                </a:solidFill>
                <a:latin typeface="+mn-lt"/>
                <a:ea typeface="+mn-ea"/>
                <a:cs typeface="+mn-cs"/>
              </a:rPr>
              <a:t>page list.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important aspect of these maneuvers is that the page to be replaced</a:t>
            </a:r>
          </a:p>
          <a:p>
            <a:r>
              <a:rPr lang="en-US" sz="1200" kern="1200" baseline="0" dirty="0">
                <a:solidFill>
                  <a:schemeClr val="tx1"/>
                </a:solidFill>
                <a:latin typeface="+mn-lt"/>
                <a:ea typeface="+mn-ea"/>
                <a:cs typeface="+mn-cs"/>
              </a:rPr>
              <a:t>remains in memory. Thus if the process references that page, it is returned to the</a:t>
            </a:r>
          </a:p>
          <a:p>
            <a:r>
              <a:rPr lang="en-US" sz="1200" kern="1200" baseline="0" dirty="0">
                <a:solidFill>
                  <a:schemeClr val="tx1"/>
                </a:solidFill>
                <a:latin typeface="+mn-lt"/>
                <a:ea typeface="+mn-ea"/>
                <a:cs typeface="+mn-cs"/>
              </a:rPr>
              <a:t>resident set of that process at little cost. In effect, the free and modified page lists act</a:t>
            </a:r>
          </a:p>
          <a:p>
            <a:r>
              <a:rPr lang="en-US" sz="1200" kern="1200" baseline="0" dirty="0">
                <a:solidFill>
                  <a:schemeClr val="tx1"/>
                </a:solidFill>
                <a:latin typeface="+mn-lt"/>
                <a:ea typeface="+mn-ea"/>
                <a:cs typeface="+mn-cs"/>
              </a:rPr>
              <a:t>as a cache of pages.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modified page list serves another useful function: Modified</a:t>
            </a:r>
          </a:p>
          <a:p>
            <a:r>
              <a:rPr lang="en-US" sz="1200" kern="1200" baseline="0" dirty="0">
                <a:solidFill>
                  <a:schemeClr val="tx1"/>
                </a:solidFill>
                <a:latin typeface="+mn-lt"/>
                <a:ea typeface="+mn-ea"/>
                <a:cs typeface="+mn-cs"/>
              </a:rPr>
              <a:t>pages are written out in clusters rather than one at a time. This significantly reduces</a:t>
            </a:r>
          </a:p>
          <a:p>
            <a:r>
              <a:rPr lang="en-US" sz="1200" kern="1200" baseline="0" dirty="0">
                <a:solidFill>
                  <a:schemeClr val="tx1"/>
                </a:solidFill>
                <a:latin typeface="+mn-lt"/>
                <a:ea typeface="+mn-ea"/>
                <a:cs typeface="+mn-cs"/>
              </a:rPr>
              <a:t>the number of I/O operations and therefore the amount of disk access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simpler version of page buffering is implemented in the Mach operating</a:t>
            </a:r>
          </a:p>
          <a:p>
            <a:r>
              <a:rPr lang="en-US" sz="1200" kern="1200" baseline="0" dirty="0">
                <a:solidFill>
                  <a:schemeClr val="tx1"/>
                </a:solidFill>
                <a:latin typeface="+mn-lt"/>
                <a:ea typeface="+mn-ea"/>
                <a:cs typeface="+mn-cs"/>
              </a:rPr>
              <a:t>system [RASH88]. In this case, no distinction is made between modified and</a:t>
            </a:r>
          </a:p>
          <a:p>
            <a:r>
              <a:rPr lang="en-US" sz="1200" kern="1200" baseline="0" dirty="0">
                <a:solidFill>
                  <a:schemeClr val="tx1"/>
                </a:solidFill>
                <a:latin typeface="+mn-lt"/>
                <a:ea typeface="+mn-ea"/>
                <a:cs typeface="+mn-cs"/>
              </a:rPr>
              <a:t>unmodified pages.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extLst>
      <p:ext uri="{BB962C8B-B14F-4D97-AF65-F5344CB8AC3E}">
        <p14:creationId xmlns:p14="http://schemas.microsoft.com/office/powerpoint/2010/main" val="34360332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With paged virtual memory, it is not necessary and indeed</a:t>
            </a:r>
          </a:p>
          <a:p>
            <a:r>
              <a:rPr lang="en-US" sz="1200" kern="1200" baseline="0" dirty="0">
                <a:solidFill>
                  <a:schemeClr val="tx1"/>
                </a:solidFill>
                <a:latin typeface="+mn-lt"/>
                <a:ea typeface="+mn-ea"/>
                <a:cs typeface="+mn-cs"/>
              </a:rPr>
              <a:t>may not be possible to bring all of the pages of a process into main memory to</a:t>
            </a:r>
          </a:p>
          <a:p>
            <a:r>
              <a:rPr lang="en-US" sz="1200" kern="1200" baseline="0" dirty="0">
                <a:solidFill>
                  <a:schemeClr val="tx1"/>
                </a:solidFill>
                <a:latin typeface="+mn-lt"/>
                <a:ea typeface="+mn-ea"/>
                <a:cs typeface="+mn-cs"/>
              </a:rPr>
              <a:t>prepare it for execution. Thus, the operating system must decide how many pages to</a:t>
            </a:r>
          </a:p>
          <a:p>
            <a:r>
              <a:rPr lang="en-US" sz="1200" kern="1200" baseline="0" dirty="0">
                <a:solidFill>
                  <a:schemeClr val="tx1"/>
                </a:solidFill>
                <a:latin typeface="+mn-lt"/>
                <a:ea typeface="+mn-ea"/>
                <a:cs typeface="+mn-cs"/>
              </a:rPr>
              <a:t>bring in, that is, how much main memory to allocate to a particular process. Several</a:t>
            </a:r>
          </a:p>
          <a:p>
            <a:r>
              <a:rPr lang="en-US" sz="1200" kern="1200" baseline="0" dirty="0">
                <a:solidFill>
                  <a:schemeClr val="tx1"/>
                </a:solidFill>
                <a:latin typeface="+mn-lt"/>
                <a:ea typeface="+mn-ea"/>
                <a:cs typeface="+mn-cs"/>
              </a:rPr>
              <a:t>factors come into play: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smaller the amount of memory allocated to a process, the more processes</a:t>
            </a:r>
          </a:p>
          <a:p>
            <a:r>
              <a:rPr lang="en-US" sz="1200" kern="1200" baseline="0" dirty="0">
                <a:solidFill>
                  <a:schemeClr val="tx1"/>
                </a:solidFill>
                <a:latin typeface="+mn-lt"/>
                <a:ea typeface="+mn-ea"/>
                <a:cs typeface="+mn-cs"/>
              </a:rPr>
              <a:t>that can reside in main memory at any one time. This increases the probability</a:t>
            </a:r>
          </a:p>
          <a:p>
            <a:r>
              <a:rPr lang="en-US" sz="1200" kern="1200" baseline="0" dirty="0">
                <a:solidFill>
                  <a:schemeClr val="tx1"/>
                </a:solidFill>
                <a:latin typeface="+mn-lt"/>
                <a:ea typeface="+mn-ea"/>
                <a:cs typeface="+mn-cs"/>
              </a:rPr>
              <a:t>that the operating system will find at least one ready process at any given time</a:t>
            </a:r>
          </a:p>
          <a:p>
            <a:r>
              <a:rPr lang="en-US" sz="1200" kern="1200" baseline="0" dirty="0">
                <a:solidFill>
                  <a:schemeClr val="tx1"/>
                </a:solidFill>
                <a:latin typeface="+mn-lt"/>
                <a:ea typeface="+mn-ea"/>
                <a:cs typeface="+mn-cs"/>
              </a:rPr>
              <a:t>and hence reduces the time lost due to swapping.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If a relatively small number of pages of a process are in main memory, then,</a:t>
            </a:r>
          </a:p>
          <a:p>
            <a:r>
              <a:rPr lang="en-US" sz="1200" kern="1200" baseline="0" dirty="0">
                <a:solidFill>
                  <a:schemeClr val="tx1"/>
                </a:solidFill>
                <a:latin typeface="+mn-lt"/>
                <a:ea typeface="+mn-ea"/>
                <a:cs typeface="+mn-cs"/>
              </a:rPr>
              <a:t>despite the principle of locality, the rate of page faults will be rather high (see</a:t>
            </a:r>
          </a:p>
          <a:p>
            <a:r>
              <a:rPr lang="en-US" sz="1200" kern="1200" baseline="0" dirty="0">
                <a:solidFill>
                  <a:schemeClr val="tx1"/>
                </a:solidFill>
                <a:latin typeface="+mn-lt"/>
                <a:ea typeface="+mn-ea"/>
                <a:cs typeface="+mn-cs"/>
              </a:rPr>
              <a:t>Figure 8.10b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Beyond a certain size, additional allocation of main memory to a particular</a:t>
            </a:r>
          </a:p>
          <a:p>
            <a:r>
              <a:rPr lang="en-US" sz="1200" kern="1200" baseline="0" dirty="0">
                <a:solidFill>
                  <a:schemeClr val="tx1"/>
                </a:solidFill>
                <a:latin typeface="+mn-lt"/>
                <a:ea typeface="+mn-ea"/>
                <a:cs typeface="+mn-cs"/>
              </a:rPr>
              <a:t>process will have no noticeable effect on the page fault rate for that process</a:t>
            </a:r>
          </a:p>
          <a:p>
            <a:r>
              <a:rPr lang="en-US" sz="1200" kern="1200" baseline="0" dirty="0">
                <a:solidFill>
                  <a:schemeClr val="tx1"/>
                </a:solidFill>
                <a:latin typeface="+mn-lt"/>
                <a:ea typeface="+mn-ea"/>
                <a:cs typeface="+mn-cs"/>
              </a:rPr>
              <a:t>because of the principle of locality.</a:t>
            </a:r>
          </a:p>
          <a:p>
            <a:endParaRPr lang="en-US" sz="1200" kern="1200" baseline="0" dirty="0">
              <a:solidFill>
                <a:schemeClr val="tx1"/>
              </a:solidFill>
              <a:latin typeface="+mn-lt"/>
              <a:ea typeface="+mn-ea"/>
              <a:cs typeface="+mn-cs"/>
            </a:endParaRP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extLst>
      <p:ext uri="{BB962C8B-B14F-4D97-AF65-F5344CB8AC3E}">
        <p14:creationId xmlns:p14="http://schemas.microsoft.com/office/powerpoint/2010/main" val="27891199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With these factors in mind, two sorts of policies are to be found in contemporary</a:t>
            </a:r>
          </a:p>
          <a:p>
            <a:r>
              <a:rPr lang="en-US" sz="1200" kern="1200" baseline="0" dirty="0">
                <a:solidFill>
                  <a:schemeClr val="tx1"/>
                </a:solidFill>
                <a:latin typeface="+mn-lt"/>
                <a:ea typeface="+mn-ea"/>
                <a:cs typeface="+mn-cs"/>
              </a:rPr>
              <a:t>operating systems.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a:t>
            </a:r>
            <a:r>
              <a:rPr lang="en-US" sz="1200" b="1" kern="1200" baseline="0" dirty="0">
                <a:solidFill>
                  <a:schemeClr val="tx1"/>
                </a:solidFill>
                <a:latin typeface="+mn-lt"/>
                <a:ea typeface="+mn-ea"/>
                <a:cs typeface="+mn-cs"/>
              </a:rPr>
              <a:t>fixed-allocation policy </a:t>
            </a:r>
            <a:r>
              <a:rPr lang="en-US" sz="1200" b="0" kern="1200" baseline="0" dirty="0">
                <a:solidFill>
                  <a:schemeClr val="tx1"/>
                </a:solidFill>
                <a:latin typeface="+mn-lt"/>
                <a:ea typeface="+mn-ea"/>
                <a:cs typeface="+mn-cs"/>
              </a:rPr>
              <a:t>gives a process a fixed number of</a:t>
            </a:r>
          </a:p>
          <a:p>
            <a:r>
              <a:rPr lang="en-US" sz="1200" kern="1200" baseline="0" dirty="0">
                <a:solidFill>
                  <a:schemeClr val="tx1"/>
                </a:solidFill>
                <a:latin typeface="+mn-lt"/>
                <a:ea typeface="+mn-ea"/>
                <a:cs typeface="+mn-cs"/>
              </a:rPr>
              <a:t>frames in main memory within which to execute.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That number is decided at initial</a:t>
            </a:r>
          </a:p>
          <a:p>
            <a:r>
              <a:rPr lang="en-US" sz="1200" kern="1200" baseline="0" dirty="0">
                <a:solidFill>
                  <a:schemeClr val="tx1"/>
                </a:solidFill>
                <a:latin typeface="+mn-lt"/>
                <a:ea typeface="+mn-ea"/>
                <a:cs typeface="+mn-cs"/>
              </a:rPr>
              <a:t>load time (process creation time) and may be determined based on the type of process</a:t>
            </a:r>
          </a:p>
          <a:p>
            <a:r>
              <a:rPr lang="en-US" sz="1200" kern="1200" baseline="0" dirty="0">
                <a:solidFill>
                  <a:schemeClr val="tx1"/>
                </a:solidFill>
                <a:latin typeface="+mn-lt"/>
                <a:ea typeface="+mn-ea"/>
                <a:cs typeface="+mn-cs"/>
              </a:rPr>
              <a:t>(interactive, batch, type of application) or may be based on guidance from the</a:t>
            </a:r>
          </a:p>
          <a:p>
            <a:r>
              <a:rPr lang="en-US" sz="1200" kern="1200" baseline="0" dirty="0">
                <a:solidFill>
                  <a:schemeClr val="tx1"/>
                </a:solidFill>
                <a:latin typeface="+mn-lt"/>
                <a:ea typeface="+mn-ea"/>
                <a:cs typeface="+mn-cs"/>
              </a:rPr>
              <a:t>programmer or system manager.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a fixed-allocation policy, whenever a page</a:t>
            </a:r>
          </a:p>
          <a:p>
            <a:r>
              <a:rPr lang="en-US" sz="1200" kern="1200" baseline="0" dirty="0">
                <a:solidFill>
                  <a:schemeClr val="tx1"/>
                </a:solidFill>
                <a:latin typeface="+mn-lt"/>
                <a:ea typeface="+mn-ea"/>
                <a:cs typeface="+mn-cs"/>
              </a:rPr>
              <a:t>fault occurs in the execution of a process, one of the pages of that process must be</a:t>
            </a:r>
          </a:p>
          <a:p>
            <a:r>
              <a:rPr lang="en-US" sz="1200" kern="1200" baseline="0" dirty="0">
                <a:solidFill>
                  <a:schemeClr val="tx1"/>
                </a:solidFill>
                <a:latin typeface="+mn-lt"/>
                <a:ea typeface="+mn-ea"/>
                <a:cs typeface="+mn-cs"/>
              </a:rPr>
              <a:t>replaced by the needed page.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a:t>
            </a:r>
            <a:r>
              <a:rPr lang="en-US" sz="1200" b="1" kern="1200" baseline="0" dirty="0">
                <a:solidFill>
                  <a:schemeClr val="tx1"/>
                </a:solidFill>
                <a:latin typeface="+mn-lt"/>
                <a:ea typeface="+mn-ea"/>
                <a:cs typeface="+mn-cs"/>
              </a:rPr>
              <a:t>variable-allocation policy </a:t>
            </a:r>
            <a:r>
              <a:rPr lang="en-US" sz="1200" b="0" kern="1200" baseline="0" dirty="0">
                <a:solidFill>
                  <a:schemeClr val="tx1"/>
                </a:solidFill>
                <a:latin typeface="+mn-lt"/>
                <a:ea typeface="+mn-ea"/>
                <a:cs typeface="+mn-cs"/>
              </a:rPr>
              <a:t>allows the number of page frames allocated to a</a:t>
            </a:r>
          </a:p>
          <a:p>
            <a:r>
              <a:rPr lang="en-US" sz="1200" kern="1200" baseline="0" dirty="0">
                <a:solidFill>
                  <a:schemeClr val="tx1"/>
                </a:solidFill>
                <a:latin typeface="+mn-lt"/>
                <a:ea typeface="+mn-ea"/>
                <a:cs typeface="+mn-cs"/>
              </a:rPr>
              <a:t>process to be varied over the lifetime of the process.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Ideally, a process that is suffering</a:t>
            </a:r>
          </a:p>
          <a:p>
            <a:r>
              <a:rPr lang="en-US" sz="1200" kern="1200" baseline="0" dirty="0">
                <a:solidFill>
                  <a:schemeClr val="tx1"/>
                </a:solidFill>
                <a:latin typeface="+mn-lt"/>
                <a:ea typeface="+mn-ea"/>
                <a:cs typeface="+mn-cs"/>
              </a:rPr>
              <a:t>persistently high levels of page faults, indicating that the principle of locality</a:t>
            </a:r>
          </a:p>
          <a:p>
            <a:r>
              <a:rPr lang="en-US" sz="1200" kern="1200" baseline="0" dirty="0">
                <a:solidFill>
                  <a:schemeClr val="tx1"/>
                </a:solidFill>
                <a:latin typeface="+mn-lt"/>
                <a:ea typeface="+mn-ea"/>
                <a:cs typeface="+mn-cs"/>
              </a:rPr>
              <a:t>only holds in a weak form for that process, will be given additional page frames</a:t>
            </a:r>
          </a:p>
          <a:p>
            <a:r>
              <a:rPr lang="en-US" sz="1200" kern="1200" baseline="0" dirty="0">
                <a:solidFill>
                  <a:schemeClr val="tx1"/>
                </a:solidFill>
                <a:latin typeface="+mn-lt"/>
                <a:ea typeface="+mn-ea"/>
                <a:cs typeface="+mn-cs"/>
              </a:rPr>
              <a:t>to reduce the page fault rate; whereas a process with an exceptionally low page</a:t>
            </a:r>
          </a:p>
          <a:p>
            <a:r>
              <a:rPr lang="en-US" sz="1200" kern="1200" baseline="0" dirty="0">
                <a:solidFill>
                  <a:schemeClr val="tx1"/>
                </a:solidFill>
                <a:latin typeface="+mn-lt"/>
                <a:ea typeface="+mn-ea"/>
                <a:cs typeface="+mn-cs"/>
              </a:rPr>
              <a:t>fault rate, indicating that the process is quite well behaved from a locality point of</a:t>
            </a:r>
          </a:p>
          <a:p>
            <a:r>
              <a:rPr lang="en-US" sz="1200" kern="1200" baseline="0" dirty="0">
                <a:solidFill>
                  <a:schemeClr val="tx1"/>
                </a:solidFill>
                <a:latin typeface="+mn-lt"/>
                <a:ea typeface="+mn-ea"/>
                <a:cs typeface="+mn-cs"/>
              </a:rPr>
              <a:t>view, will be given a reduced allocation, with the hope that this will not noticeably</a:t>
            </a:r>
          </a:p>
          <a:p>
            <a:r>
              <a:rPr lang="en-US" sz="1200" kern="1200" baseline="0" dirty="0">
                <a:solidFill>
                  <a:schemeClr val="tx1"/>
                </a:solidFill>
                <a:latin typeface="+mn-lt"/>
                <a:ea typeface="+mn-ea"/>
                <a:cs typeface="+mn-cs"/>
              </a:rPr>
              <a:t>increase the page fault rate.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use of a variable-allocation policy relates to the</a:t>
            </a:r>
          </a:p>
          <a:p>
            <a:r>
              <a:rPr lang="en-US" sz="1200" kern="1200" baseline="0" dirty="0">
                <a:solidFill>
                  <a:schemeClr val="tx1"/>
                </a:solidFill>
                <a:latin typeface="+mn-lt"/>
                <a:ea typeface="+mn-ea"/>
                <a:cs typeface="+mn-cs"/>
              </a:rPr>
              <a:t>concept of replacement scope, as explained in the next subsection.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variable-allocation policy would appear to be the more powerful one.</a:t>
            </a:r>
          </a:p>
          <a:p>
            <a:r>
              <a:rPr lang="en-US" sz="1200" kern="1200" baseline="0" dirty="0">
                <a:solidFill>
                  <a:schemeClr val="tx1"/>
                </a:solidFill>
                <a:latin typeface="+mn-lt"/>
                <a:ea typeface="+mn-ea"/>
                <a:cs typeface="+mn-cs"/>
              </a:rPr>
              <a:t>However, the difficulty with this approach is that it requires the operating system to</a:t>
            </a:r>
          </a:p>
          <a:p>
            <a:r>
              <a:rPr lang="en-US" sz="1200" kern="1200" baseline="0" dirty="0">
                <a:solidFill>
                  <a:schemeClr val="tx1"/>
                </a:solidFill>
                <a:latin typeface="+mn-lt"/>
                <a:ea typeface="+mn-ea"/>
                <a:cs typeface="+mn-cs"/>
              </a:rPr>
              <a:t>assess the behavior of active processes. This inevitably requires software overhead</a:t>
            </a:r>
          </a:p>
          <a:p>
            <a:r>
              <a:rPr lang="en-US" sz="1200" kern="1200" baseline="0" dirty="0">
                <a:solidFill>
                  <a:schemeClr val="tx1"/>
                </a:solidFill>
                <a:latin typeface="+mn-lt"/>
                <a:ea typeface="+mn-ea"/>
                <a:cs typeface="+mn-cs"/>
              </a:rPr>
              <a:t>in the operating system and is dependent on hardware mechanisms provided by the</a:t>
            </a:r>
          </a:p>
          <a:p>
            <a:r>
              <a:rPr lang="en-US" sz="1200" kern="1200" baseline="0" dirty="0">
                <a:solidFill>
                  <a:schemeClr val="tx1"/>
                </a:solidFill>
                <a:latin typeface="+mn-lt"/>
                <a:ea typeface="+mn-ea"/>
                <a:cs typeface="+mn-cs"/>
              </a:rPr>
              <a:t>processor platform.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extLst>
      <p:ext uri="{BB962C8B-B14F-4D97-AF65-F5344CB8AC3E}">
        <p14:creationId xmlns:p14="http://schemas.microsoft.com/office/powerpoint/2010/main" val="19942561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55000" lnSpcReduction="20000"/>
          </a:bodyPr>
          <a:lstStyle/>
          <a:p>
            <a:r>
              <a:rPr lang="en-US" sz="1200" b="0" kern="1200" baseline="0" dirty="0">
                <a:solidFill>
                  <a:schemeClr val="tx1"/>
                </a:solidFill>
                <a:latin typeface="+mn-lt"/>
                <a:ea typeface="+mn-ea"/>
                <a:cs typeface="+mn-cs"/>
              </a:rPr>
              <a:t>A cleaning policy is the opposite of a fetch policy; it is concerned with determining</a:t>
            </a:r>
          </a:p>
          <a:p>
            <a:r>
              <a:rPr lang="en-US" sz="1200" b="0" kern="1200" baseline="0" dirty="0">
                <a:solidFill>
                  <a:schemeClr val="tx1"/>
                </a:solidFill>
                <a:latin typeface="+mn-lt"/>
                <a:ea typeface="+mn-ea"/>
                <a:cs typeface="+mn-cs"/>
              </a:rPr>
              <a:t>when a modified page should be written out to secondary memory.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Two common</a:t>
            </a:r>
          </a:p>
          <a:p>
            <a:r>
              <a:rPr lang="en-US" sz="1200" b="0" kern="1200" baseline="0" dirty="0">
                <a:solidFill>
                  <a:schemeClr val="tx1"/>
                </a:solidFill>
                <a:latin typeface="+mn-lt"/>
                <a:ea typeface="+mn-ea"/>
                <a:cs typeface="+mn-cs"/>
              </a:rPr>
              <a:t>alternatives are demand cleaning and precleaning.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With demand cleaning , a page is</a:t>
            </a:r>
          </a:p>
          <a:p>
            <a:r>
              <a:rPr lang="en-US" sz="1200" b="0" kern="1200" baseline="0" dirty="0">
                <a:solidFill>
                  <a:schemeClr val="tx1"/>
                </a:solidFill>
                <a:latin typeface="+mn-lt"/>
                <a:ea typeface="+mn-ea"/>
                <a:cs typeface="+mn-cs"/>
              </a:rPr>
              <a:t>written out to secondary memory only when it has been selected for replacement.</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A precleaning policy writes modified pages before their page frames are needed so</a:t>
            </a:r>
          </a:p>
          <a:p>
            <a:r>
              <a:rPr lang="en-US" sz="1200" b="0" kern="1200" baseline="0" dirty="0">
                <a:solidFill>
                  <a:schemeClr val="tx1"/>
                </a:solidFill>
                <a:latin typeface="+mn-lt"/>
                <a:ea typeface="+mn-ea"/>
                <a:cs typeface="+mn-cs"/>
              </a:rPr>
              <a:t>that pages can be written out in batches.</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Both </a:t>
            </a:r>
            <a:r>
              <a:rPr lang="en-US" sz="1200" kern="1200" baseline="0" dirty="0" err="1">
                <a:solidFill>
                  <a:schemeClr val="tx1"/>
                </a:solidFill>
                <a:latin typeface="+mn-lt"/>
                <a:ea typeface="+mn-ea"/>
                <a:cs typeface="+mn-cs"/>
              </a:rPr>
              <a:t>precleaning</a:t>
            </a:r>
            <a:r>
              <a:rPr lang="en-US" sz="1200" kern="1200" baseline="0" dirty="0">
                <a:solidFill>
                  <a:schemeClr val="tx1"/>
                </a:solidFill>
                <a:latin typeface="+mn-lt"/>
                <a:ea typeface="+mn-ea"/>
                <a:cs typeface="+mn-cs"/>
              </a:rPr>
              <a:t> and demand cleaning have drawbacks. </a:t>
            </a:r>
            <a:r>
              <a:rPr lang="en-US" sz="1200" b="0" kern="1200" baseline="0" dirty="0">
                <a:solidFill>
                  <a:schemeClr val="tx1"/>
                </a:solidFill>
                <a:latin typeface="+mn-lt"/>
                <a:ea typeface="+mn-ea"/>
                <a:cs typeface="+mn-cs"/>
              </a:rPr>
              <a:t>With </a:t>
            </a:r>
            <a:r>
              <a:rPr lang="en-US" sz="1200" b="0" kern="1200" baseline="0" dirty="0" err="1">
                <a:solidFill>
                  <a:schemeClr val="tx1"/>
                </a:solidFill>
                <a:latin typeface="+mn-lt"/>
                <a:ea typeface="+mn-ea"/>
                <a:cs typeface="+mn-cs"/>
              </a:rPr>
              <a:t>precleaning</a:t>
            </a:r>
            <a:r>
              <a:rPr lang="en-US" sz="1200" b="0" kern="1200" baseline="0" dirty="0">
                <a:solidFill>
                  <a:schemeClr val="tx1"/>
                </a:solidFill>
                <a:latin typeface="+mn-lt"/>
                <a:ea typeface="+mn-ea"/>
                <a:cs typeface="+mn-cs"/>
              </a:rPr>
              <a:t>, a</a:t>
            </a:r>
          </a:p>
          <a:p>
            <a:r>
              <a:rPr lang="en-US" sz="1200" b="0" kern="1200" baseline="0" dirty="0">
                <a:solidFill>
                  <a:schemeClr val="tx1"/>
                </a:solidFill>
                <a:latin typeface="+mn-lt"/>
                <a:ea typeface="+mn-ea"/>
                <a:cs typeface="+mn-cs"/>
              </a:rPr>
              <a:t>page is written out but remains in main memory until the page replacement algorithm</a:t>
            </a:r>
          </a:p>
          <a:p>
            <a:r>
              <a:rPr lang="en-US" sz="1200" b="0" kern="1200" baseline="0" dirty="0">
                <a:solidFill>
                  <a:schemeClr val="tx1"/>
                </a:solidFill>
                <a:latin typeface="+mn-lt"/>
                <a:ea typeface="+mn-ea"/>
                <a:cs typeface="+mn-cs"/>
              </a:rPr>
              <a:t>dictates that it be removed. </a:t>
            </a:r>
            <a:r>
              <a:rPr lang="en-US" sz="1200" b="0" kern="1200" baseline="0" dirty="0" err="1">
                <a:solidFill>
                  <a:schemeClr val="tx1"/>
                </a:solidFill>
                <a:latin typeface="+mn-lt"/>
                <a:ea typeface="+mn-ea"/>
                <a:cs typeface="+mn-cs"/>
              </a:rPr>
              <a:t>Precleaning</a:t>
            </a:r>
            <a:r>
              <a:rPr lang="en-US" sz="1200" b="0" kern="1200" baseline="0" dirty="0">
                <a:solidFill>
                  <a:schemeClr val="tx1"/>
                </a:solidFill>
                <a:latin typeface="+mn-lt"/>
                <a:ea typeface="+mn-ea"/>
                <a:cs typeface="+mn-cs"/>
              </a:rPr>
              <a:t> allows the writing of pages in batches,</a:t>
            </a:r>
          </a:p>
          <a:p>
            <a:r>
              <a:rPr lang="en-US" sz="1200" b="0" kern="1200" baseline="0" dirty="0">
                <a:solidFill>
                  <a:schemeClr val="tx1"/>
                </a:solidFill>
                <a:latin typeface="+mn-lt"/>
                <a:ea typeface="+mn-ea"/>
                <a:cs typeface="+mn-cs"/>
              </a:rPr>
              <a:t>but it makes little sense to write out hundreds or thousands of pages only to find</a:t>
            </a:r>
          </a:p>
          <a:p>
            <a:r>
              <a:rPr lang="en-US" sz="1200" b="0" kern="1200" baseline="0" dirty="0">
                <a:solidFill>
                  <a:schemeClr val="tx1"/>
                </a:solidFill>
                <a:latin typeface="+mn-lt"/>
                <a:ea typeface="+mn-ea"/>
                <a:cs typeface="+mn-cs"/>
              </a:rPr>
              <a:t>that the majority of them have been modified again before they are replaced. The</a:t>
            </a:r>
          </a:p>
          <a:p>
            <a:r>
              <a:rPr lang="en-US" sz="1200" b="0" kern="1200" baseline="0" dirty="0">
                <a:solidFill>
                  <a:schemeClr val="tx1"/>
                </a:solidFill>
                <a:latin typeface="+mn-lt"/>
                <a:ea typeface="+mn-ea"/>
                <a:cs typeface="+mn-cs"/>
              </a:rPr>
              <a:t>transfer capacity of secondary memory is limited and should not be wasted with</a:t>
            </a:r>
          </a:p>
          <a:p>
            <a:r>
              <a:rPr lang="en-US" sz="1200" b="0" kern="1200" baseline="0" dirty="0">
                <a:solidFill>
                  <a:schemeClr val="tx1"/>
                </a:solidFill>
                <a:latin typeface="+mn-lt"/>
                <a:ea typeface="+mn-ea"/>
                <a:cs typeface="+mn-cs"/>
              </a:rPr>
              <a:t>unnecessary cleaning operations.</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On the other hand, with demand cleaning, the writing of a dirty page is coupled</a:t>
            </a:r>
          </a:p>
          <a:p>
            <a:r>
              <a:rPr lang="en-US" sz="1200" kern="1200" baseline="0" dirty="0">
                <a:solidFill>
                  <a:schemeClr val="tx1"/>
                </a:solidFill>
                <a:latin typeface="+mn-lt"/>
                <a:ea typeface="+mn-ea"/>
                <a:cs typeface="+mn-cs"/>
              </a:rPr>
              <a:t>to, and precedes, the reading in of a new page. This technique may minimize</a:t>
            </a:r>
          </a:p>
          <a:p>
            <a:r>
              <a:rPr lang="en-US" sz="1200" kern="1200" baseline="0" dirty="0">
                <a:solidFill>
                  <a:schemeClr val="tx1"/>
                </a:solidFill>
                <a:latin typeface="+mn-lt"/>
                <a:ea typeface="+mn-ea"/>
                <a:cs typeface="+mn-cs"/>
              </a:rPr>
              <a:t>page writes, but it means that a process that suffers a page fault may have to wait</a:t>
            </a:r>
          </a:p>
          <a:p>
            <a:r>
              <a:rPr lang="en-US" sz="1200" kern="1200" baseline="0" dirty="0">
                <a:solidFill>
                  <a:schemeClr val="tx1"/>
                </a:solidFill>
                <a:latin typeface="+mn-lt"/>
                <a:ea typeface="+mn-ea"/>
                <a:cs typeface="+mn-cs"/>
              </a:rPr>
              <a:t>for two page transfers before it can be unblocked. This may decrease processor</a:t>
            </a:r>
          </a:p>
          <a:p>
            <a:r>
              <a:rPr lang="en-US" sz="1200" kern="1200" baseline="0" dirty="0">
                <a:solidFill>
                  <a:schemeClr val="tx1"/>
                </a:solidFill>
                <a:latin typeface="+mn-lt"/>
                <a:ea typeface="+mn-ea"/>
                <a:cs typeface="+mn-cs"/>
              </a:rPr>
              <a:t>utilization.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better approach incorporates page buffering. This allows the adoption of the</a:t>
            </a:r>
          </a:p>
          <a:p>
            <a:r>
              <a:rPr lang="en-US" sz="1200" kern="1200" baseline="0" dirty="0">
                <a:solidFill>
                  <a:schemeClr val="tx1"/>
                </a:solidFill>
                <a:latin typeface="+mn-lt"/>
                <a:ea typeface="+mn-ea"/>
                <a:cs typeface="+mn-cs"/>
              </a:rPr>
              <a:t>following policy: Clean only pages that are replaceable, but decouple the cleaning</a:t>
            </a:r>
          </a:p>
          <a:p>
            <a:r>
              <a:rPr lang="en-US" sz="1200" kern="1200" baseline="0" dirty="0">
                <a:solidFill>
                  <a:schemeClr val="tx1"/>
                </a:solidFill>
                <a:latin typeface="+mn-lt"/>
                <a:ea typeface="+mn-ea"/>
                <a:cs typeface="+mn-cs"/>
              </a:rPr>
              <a:t>and replacement operations. With page buffering, replaced pages can be placed on</a:t>
            </a:r>
          </a:p>
          <a:p>
            <a:r>
              <a:rPr lang="en-US" sz="1200" kern="1200" baseline="0" dirty="0">
                <a:solidFill>
                  <a:schemeClr val="tx1"/>
                </a:solidFill>
                <a:latin typeface="+mn-lt"/>
                <a:ea typeface="+mn-ea"/>
                <a:cs typeface="+mn-cs"/>
              </a:rPr>
              <a:t>two lists: modified and unmodified. The pages on the modified list can periodically</a:t>
            </a:r>
          </a:p>
          <a:p>
            <a:r>
              <a:rPr lang="en-US" sz="1200" kern="1200" baseline="0" dirty="0">
                <a:solidFill>
                  <a:schemeClr val="tx1"/>
                </a:solidFill>
                <a:latin typeface="+mn-lt"/>
                <a:ea typeface="+mn-ea"/>
                <a:cs typeface="+mn-cs"/>
              </a:rPr>
              <a:t>be written out in batches and moved to the unmodified list. A page on the unmodified</a:t>
            </a:r>
          </a:p>
          <a:p>
            <a:r>
              <a:rPr lang="en-US" sz="1200" kern="1200" baseline="0" dirty="0">
                <a:solidFill>
                  <a:schemeClr val="tx1"/>
                </a:solidFill>
                <a:latin typeface="+mn-lt"/>
                <a:ea typeface="+mn-ea"/>
                <a:cs typeface="+mn-cs"/>
              </a:rPr>
              <a:t>list is either reclaimed if it is referenced or lost when its frame is assigned to</a:t>
            </a:r>
          </a:p>
          <a:p>
            <a:r>
              <a:rPr lang="en-US" sz="1200" kern="1200" baseline="0" dirty="0">
                <a:solidFill>
                  <a:schemeClr val="tx1"/>
                </a:solidFill>
                <a:latin typeface="+mn-lt"/>
                <a:ea typeface="+mn-ea"/>
                <a:cs typeface="+mn-cs"/>
              </a:rPr>
              <a:t>another page.</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extLst>
      <p:ext uri="{BB962C8B-B14F-4D97-AF65-F5344CB8AC3E}">
        <p14:creationId xmlns:p14="http://schemas.microsoft.com/office/powerpoint/2010/main" val="17207198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Load control is concerned with determining the number of processes that will be resident</a:t>
            </a:r>
          </a:p>
          <a:p>
            <a:r>
              <a:rPr lang="en-US" sz="1200" kern="1200" baseline="0" dirty="0">
                <a:solidFill>
                  <a:schemeClr val="tx1"/>
                </a:solidFill>
                <a:latin typeface="+mn-lt"/>
                <a:ea typeface="+mn-ea"/>
                <a:cs typeface="+mn-cs"/>
              </a:rPr>
              <a:t>in main memory, which has been referred to as the multiprogramming level.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a:t>
            </a:r>
          </a:p>
          <a:p>
            <a:r>
              <a:rPr lang="en-US" sz="1200" kern="1200" baseline="0" dirty="0">
                <a:solidFill>
                  <a:schemeClr val="tx1"/>
                </a:solidFill>
                <a:latin typeface="+mn-lt"/>
                <a:ea typeface="+mn-ea"/>
                <a:cs typeface="+mn-cs"/>
              </a:rPr>
              <a:t>load control policy is critical in effective memory management.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If too few processes</a:t>
            </a:r>
          </a:p>
          <a:p>
            <a:r>
              <a:rPr lang="en-US" sz="1200" kern="1200" baseline="0" dirty="0">
                <a:solidFill>
                  <a:schemeClr val="tx1"/>
                </a:solidFill>
                <a:latin typeface="+mn-lt"/>
                <a:ea typeface="+mn-ea"/>
                <a:cs typeface="+mn-cs"/>
              </a:rPr>
              <a:t>are resident at any one time, then there will be many occasions when all processes</a:t>
            </a:r>
          </a:p>
          <a:p>
            <a:r>
              <a:rPr lang="en-US" sz="1200" kern="1200" baseline="0" dirty="0">
                <a:solidFill>
                  <a:schemeClr val="tx1"/>
                </a:solidFill>
                <a:latin typeface="+mn-lt"/>
                <a:ea typeface="+mn-ea"/>
                <a:cs typeface="+mn-cs"/>
              </a:rPr>
              <a:t>are blocked, and much time will be spent in swapping.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On the other hand, if too</a:t>
            </a:r>
          </a:p>
          <a:p>
            <a:r>
              <a:rPr lang="en-US" sz="1200" kern="1200" baseline="0" dirty="0">
                <a:solidFill>
                  <a:schemeClr val="tx1"/>
                </a:solidFill>
                <a:latin typeface="+mn-lt"/>
                <a:ea typeface="+mn-ea"/>
                <a:cs typeface="+mn-cs"/>
              </a:rPr>
              <a:t>many processes are resident, then, on average, the size of the resident set of each</a:t>
            </a:r>
          </a:p>
          <a:p>
            <a:r>
              <a:rPr lang="en-US" sz="1200" kern="1200" baseline="0" dirty="0">
                <a:solidFill>
                  <a:schemeClr val="tx1"/>
                </a:solidFill>
                <a:latin typeface="+mn-lt"/>
                <a:ea typeface="+mn-ea"/>
                <a:cs typeface="+mn-cs"/>
              </a:rPr>
              <a:t>process will be inadequate and frequent faulting will occur. The result is thrashing.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extLst>
      <p:ext uri="{BB962C8B-B14F-4D97-AF65-F5344CB8AC3E}">
        <p14:creationId xmlns:p14="http://schemas.microsoft.com/office/powerpoint/2010/main" val="13167666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Thrashing is illustrated in Figure 8.19 . As the</a:t>
            </a:r>
          </a:p>
          <a:p>
            <a:r>
              <a:rPr lang="en-US" sz="1200" kern="1200" baseline="0" dirty="0">
                <a:solidFill>
                  <a:schemeClr val="tx1"/>
                </a:solidFill>
                <a:latin typeface="+mn-lt"/>
                <a:ea typeface="+mn-ea"/>
                <a:cs typeface="+mn-cs"/>
              </a:rPr>
              <a:t>multiprogramming level increases from a small value, one would expect to see</a:t>
            </a:r>
          </a:p>
          <a:p>
            <a:r>
              <a:rPr lang="en-US" sz="1200" kern="1200" baseline="0" dirty="0">
                <a:solidFill>
                  <a:schemeClr val="tx1"/>
                </a:solidFill>
                <a:latin typeface="+mn-lt"/>
                <a:ea typeface="+mn-ea"/>
                <a:cs typeface="+mn-cs"/>
              </a:rPr>
              <a:t>processor utilization rise, because there is less chance that all resident processes</a:t>
            </a:r>
          </a:p>
          <a:p>
            <a:r>
              <a:rPr lang="en-US" sz="1200" kern="1200" baseline="0" dirty="0">
                <a:solidFill>
                  <a:schemeClr val="tx1"/>
                </a:solidFill>
                <a:latin typeface="+mn-lt"/>
                <a:ea typeface="+mn-ea"/>
                <a:cs typeface="+mn-cs"/>
              </a:rPr>
              <a:t>are blocked. However, a point is reached at which the average resident set is</a:t>
            </a:r>
          </a:p>
          <a:p>
            <a:r>
              <a:rPr lang="en-US" sz="1200" kern="1200" baseline="0" dirty="0">
                <a:solidFill>
                  <a:schemeClr val="tx1"/>
                </a:solidFill>
                <a:latin typeface="+mn-lt"/>
                <a:ea typeface="+mn-ea"/>
                <a:cs typeface="+mn-cs"/>
              </a:rPr>
              <a:t>inadequate. At this point, the number of page faults rises dramatically, and</a:t>
            </a:r>
          </a:p>
          <a:p>
            <a:r>
              <a:rPr lang="en-US" sz="1200" kern="1200" baseline="0" dirty="0">
                <a:solidFill>
                  <a:schemeClr val="tx1"/>
                </a:solidFill>
                <a:latin typeface="+mn-lt"/>
                <a:ea typeface="+mn-ea"/>
                <a:cs typeface="+mn-cs"/>
              </a:rPr>
              <a:t>processor utilization collapses.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There are a number of ways to approach this problem. A working set or PFF</a:t>
            </a:r>
          </a:p>
          <a:p>
            <a:r>
              <a:rPr lang="en-US" sz="1200" kern="1200" baseline="0" dirty="0">
                <a:solidFill>
                  <a:schemeClr val="tx1"/>
                </a:solidFill>
                <a:latin typeface="+mn-lt"/>
                <a:ea typeface="+mn-ea"/>
                <a:cs typeface="+mn-cs"/>
              </a:rPr>
              <a:t>algorithm implicitly incorporates load control. Only those processes whose resident</a:t>
            </a:r>
          </a:p>
          <a:p>
            <a:r>
              <a:rPr lang="en-US" sz="1200" kern="1200" baseline="0" dirty="0">
                <a:solidFill>
                  <a:schemeClr val="tx1"/>
                </a:solidFill>
                <a:latin typeface="+mn-lt"/>
                <a:ea typeface="+mn-ea"/>
                <a:cs typeface="+mn-cs"/>
              </a:rPr>
              <a:t>set is sufficiently large are allowed to execute. In providing the required resident set</a:t>
            </a:r>
          </a:p>
          <a:p>
            <a:r>
              <a:rPr lang="en-US" sz="1200" kern="1200" baseline="0" dirty="0">
                <a:solidFill>
                  <a:schemeClr val="tx1"/>
                </a:solidFill>
                <a:latin typeface="+mn-lt"/>
                <a:ea typeface="+mn-ea"/>
                <a:cs typeface="+mn-cs"/>
              </a:rPr>
              <a:t>size for each active process, the policy automatically and dynamically determines</a:t>
            </a:r>
          </a:p>
          <a:p>
            <a:r>
              <a:rPr lang="en-US" sz="1200" kern="1200" baseline="0" dirty="0">
                <a:solidFill>
                  <a:schemeClr val="tx1"/>
                </a:solidFill>
                <a:latin typeface="+mn-lt"/>
                <a:ea typeface="+mn-ea"/>
                <a:cs typeface="+mn-cs"/>
              </a:rPr>
              <a:t>the number of active programs.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approach, suggested by Denning and his colleagues [DENN80b], is</a:t>
            </a:r>
          </a:p>
          <a:p>
            <a:r>
              <a:rPr lang="en-US" sz="1200" kern="1200" baseline="0" dirty="0">
                <a:solidFill>
                  <a:schemeClr val="tx1"/>
                </a:solidFill>
                <a:latin typeface="+mn-lt"/>
                <a:ea typeface="+mn-ea"/>
                <a:cs typeface="+mn-cs"/>
              </a:rPr>
              <a:t>known as the L  = S criterion , which adjusts the multiprogramming level so that the</a:t>
            </a:r>
          </a:p>
          <a:p>
            <a:r>
              <a:rPr lang="en-US" sz="1200" kern="1200" baseline="0" dirty="0">
                <a:solidFill>
                  <a:schemeClr val="tx1"/>
                </a:solidFill>
                <a:latin typeface="+mn-lt"/>
                <a:ea typeface="+mn-ea"/>
                <a:cs typeface="+mn-cs"/>
              </a:rPr>
              <a:t>mean time between faults equals the mean time required to process a page fault.</a:t>
            </a:r>
          </a:p>
          <a:p>
            <a:r>
              <a:rPr lang="en-US" sz="1200" kern="1200" baseline="0" dirty="0">
                <a:solidFill>
                  <a:schemeClr val="tx1"/>
                </a:solidFill>
                <a:latin typeface="+mn-lt"/>
                <a:ea typeface="+mn-ea"/>
                <a:cs typeface="+mn-cs"/>
              </a:rPr>
              <a:t>Performance studies indicate that this is the point at which processor utilization</a:t>
            </a:r>
          </a:p>
          <a:p>
            <a:r>
              <a:rPr lang="en-US" sz="1200" kern="1200" baseline="0" dirty="0">
                <a:solidFill>
                  <a:schemeClr val="tx1"/>
                </a:solidFill>
                <a:latin typeface="+mn-lt"/>
                <a:ea typeface="+mn-ea"/>
                <a:cs typeface="+mn-cs"/>
              </a:rPr>
              <a:t>attained a maximum. A policy with a similar effect, proposed in [LERO76], is the</a:t>
            </a:r>
          </a:p>
          <a:p>
            <a:r>
              <a:rPr lang="en-US" sz="1200" kern="1200" baseline="0" dirty="0">
                <a:solidFill>
                  <a:schemeClr val="tx1"/>
                </a:solidFill>
                <a:latin typeface="+mn-lt"/>
                <a:ea typeface="+mn-ea"/>
                <a:cs typeface="+mn-cs"/>
              </a:rPr>
              <a:t>50% criterion , which attempts to keep utilization of the paging device at approximately</a:t>
            </a:r>
          </a:p>
          <a:p>
            <a:r>
              <a:rPr lang="en-US" sz="1200" kern="1200" baseline="0" dirty="0">
                <a:solidFill>
                  <a:schemeClr val="tx1"/>
                </a:solidFill>
                <a:latin typeface="+mn-lt"/>
                <a:ea typeface="+mn-ea"/>
                <a:cs typeface="+mn-cs"/>
              </a:rPr>
              <a:t>50%. Again, performance studies indicate that this is a point of maximum</a:t>
            </a:r>
          </a:p>
          <a:p>
            <a:r>
              <a:rPr lang="en-US" sz="1200" kern="1200" baseline="0" dirty="0">
                <a:solidFill>
                  <a:schemeClr val="tx1"/>
                </a:solidFill>
                <a:latin typeface="+mn-lt"/>
                <a:ea typeface="+mn-ea"/>
                <a:cs typeface="+mn-cs"/>
              </a:rPr>
              <a:t>processor utilization.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approach is to adapt the clock page replacement algorithm described</a:t>
            </a:r>
          </a:p>
          <a:p>
            <a:r>
              <a:rPr lang="en-US" sz="1200" kern="1200" baseline="0" dirty="0">
                <a:solidFill>
                  <a:schemeClr val="tx1"/>
                </a:solidFill>
                <a:latin typeface="+mn-lt"/>
                <a:ea typeface="+mn-ea"/>
                <a:cs typeface="+mn-cs"/>
              </a:rPr>
              <a:t>earlier (Figure 8.15). [CARR81] describes a technique, using a global scope, that involves</a:t>
            </a:r>
          </a:p>
          <a:p>
            <a:r>
              <a:rPr lang="en-US" sz="1200" kern="1200" baseline="0" dirty="0">
                <a:solidFill>
                  <a:schemeClr val="tx1"/>
                </a:solidFill>
                <a:latin typeface="+mn-lt"/>
                <a:ea typeface="+mn-ea"/>
                <a:cs typeface="+mn-cs"/>
              </a:rPr>
              <a:t>monitoring the rate at which the pointer scans the circular buffer of frames. If the</a:t>
            </a:r>
          </a:p>
          <a:p>
            <a:r>
              <a:rPr lang="en-US" sz="1200" kern="1200" baseline="0" dirty="0">
                <a:solidFill>
                  <a:schemeClr val="tx1"/>
                </a:solidFill>
                <a:latin typeface="+mn-lt"/>
                <a:ea typeface="+mn-ea"/>
                <a:cs typeface="+mn-cs"/>
              </a:rPr>
              <a:t>rate is below a given lower threshold, this indicates one or both of two circumstances: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1.  Few page faults are occurring, resulting in few requests to advance the pointer.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2.  For each request, the average number of frames scanned by the pointer is</a:t>
            </a:r>
          </a:p>
          <a:p>
            <a:r>
              <a:rPr lang="en-US" sz="1200" kern="1200" baseline="0" dirty="0">
                <a:solidFill>
                  <a:schemeClr val="tx1"/>
                </a:solidFill>
                <a:latin typeface="+mn-lt"/>
                <a:ea typeface="+mn-ea"/>
                <a:cs typeface="+mn-cs"/>
              </a:rPr>
              <a:t>small, indicating that there are many resident pages not being referenced and</a:t>
            </a:r>
          </a:p>
          <a:p>
            <a:r>
              <a:rPr lang="en-US" sz="1200" kern="1200" baseline="0" dirty="0">
                <a:solidFill>
                  <a:schemeClr val="tx1"/>
                </a:solidFill>
                <a:latin typeface="+mn-lt"/>
                <a:ea typeface="+mn-ea"/>
                <a:cs typeface="+mn-cs"/>
              </a:rPr>
              <a:t>are readily replaceable.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both cases, the multiprogramming level can safely be increased. On the</a:t>
            </a:r>
          </a:p>
          <a:p>
            <a:r>
              <a:rPr lang="en-US" sz="1200" kern="1200" baseline="0" dirty="0">
                <a:solidFill>
                  <a:schemeClr val="tx1"/>
                </a:solidFill>
                <a:latin typeface="+mn-lt"/>
                <a:ea typeface="+mn-ea"/>
                <a:cs typeface="+mn-cs"/>
              </a:rPr>
              <a:t>other hand, if the pointer scan rate exceeds an upper threshold, this indicates either</a:t>
            </a:r>
          </a:p>
          <a:p>
            <a:r>
              <a:rPr lang="en-US" sz="1200" kern="1200" baseline="0" dirty="0">
                <a:solidFill>
                  <a:schemeClr val="tx1"/>
                </a:solidFill>
                <a:latin typeface="+mn-lt"/>
                <a:ea typeface="+mn-ea"/>
                <a:cs typeface="+mn-cs"/>
              </a:rPr>
              <a:t>a high fault rate or difficulty in locating replaceable pages, which implies that the</a:t>
            </a:r>
          </a:p>
          <a:p>
            <a:r>
              <a:rPr lang="en-US" sz="1200" kern="1200" baseline="0" dirty="0">
                <a:solidFill>
                  <a:schemeClr val="tx1"/>
                </a:solidFill>
                <a:latin typeface="+mn-lt"/>
                <a:ea typeface="+mn-ea"/>
                <a:cs typeface="+mn-cs"/>
              </a:rPr>
              <a:t>multiprogramming level is too high.</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Tree>
    <p:extLst>
      <p:ext uri="{BB962C8B-B14F-4D97-AF65-F5344CB8AC3E}">
        <p14:creationId xmlns:p14="http://schemas.microsoft.com/office/powerpoint/2010/main" val="20266913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7500" lnSpcReduction="20000"/>
          </a:bodyPr>
          <a:lstStyle/>
          <a:p>
            <a:r>
              <a:rPr lang="en-US" sz="1200" b="0" kern="1200" baseline="0" dirty="0">
                <a:solidFill>
                  <a:schemeClr val="tx1"/>
                </a:solidFill>
                <a:latin typeface="+mn-lt"/>
                <a:ea typeface="+mn-ea"/>
                <a:cs typeface="+mn-cs"/>
              </a:rPr>
              <a:t>If the degree of multiprogramming is to be reduced, one</a:t>
            </a:r>
          </a:p>
          <a:p>
            <a:r>
              <a:rPr lang="en-US" sz="1200" b="0" kern="1200" baseline="0" dirty="0">
                <a:solidFill>
                  <a:schemeClr val="tx1"/>
                </a:solidFill>
                <a:latin typeface="+mn-lt"/>
                <a:ea typeface="+mn-ea"/>
                <a:cs typeface="+mn-cs"/>
              </a:rPr>
              <a:t>or more of the currently resident processes must be suspended (swapped out).</a:t>
            </a:r>
          </a:p>
          <a:p>
            <a:r>
              <a:rPr lang="en-US" sz="1200" b="0" kern="1200" baseline="0" dirty="0">
                <a:solidFill>
                  <a:schemeClr val="tx1"/>
                </a:solidFill>
                <a:latin typeface="+mn-lt"/>
                <a:ea typeface="+mn-ea"/>
                <a:cs typeface="+mn-cs"/>
              </a:rPr>
              <a:t>[CARR81] lists six possibilities: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Lowest-priority process: This implements a scheduling policy decision and is</a:t>
            </a:r>
          </a:p>
          <a:p>
            <a:r>
              <a:rPr lang="en-US" sz="1200" b="0" kern="1200" baseline="0" dirty="0">
                <a:solidFill>
                  <a:schemeClr val="tx1"/>
                </a:solidFill>
                <a:latin typeface="+mn-lt"/>
                <a:ea typeface="+mn-ea"/>
                <a:cs typeface="+mn-cs"/>
              </a:rPr>
              <a:t>unrelated to performance issues.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Faulting process: The reasoning is that there is a greater probability that the</a:t>
            </a:r>
          </a:p>
          <a:p>
            <a:r>
              <a:rPr lang="en-US" sz="1200" b="0" kern="1200" baseline="0" dirty="0">
                <a:solidFill>
                  <a:schemeClr val="tx1"/>
                </a:solidFill>
                <a:latin typeface="+mn-lt"/>
                <a:ea typeface="+mn-ea"/>
                <a:cs typeface="+mn-cs"/>
              </a:rPr>
              <a:t>faulting task does not have its working set resident, and performance would</a:t>
            </a:r>
          </a:p>
          <a:p>
            <a:r>
              <a:rPr lang="en-US" sz="1200" b="0" kern="1200" baseline="0" dirty="0">
                <a:solidFill>
                  <a:schemeClr val="tx1"/>
                </a:solidFill>
                <a:latin typeface="+mn-lt"/>
                <a:ea typeface="+mn-ea"/>
                <a:cs typeface="+mn-cs"/>
              </a:rPr>
              <a:t>suffer least by suspending it. In addition, this choice has an immediate payoff</a:t>
            </a:r>
          </a:p>
          <a:p>
            <a:r>
              <a:rPr lang="en-US" sz="1200" b="0" kern="1200" baseline="0" dirty="0">
                <a:solidFill>
                  <a:schemeClr val="tx1"/>
                </a:solidFill>
                <a:latin typeface="+mn-lt"/>
                <a:ea typeface="+mn-ea"/>
                <a:cs typeface="+mn-cs"/>
              </a:rPr>
              <a:t>because it blocks a process that is about to be blocked anyway and it eliminates</a:t>
            </a:r>
          </a:p>
          <a:p>
            <a:r>
              <a:rPr lang="en-US" sz="1200" b="0" kern="1200" baseline="0" dirty="0">
                <a:solidFill>
                  <a:schemeClr val="tx1"/>
                </a:solidFill>
                <a:latin typeface="+mn-lt"/>
                <a:ea typeface="+mn-ea"/>
                <a:cs typeface="+mn-cs"/>
              </a:rPr>
              <a:t>the overhead of a page replacement and I/O operation.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Last process activated: This is the process least likely to have its working set</a:t>
            </a:r>
          </a:p>
          <a:p>
            <a:r>
              <a:rPr lang="en-US" sz="1200" b="0" kern="1200" baseline="0" dirty="0">
                <a:solidFill>
                  <a:schemeClr val="tx1"/>
                </a:solidFill>
                <a:latin typeface="+mn-lt"/>
                <a:ea typeface="+mn-ea"/>
                <a:cs typeface="+mn-cs"/>
              </a:rPr>
              <a:t>resident.</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Process with the smallest resident set: This will require the least future effort</a:t>
            </a:r>
          </a:p>
          <a:p>
            <a:r>
              <a:rPr lang="en-US" sz="1200" b="0" kern="1200" baseline="0" dirty="0">
                <a:solidFill>
                  <a:schemeClr val="tx1"/>
                </a:solidFill>
                <a:latin typeface="+mn-lt"/>
                <a:ea typeface="+mn-ea"/>
                <a:cs typeface="+mn-cs"/>
              </a:rPr>
              <a:t>to reload. However, it penalizes programs with strong locality.</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Largest process: This obtains the most free frames in an overcommitted</a:t>
            </a:r>
          </a:p>
          <a:p>
            <a:r>
              <a:rPr lang="en-US" sz="1200" b="0" kern="1200" baseline="0" dirty="0">
                <a:solidFill>
                  <a:schemeClr val="tx1"/>
                </a:solidFill>
                <a:latin typeface="+mn-lt"/>
                <a:ea typeface="+mn-ea"/>
                <a:cs typeface="+mn-cs"/>
              </a:rPr>
              <a:t>memory, making additional deactivations unlikely soon.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Process with the largest remaining execution window: In most process scheduling</a:t>
            </a:r>
          </a:p>
          <a:p>
            <a:r>
              <a:rPr lang="en-US" sz="1200" b="0" kern="1200" baseline="0" dirty="0">
                <a:solidFill>
                  <a:schemeClr val="tx1"/>
                </a:solidFill>
                <a:latin typeface="+mn-lt"/>
                <a:ea typeface="+mn-ea"/>
                <a:cs typeface="+mn-cs"/>
              </a:rPr>
              <a:t>schemes, a process may only run for a certain quantum of time before</a:t>
            </a:r>
          </a:p>
          <a:p>
            <a:r>
              <a:rPr lang="en-US" sz="1200" b="0" kern="1200" baseline="0" dirty="0">
                <a:solidFill>
                  <a:schemeClr val="tx1"/>
                </a:solidFill>
                <a:latin typeface="+mn-lt"/>
                <a:ea typeface="+mn-ea"/>
                <a:cs typeface="+mn-cs"/>
              </a:rPr>
              <a:t>being interrupted and placed at the end of the Ready queue. This approximates</a:t>
            </a:r>
          </a:p>
          <a:p>
            <a:r>
              <a:rPr lang="en-US" sz="1200" b="0" kern="1200" baseline="0" dirty="0">
                <a:solidFill>
                  <a:schemeClr val="tx1"/>
                </a:solidFill>
                <a:latin typeface="+mn-lt"/>
                <a:ea typeface="+mn-ea"/>
                <a:cs typeface="+mn-cs"/>
              </a:rPr>
              <a:t>a shortest-processing-time-first scheduling discipline.</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39</a:t>
            </a:fld>
            <a:endParaRPr lang="en-US" dirty="0"/>
          </a:p>
        </p:txBody>
      </p:sp>
    </p:spTree>
    <p:extLst>
      <p:ext uri="{BB962C8B-B14F-4D97-AF65-F5344CB8AC3E}">
        <p14:creationId xmlns:p14="http://schemas.microsoft.com/office/powerpoint/2010/main" val="35195505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Summary of </a:t>
            </a:r>
            <a:r>
              <a:rPr lang="en-US"/>
              <a:t>Chapter 8.</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Tree>
    <p:extLst>
      <p:ext uri="{BB962C8B-B14F-4D97-AF65-F5344CB8AC3E}">
        <p14:creationId xmlns:p14="http://schemas.microsoft.com/office/powerpoint/2010/main" val="481043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C6E5A366-441E-004A-99C4-45ECAECAC5B8}" type="datetime1">
              <a:rPr lang="en-US" smtClean="0"/>
              <a:pPr>
                <a:defRPr/>
              </a:pPr>
              <a:t>1/24/2024</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9FF670B-D4C3-2645-8E71-37E6CF2B1BDA}" type="datetime1">
              <a:rPr lang="en-US" smtClean="0"/>
              <a:pPr>
                <a:defRPr/>
              </a:pPr>
              <a:t>1/24/2024</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2A12B7A-0989-4441-9792-2C92C2D10063}" type="datetime1">
              <a:rPr lang="en-US" smtClean="0"/>
              <a:pPr>
                <a:defRPr/>
              </a:pPr>
              <a:t>1/24/2024</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5A837FE2-878B-9A43-B384-ED53116F21BD}" type="datetime1">
              <a:rPr lang="en-US" smtClean="0"/>
              <a:pPr>
                <a:defRPr/>
              </a:pPr>
              <a:t>1/24/2024</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8133A36-AB80-3A4E-AA2F-93BCB5010679}" type="datetime1">
              <a:rPr lang="en-US" smtClean="0"/>
              <a:pPr>
                <a:defRPr/>
              </a:pPr>
              <a:t>1/24/2024</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3BD74C2-5EC5-A243-A899-60AA3C5C25AC}" type="datetime1">
              <a:rPr lang="en-US" smtClean="0"/>
              <a:pPr>
                <a:defRPr/>
              </a:pPr>
              <a:t>1/24/2024</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B9E9B59-E1CB-A44A-AAC7-25A74294F59A}" type="datetime1">
              <a:rPr lang="en-US" smtClean="0"/>
              <a:pPr>
                <a:defRPr/>
              </a:pPr>
              <a:t>1/24/2024</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A549755-5415-FA4D-831D-580E68F4A633}" type="datetime1">
              <a:rPr lang="en-US" smtClean="0"/>
              <a:pPr>
                <a:defRPr/>
              </a:pPr>
              <a:t>1/24/2024</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B2FF20C-E879-B34A-BE5A-741DB5493DF3}" type="datetime1">
              <a:rPr lang="en-US" smtClean="0"/>
              <a:pPr>
                <a:defRPr/>
              </a:pPr>
              <a:t>1/24/2024</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6200E23-A871-494F-B42A-AD7916FCB3FD}" type="datetime1">
              <a:rPr lang="en-US" smtClean="0"/>
              <a:pPr>
                <a:defRPr/>
              </a:pPr>
              <a:t>1/24/2024</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E582FA0-269E-1E4E-B691-C37C0F095037}" type="datetime1">
              <a:rPr lang="en-US" smtClean="0"/>
              <a:pPr>
                <a:defRPr/>
              </a:pPr>
              <a:t>1/24/2024</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454782" y="928914"/>
            <a:ext cx="11243733"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914277" y="968189"/>
            <a:ext cx="10399183"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914277" y="2209800"/>
            <a:ext cx="10399183"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026D12E3-F5B5-214D-B060-ABF6F94C84C4}" type="datetime1">
              <a:rPr lang="en-US" smtClean="0"/>
              <a:pPr/>
              <a:t>1/24/2024</a:t>
            </a:fld>
            <a:endParaRPr lang="en-US"/>
          </a:p>
        </p:txBody>
      </p:sp>
      <p:sp>
        <p:nvSpPr>
          <p:cNvPr id="6" name="Slide Number Placeholder 5"/>
          <p:cNvSpPr>
            <a:spLocks noGrp="1"/>
          </p:cNvSpPr>
          <p:nvPr>
            <p:ph type="sldNum" sz="quarter" idx="12"/>
          </p:nvPr>
        </p:nvSpPr>
        <p:spPr>
          <a:xfrm>
            <a:off x="5740400" y="6492876"/>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fld id="{91AF2B4D-6B12-4EDF-87BB-2B55CECB6611}" type="slidenum">
              <a:rPr lang="en-US" smtClean="0"/>
              <a:pPr/>
              <a:t>‹#›</a:t>
            </a:fld>
            <a:endParaRPr lang="en-US"/>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09600" y="816802"/>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609600" y="457200"/>
            <a:ext cx="10972800" cy="356646"/>
          </a:xfrm>
          <a:prstGeom prst="rect">
            <a:avLst/>
          </a:prstGeom>
        </p:spPr>
      </p:pic>
      <p:pic>
        <p:nvPicPr>
          <p:cNvPr id="10" name="Picture 9" descr="TitleSlideBottom.jpg"/>
          <p:cNvPicPr>
            <a:picLocks noChangeAspect="1"/>
          </p:cNvPicPr>
          <p:nvPr/>
        </p:nvPicPr>
        <p:blipFill>
          <a:blip r:embed="rId3"/>
          <a:stretch>
            <a:fillRect/>
          </a:stretch>
        </p:blipFill>
        <p:spPr>
          <a:xfrm>
            <a:off x="609600" y="2700602"/>
            <a:ext cx="10972800" cy="3700199"/>
          </a:xfrm>
          <a:prstGeom prst="rect">
            <a:avLst/>
          </a:prstGeom>
        </p:spPr>
      </p:pic>
      <p:sp>
        <p:nvSpPr>
          <p:cNvPr id="11"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r>
              <a:rPr kumimoji="0" lang="en-US"/>
              <a:t>© 2017 Pearson Education, Inc., Hoboken, NJ. All rights reserved. </a:t>
            </a: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88563807-D900-5143-9EB7-87A1C32A7D42}" type="datetime1">
              <a:rPr lang="en-US" smtClean="0"/>
              <a:pPr/>
              <a:t>1/24/2024</a:t>
            </a:fld>
            <a:endParaRPr lang="en-US"/>
          </a:p>
        </p:txBody>
      </p:sp>
      <p:sp>
        <p:nvSpPr>
          <p:cNvPr id="5" name="Footer Placeholder 4"/>
          <p:cNvSpPr>
            <a:spLocks noGrp="1"/>
          </p:cNvSpPr>
          <p:nvPr>
            <p:ph type="ftr" sz="quarter" idx="11"/>
          </p:nvPr>
        </p:nvSpPr>
        <p:spPr/>
        <p:txBody>
          <a:bodyPr/>
          <a:lstStyle/>
          <a:p>
            <a:r>
              <a:rPr lang="en-US"/>
              <a:t>© 2017 Pearson Education, Inc., Hoboken, NJ. All rights reserved. </a:t>
            </a:r>
          </a:p>
        </p:txBody>
      </p:sp>
      <p:sp>
        <p:nvSpPr>
          <p:cNvPr id="6" name="Slide Number Placeholder 5"/>
          <p:cNvSpPr>
            <a:spLocks noGrp="1"/>
          </p:cNvSpPr>
          <p:nvPr>
            <p:ph type="sldNum" sz="quarter" idx="12"/>
          </p:nvPr>
        </p:nvSpPr>
        <p:spPr/>
        <p:txBody>
          <a:bodyPr/>
          <a:lstStyle/>
          <a:p>
            <a:fld id="{B1AA4845-A08A-4DF4-8D99-E2E7B6D41C67}" type="slidenum">
              <a:rPr lang="en-US" smtClean="0"/>
              <a:pPr/>
              <a:t>‹#›</a:t>
            </a:fld>
            <a:endParaRPr lang="en-US"/>
          </a:p>
        </p:txBody>
      </p:sp>
      <p:pic>
        <p:nvPicPr>
          <p:cNvPr id="7" name="Picture 6" descr="green.gif"/>
          <p:cNvPicPr>
            <a:picLocks noChangeAspect="1"/>
          </p:cNvPicPr>
          <p:nvPr userDrawn="1"/>
        </p:nvPicPr>
        <p:blipFill>
          <a:blip r:embed="rId2"/>
          <a:srcRect/>
          <a:stretch>
            <a:fillRect/>
          </a:stretch>
        </p:blipFill>
        <p:spPr bwMode="auto">
          <a:xfrm>
            <a:off x="11239501" y="5562600"/>
            <a:ext cx="952500"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1" y="6115050"/>
            <a:ext cx="1587500" cy="742950"/>
          </a:xfrm>
          <a:prstGeom prst="rect">
            <a:avLst/>
          </a:prstGeom>
          <a:noFill/>
          <a:ln w="9525">
            <a:noFill/>
            <a:miter lim="800000"/>
            <a:headEnd/>
            <a:tailEnd/>
          </a:ln>
        </p:spPr>
      </p:pic>
      <p:sp>
        <p:nvSpPr>
          <p:cNvPr id="9" name="Freeform 8"/>
          <p:cNvSpPr/>
          <p:nvPr userDrawn="1"/>
        </p:nvSpPr>
        <p:spPr>
          <a:xfrm>
            <a:off x="1562101" y="6124576"/>
            <a:ext cx="9715500"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25942" y="155575"/>
            <a:ext cx="2000250" cy="1397000"/>
          </a:xfrm>
          <a:prstGeom prst="rect">
            <a:avLst/>
          </a:prstGeom>
          <a:noFill/>
          <a:ln w="9525">
            <a:noFill/>
            <a:miter lim="800000"/>
            <a:headEnd/>
            <a:tailEnd/>
          </a:ln>
        </p:spPr>
      </p:pic>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435428" y="362858"/>
            <a:ext cx="11253411"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30722" y="3575713"/>
            <a:ext cx="719556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4130722" y="4980297"/>
            <a:ext cx="719556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7AF6D3-B4C8-ED4D-ACF1-DAE7BDF48BF1}" type="datetime1">
              <a:rPr lang="en-US" smtClean="0"/>
              <a:pPr/>
              <a:t>1/24/2024</a:t>
            </a:fld>
            <a:endParaRPr lang="en-US"/>
          </a:p>
        </p:txBody>
      </p:sp>
      <p:sp>
        <p:nvSpPr>
          <p:cNvPr id="5" name="Footer Placeholder 4"/>
          <p:cNvSpPr>
            <a:spLocks noGrp="1"/>
          </p:cNvSpPr>
          <p:nvPr>
            <p:ph type="ftr" sz="quarter" idx="11"/>
          </p:nvPr>
        </p:nvSpPr>
        <p:spPr/>
        <p:txBody>
          <a:bodyPr/>
          <a:lstStyle/>
          <a:p>
            <a:r>
              <a:rPr kumimoji="0" lang="en-US"/>
              <a:t>© 2017 Pearson Education, Inc., Hoboken, NJ. All rights reserved. </a:t>
            </a:r>
          </a:p>
        </p:txBody>
      </p:sp>
      <p:sp>
        <p:nvSpPr>
          <p:cNvPr id="6" name="Slide Number Placeholder 5"/>
          <p:cNvSpPr>
            <a:spLocks noGrp="1"/>
          </p:cNvSpPr>
          <p:nvPr>
            <p:ph type="sldNum" sz="quarter" idx="12"/>
          </p:nvPr>
        </p:nvSpPr>
        <p:spPr>
          <a:xfrm>
            <a:off x="5742432" y="6492241"/>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fld id="{96652B35-718D-4E28-AFEB-B694A3B357E8}" type="slidenum">
              <a:rPr kumimoji="0" lang="en-US" smtClean="0"/>
              <a:pPr/>
              <a:t>‹#›</a:t>
            </a:fld>
            <a:endParaRPr kumimoji="0" lang="en-US"/>
          </a:p>
        </p:txBody>
      </p:sp>
      <p:pic>
        <p:nvPicPr>
          <p:cNvPr id="7" name="Picture 6" descr="SectionHeaderLeft.jpg"/>
          <p:cNvPicPr>
            <a:picLocks noChangeAspect="1"/>
          </p:cNvPicPr>
          <p:nvPr/>
        </p:nvPicPr>
        <p:blipFill>
          <a:blip r:embed="rId2"/>
          <a:stretch>
            <a:fillRect/>
          </a:stretch>
        </p:blipFill>
        <p:spPr>
          <a:xfrm>
            <a:off x="627530" y="457200"/>
            <a:ext cx="2955415" cy="5943600"/>
          </a:xfrm>
          <a:prstGeom prst="rect">
            <a:avLst/>
          </a:prstGeom>
        </p:spPr>
      </p:pic>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69411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08F6C-C309-2540-9CA9-3F9CF838CFB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814BB72-ADCE-8C49-A4A4-425C46394EF5}"/>
              </a:ext>
            </a:extLst>
          </p:cNvPr>
          <p:cNvSpPr>
            <a:spLocks noGrp="1"/>
          </p:cNvSpPr>
          <p:nvPr>
            <p:ph type="dt" sz="half" idx="10"/>
          </p:nvPr>
        </p:nvSpPr>
        <p:spPr/>
        <p:txBody>
          <a:bodyPr/>
          <a:lstStyle/>
          <a:p>
            <a:pPr>
              <a:defRPr/>
            </a:pPr>
            <a:fld id="{B261B946-DDE9-EE4C-BD62-5FB32827BAEE}" type="datetime1">
              <a:rPr lang="en-US" smtClean="0"/>
              <a:pPr>
                <a:defRPr/>
              </a:pPr>
              <a:t>1/24/2024</a:t>
            </a:fld>
            <a:endParaRPr lang="en-US" dirty="0"/>
          </a:p>
        </p:txBody>
      </p:sp>
      <p:sp>
        <p:nvSpPr>
          <p:cNvPr id="4" name="Footer Placeholder 3">
            <a:extLst>
              <a:ext uri="{FF2B5EF4-FFF2-40B4-BE49-F238E27FC236}">
                <a16:creationId xmlns:a16="http://schemas.microsoft.com/office/drawing/2014/main" id="{E10F1E5E-DB3F-6A44-B3E6-6B35EAF46B4F}"/>
              </a:ext>
            </a:extLst>
          </p:cNvPr>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5" name="Slide Number Placeholder 4">
            <a:extLst>
              <a:ext uri="{FF2B5EF4-FFF2-40B4-BE49-F238E27FC236}">
                <a16:creationId xmlns:a16="http://schemas.microsoft.com/office/drawing/2014/main" id="{A4D3865E-A5D3-1044-A225-EAEA19E286CA}"/>
              </a:ext>
            </a:extLst>
          </p:cNvPr>
          <p:cNvSpPr>
            <a:spLocks noGrp="1"/>
          </p:cNvSpPr>
          <p:nvPr>
            <p:ph type="sldNum" sz="quarter" idx="12"/>
          </p:nvPr>
        </p:nvSpPr>
        <p:spPr/>
        <p:txBody>
          <a:bodyPr/>
          <a:lstStyle/>
          <a:p>
            <a:pPr>
              <a:defRPr/>
            </a:pPr>
            <a:fld id="{F69DAB5F-4C32-47E8-A254-E438E2D0D3F6}" type="slidenum">
              <a:rPr lang="en-US" smtClean="0"/>
              <a:pPr>
                <a:defRPr/>
              </a:pPr>
              <a:t>‹#›</a:t>
            </a:fld>
            <a:endParaRPr lang="en-US" dirty="0"/>
          </a:p>
        </p:txBody>
      </p:sp>
    </p:spTree>
    <p:extLst>
      <p:ext uri="{BB962C8B-B14F-4D97-AF65-F5344CB8AC3E}">
        <p14:creationId xmlns:p14="http://schemas.microsoft.com/office/powerpoint/2010/main" val="228348708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878539" y="2286001"/>
            <a:ext cx="48768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441744" y="2286001"/>
            <a:ext cx="48768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7B322959-9FDB-E941-AE19-31ACE959482E}" type="datetime1">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884517" y="2040082"/>
            <a:ext cx="48768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84517" y="2797175"/>
            <a:ext cx="48768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37376" y="2040082"/>
            <a:ext cx="48768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37376" y="2797175"/>
            <a:ext cx="48768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10B34EAC-BD50-DD40-9216-2ADA269A21A0}" type="datetime1">
              <a:rPr lang="en-US" smtClean="0"/>
              <a:pPr>
                <a:defRPr/>
              </a:pPr>
              <a:t>1/24/2024</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4408489" y="4484423"/>
            <a:ext cx="3375025" cy="2117"/>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872067" y="2286001"/>
            <a:ext cx="10464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BA9C11CA-7F2E-754F-8983-6A79FA054120}" type="datetime1">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F69DAB5F-4C32-47E8-A254-E438E2D0D3F6}" type="slidenum">
              <a:rPr lang="en-US" smtClean="0"/>
              <a:pPr>
                <a:defRPr/>
              </a:pPr>
              <a:t>‹#›</a:t>
            </a:fld>
            <a:endParaRPr lang="en-US" dirty="0"/>
          </a:p>
        </p:txBody>
      </p:sp>
      <p:sp>
        <p:nvSpPr>
          <p:cNvPr id="9" name="Content Placeholder 2"/>
          <p:cNvSpPr>
            <a:spLocks noGrp="1"/>
          </p:cNvSpPr>
          <p:nvPr>
            <p:ph sz="half" idx="13"/>
          </p:nvPr>
        </p:nvSpPr>
        <p:spPr>
          <a:xfrm>
            <a:off x="872067" y="4302966"/>
            <a:ext cx="10464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437376"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B0201DDB-529A-894C-98FC-EBC413356548}" type="datetime1">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F69DAB5F-4C32-47E8-A254-E438E2D0D3F6}" type="slidenum">
              <a:rPr lang="en-US" smtClean="0"/>
              <a:pPr>
                <a:defRPr/>
              </a:pPr>
              <a:t>‹#›</a:t>
            </a:fld>
            <a:endParaRPr lang="en-US" dirty="0"/>
          </a:p>
        </p:txBody>
      </p:sp>
      <p:sp>
        <p:nvSpPr>
          <p:cNvPr id="9" name="Content Placeholder 2"/>
          <p:cNvSpPr>
            <a:spLocks noGrp="1"/>
          </p:cNvSpPr>
          <p:nvPr>
            <p:ph sz="half" idx="13"/>
          </p:nvPr>
        </p:nvSpPr>
        <p:spPr>
          <a:xfrm>
            <a:off x="6437376"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872113" y="2286001"/>
            <a:ext cx="48768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437376"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DEBE3DF0-DB11-D541-AF5A-1F719033F012}" type="datetime1">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F69DAB5F-4C32-47E8-A254-E438E2D0D3F6}" type="slidenum">
              <a:rPr lang="en-US" smtClean="0"/>
              <a:pPr>
                <a:defRPr/>
              </a:pPr>
              <a:t>‹#›</a:t>
            </a:fld>
            <a:endParaRPr lang="en-US" dirty="0"/>
          </a:p>
        </p:txBody>
      </p:sp>
      <p:sp>
        <p:nvSpPr>
          <p:cNvPr id="9" name="Content Placeholder 2"/>
          <p:cNvSpPr>
            <a:spLocks noGrp="1"/>
          </p:cNvSpPr>
          <p:nvPr>
            <p:ph sz="half" idx="13"/>
          </p:nvPr>
        </p:nvSpPr>
        <p:spPr>
          <a:xfrm>
            <a:off x="6437376"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878541"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878541"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12B63575-ED41-FC49-9837-48865E170BE3}" type="datetime1">
              <a:rPr lang="en-US" smtClean="0"/>
              <a:pPr>
                <a:defRPr/>
              </a:pPr>
              <a:t>1/24/2024</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474133" y="566058"/>
            <a:ext cx="11195352"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4C4491C8-94D6-594D-9412-CF68DDB30CEA}" type="datetime1">
              <a:rPr lang="en-US" smtClean="0"/>
              <a:pPr>
                <a:defRPr/>
              </a:pPr>
              <a:t>1/24/2024</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445105" y="566058"/>
            <a:ext cx="1127276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77824" y="1644868"/>
            <a:ext cx="48768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6437376" y="654268"/>
            <a:ext cx="48768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877824" y="2774732"/>
            <a:ext cx="48768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3B00160-72F4-EC40-B54E-A4B23542D480}" type="datetime1">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474134" y="348343"/>
            <a:ext cx="11243733"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8454677" y="3270960"/>
            <a:ext cx="5943600" cy="31608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77824" y="1644868"/>
            <a:ext cx="48768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877824" y="2774732"/>
            <a:ext cx="48768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84B0576-CB17-4746-9AA5-5C891FEF5A0F}" type="datetime1">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6437376" y="457200"/>
            <a:ext cx="4828032" cy="5943600"/>
          </a:xfrm>
        </p:spPr>
        <p:txBody>
          <a:bodyPr/>
          <a:lstStyle>
            <a:lvl1pPr>
              <a:buNone/>
              <a:defRPr/>
            </a:lvl1pPr>
          </a:lstStyle>
          <a:p>
            <a:r>
              <a:rPr lang="en-US"/>
              <a:t>Click icon to add picture</a:t>
            </a:r>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812800" y="2286001"/>
            <a:ext cx="10498667"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E0EBD584-B366-274C-A4FB-6D31C5EF0DFD}" type="datetime1">
              <a:rPr lang="en-US" smtClean="0"/>
              <a:pPr>
                <a:defRPr/>
              </a:pPr>
              <a:t>1/24/2024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464457" y="362857"/>
            <a:ext cx="11253409"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9482224" y="457200"/>
            <a:ext cx="2061640" cy="5943600"/>
          </a:xfrm>
          <a:prstGeom prst="rect">
            <a:avLst/>
          </a:prstGeom>
        </p:spPr>
      </p:pic>
      <p:sp>
        <p:nvSpPr>
          <p:cNvPr id="10" name="Rectangle 9"/>
          <p:cNvSpPr/>
          <p:nvPr/>
        </p:nvSpPr>
        <p:spPr>
          <a:xfrm rot="5400000">
            <a:off x="642315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9492776" y="693739"/>
            <a:ext cx="1988024"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609600" y="693739"/>
            <a:ext cx="80264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A50CE5AD-BC6E-E54E-965A-029B03F73EC6}" type="datetime1">
              <a:rPr lang="en-US" smtClean="0"/>
              <a:pPr>
                <a:defRPr/>
              </a:pPr>
              <a:t>1/24/2024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454782" y="928914"/>
            <a:ext cx="11243733"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914277" y="968189"/>
            <a:ext cx="10399183"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914277" y="2209800"/>
            <a:ext cx="10399183"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561BC817-842D-814E-8FD9-68702B56241C}" type="datetime1">
              <a:rPr lang="en-US" smtClean="0"/>
              <a:pPr>
                <a:defRPr/>
              </a:pPr>
              <a:t>1/24/2024</a:t>
            </a:fld>
            <a:endParaRPr lang="en-US" dirty="0"/>
          </a:p>
        </p:txBody>
      </p:sp>
      <p:sp>
        <p:nvSpPr>
          <p:cNvPr id="6" name="Slide Number Placeholder 5"/>
          <p:cNvSpPr>
            <a:spLocks noGrp="1"/>
          </p:cNvSpPr>
          <p:nvPr>
            <p:ph type="sldNum" sz="quarter" idx="12"/>
          </p:nvPr>
        </p:nvSpPr>
        <p:spPr>
          <a:xfrm>
            <a:off x="5740400" y="6492876"/>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09600" y="816802"/>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609600" y="457200"/>
            <a:ext cx="10972800" cy="356646"/>
          </a:xfrm>
          <a:prstGeom prst="rect">
            <a:avLst/>
          </a:prstGeom>
        </p:spPr>
      </p:pic>
      <p:pic>
        <p:nvPicPr>
          <p:cNvPr id="10" name="Picture 9" descr="TitleSlideBottom.jpg"/>
          <p:cNvPicPr>
            <a:picLocks noChangeAspect="1"/>
          </p:cNvPicPr>
          <p:nvPr/>
        </p:nvPicPr>
        <p:blipFill>
          <a:blip r:embed="rId3"/>
          <a:stretch>
            <a:fillRect/>
          </a:stretch>
        </p:blipFill>
        <p:spPr>
          <a:xfrm>
            <a:off x="609600" y="2700602"/>
            <a:ext cx="10972800" cy="3700199"/>
          </a:xfrm>
          <a:prstGeom prst="rect">
            <a:avLst/>
          </a:prstGeom>
        </p:spPr>
      </p:pic>
      <p:sp>
        <p:nvSpPr>
          <p:cNvPr id="11"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 </a:t>
            </a:r>
            <a:endParaRPr lang="en-US" dirty="0"/>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01B67CA-D52D-C940-91DD-C668A87DB8AA}" type="datetime1">
              <a:rPr lang="en-US" smtClean="0"/>
              <a:pPr/>
              <a:t>1/24/2024</a:t>
            </a:fld>
            <a:endParaRPr/>
          </a:p>
        </p:txBody>
      </p:sp>
      <p:sp>
        <p:nvSpPr>
          <p:cNvPr id="5" name="Footer Placeholder 4"/>
          <p:cNvSpPr>
            <a:spLocks noGrp="1"/>
          </p:cNvSpPr>
          <p:nvPr>
            <p:ph type="ftr" sz="quarter" idx="11"/>
          </p:nvPr>
        </p:nvSpPr>
        <p:spPr/>
        <p:txBody>
          <a:bodyPr/>
          <a:lstStyle/>
          <a:p>
            <a:r>
              <a:rPr lang="en-US"/>
              <a:t>© 2017 Pearson Education, Inc., Hoboken, NJ. All rights reserved. </a:t>
            </a:r>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cstate="print"/>
          <a:srcRect/>
          <a:stretch>
            <a:fillRect/>
          </a:stretch>
        </p:blipFill>
        <p:spPr bwMode="auto">
          <a:xfrm>
            <a:off x="11239501" y="5562600"/>
            <a:ext cx="952500" cy="838200"/>
          </a:xfrm>
          <a:prstGeom prst="rect">
            <a:avLst/>
          </a:prstGeom>
          <a:noFill/>
          <a:ln w="9525">
            <a:noFill/>
            <a:miter lim="800000"/>
            <a:headEnd/>
            <a:tailEnd/>
          </a:ln>
        </p:spPr>
      </p:pic>
      <p:pic>
        <p:nvPicPr>
          <p:cNvPr id="8" name="Picture 7" descr="hand.gif"/>
          <p:cNvPicPr>
            <a:picLocks noChangeAspect="1"/>
          </p:cNvPicPr>
          <p:nvPr userDrawn="1"/>
        </p:nvPicPr>
        <p:blipFill>
          <a:blip r:embed="rId3" cstate="print"/>
          <a:srcRect/>
          <a:stretch>
            <a:fillRect/>
          </a:stretch>
        </p:blipFill>
        <p:spPr bwMode="auto">
          <a:xfrm>
            <a:off x="1" y="6115050"/>
            <a:ext cx="1587500" cy="742950"/>
          </a:xfrm>
          <a:prstGeom prst="rect">
            <a:avLst/>
          </a:prstGeom>
          <a:noFill/>
          <a:ln w="9525">
            <a:noFill/>
            <a:miter lim="800000"/>
            <a:headEnd/>
            <a:tailEnd/>
          </a:ln>
        </p:spPr>
      </p:pic>
      <p:sp>
        <p:nvSpPr>
          <p:cNvPr id="9" name="Freeform 8"/>
          <p:cNvSpPr/>
          <p:nvPr userDrawn="1"/>
        </p:nvSpPr>
        <p:spPr>
          <a:xfrm>
            <a:off x="1562101" y="6124576"/>
            <a:ext cx="9715500"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cstate="print"/>
          <a:srcRect/>
          <a:stretch>
            <a:fillRect/>
          </a:stretch>
        </p:blipFill>
        <p:spPr bwMode="auto">
          <a:xfrm rot="18850181">
            <a:off x="125942" y="155575"/>
            <a:ext cx="2000250" cy="1397000"/>
          </a:xfrm>
          <a:prstGeom prst="rect">
            <a:avLst/>
          </a:prstGeom>
          <a:noFill/>
          <a:ln w="9525">
            <a:noFill/>
            <a:miter lim="800000"/>
            <a:headEnd/>
            <a:tailEnd/>
          </a:ln>
        </p:spPr>
      </p:pic>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435428" y="362858"/>
            <a:ext cx="11253411"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30722" y="3575713"/>
            <a:ext cx="719556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4130722" y="4980297"/>
            <a:ext cx="719556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46E1E08D-54B8-FB4E-836F-BBA799A3EC0D}" type="datetime1">
              <a:rPr lang="en-US" smtClean="0"/>
              <a:pPr>
                <a:defRPr/>
              </a:pPr>
              <a:t>1/24/2024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a:xfrm>
            <a:off x="5742432" y="6492241"/>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627530" y="457200"/>
            <a:ext cx="2955415" cy="5943600"/>
          </a:xfrm>
          <a:prstGeom prst="rect">
            <a:avLst/>
          </a:prstGeom>
        </p:spPr>
      </p:pic>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69411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878539" y="2286001"/>
            <a:ext cx="48768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441744" y="2286001"/>
            <a:ext cx="48768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3F1DB842-30DF-8749-BD5B-22EC5C381A16}" type="datetime1">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884517" y="2040082"/>
            <a:ext cx="48768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84517" y="2797175"/>
            <a:ext cx="48768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37376" y="2040082"/>
            <a:ext cx="48768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37376" y="2797175"/>
            <a:ext cx="48768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E21E6945-1BC7-424B-B287-F02F7EE1976F}" type="datetime1">
              <a:rPr lang="en-US" smtClean="0"/>
              <a:pPr>
                <a:defRPr/>
              </a:pPr>
              <a:t>1/24/2024</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4408489" y="4484423"/>
            <a:ext cx="3375025" cy="2117"/>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872067" y="2286001"/>
            <a:ext cx="10464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1C5D313F-074B-5548-A714-57B9A7A752FE}" type="datetime1">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872067" y="4302966"/>
            <a:ext cx="10464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437376"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DD3341AF-9E7A-3341-9A2F-46245D3A5C26}" type="datetime1">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437376"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872113" y="2286001"/>
            <a:ext cx="48768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437376"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251F1917-4995-5546-99AA-45E130FA96C3}" type="datetime1">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437376"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878541"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878541"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E4507DB9-18F4-584F-9A9A-E9439B11B737}" type="datetime1">
              <a:rPr lang="en-US" smtClean="0"/>
              <a:pPr>
                <a:defRPr/>
              </a:pPr>
              <a:t>1/24/2024</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474133" y="566058"/>
            <a:ext cx="11195352"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4A976B7E-12E2-EA4A-9ACE-1997C0A0329C}" type="datetime1">
              <a:rPr lang="en-US" smtClean="0"/>
              <a:pPr>
                <a:defRPr/>
              </a:pPr>
              <a:t>1/24/2024</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445105" y="566058"/>
            <a:ext cx="1127276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77824" y="1644868"/>
            <a:ext cx="48768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6437376" y="654268"/>
            <a:ext cx="48768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877824" y="2774732"/>
            <a:ext cx="48768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607FBC4-711A-894A-B6B7-CD10934C11A5}" type="datetime1">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474134" y="348343"/>
            <a:ext cx="11243733"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8454677" y="3270960"/>
            <a:ext cx="5943600" cy="31608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77824" y="1644868"/>
            <a:ext cx="48768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877824" y="2774732"/>
            <a:ext cx="48768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6B759D8-3B76-2D46-A3A2-C770DFCE6BAB}" type="datetime1">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6437376" y="457200"/>
            <a:ext cx="4828032" cy="5943600"/>
          </a:xfrm>
        </p:spPr>
        <p:txBody>
          <a:bodyPr/>
          <a:lstStyle>
            <a:lvl1pPr>
              <a:buNone/>
              <a:defRPr/>
            </a:lvl1pPr>
          </a:lstStyle>
          <a:p>
            <a:r>
              <a:rPr lang="en-US" dirty="0"/>
              <a:t>Click icon to add picture</a:t>
            </a:r>
            <a:endParaRPr dirty="0"/>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812800" y="2286001"/>
            <a:ext cx="10498667"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BEBE7ADB-5037-CB42-82E3-6CF4A9856DD1}" type="datetime1">
              <a:rPr lang="en-US" smtClean="0"/>
              <a:pPr>
                <a:defRPr/>
              </a:pPr>
              <a:t>1/24/2024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464457" y="362857"/>
            <a:ext cx="11253409"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9482224" y="457200"/>
            <a:ext cx="2061640" cy="5943600"/>
          </a:xfrm>
          <a:prstGeom prst="rect">
            <a:avLst/>
          </a:prstGeom>
        </p:spPr>
      </p:pic>
      <p:sp>
        <p:nvSpPr>
          <p:cNvPr id="10" name="Rectangle 9"/>
          <p:cNvSpPr/>
          <p:nvPr/>
        </p:nvSpPr>
        <p:spPr>
          <a:xfrm rot="5400000">
            <a:off x="642315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9492776" y="693739"/>
            <a:ext cx="1988024"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609600" y="693739"/>
            <a:ext cx="80264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29C8256C-4458-8C4D-B665-A5B004402983}" type="datetime1">
              <a:rPr lang="en-US" smtClean="0"/>
              <a:pPr>
                <a:defRPr/>
              </a:pPr>
              <a:t>1/24/2024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1.jpeg"/><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image" Target="../media/image2.jpeg"/><Relationship Id="rId2" Type="http://schemas.openxmlformats.org/officeDocument/2006/relationships/slideLayout" Target="../slideLayouts/slideLayout28.xml"/><Relationship Id="rId16" Type="http://schemas.openxmlformats.org/officeDocument/2006/relationships/image" Target="../media/image1.jpe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theme" Target="../theme/theme3.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3519DBA5-6AB9-E641-A804-B8D6658D52D3}" type="datetime1">
              <a:rPr lang="en-US" smtClean="0"/>
              <a:pPr>
                <a:defRPr/>
              </a:pPr>
              <a:t>1/24/2024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8"/>
          <a:stretch>
            <a:fillRect/>
          </a:stretch>
        </p:blipFill>
        <p:spPr>
          <a:xfrm>
            <a:off x="609600" y="457200"/>
            <a:ext cx="10972800" cy="1382002"/>
          </a:xfrm>
          <a:prstGeom prst="rect">
            <a:avLst/>
          </a:prstGeom>
        </p:spPr>
      </p:pic>
      <p:sp>
        <p:nvSpPr>
          <p:cNvPr id="2" name="Title Placeholder 1"/>
          <p:cNvSpPr>
            <a:spLocks noGrp="1"/>
          </p:cNvSpPr>
          <p:nvPr>
            <p:ph type="title"/>
          </p:nvPr>
        </p:nvSpPr>
        <p:spPr>
          <a:xfrm>
            <a:off x="878417" y="456253"/>
            <a:ext cx="10433051"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3048000" y="2286001"/>
            <a:ext cx="8263467"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8920480" y="6492876"/>
            <a:ext cx="28448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B261B946-DDE9-EE4C-BD62-5FB32827BAEE}" type="datetime1">
              <a:rPr lang="en-US" smtClean="0"/>
              <a:pPr>
                <a:defRPr/>
              </a:pPr>
              <a:t>1/24/2024</a:t>
            </a:fld>
            <a:endParaRPr lang="en-US" dirty="0"/>
          </a:p>
        </p:txBody>
      </p:sp>
      <p:sp>
        <p:nvSpPr>
          <p:cNvPr id="5"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4"/>
          </p:nvPr>
        </p:nvSpPr>
        <p:spPr>
          <a:xfrm>
            <a:off x="504888" y="6149789"/>
            <a:ext cx="7112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F69DAB5F-4C32-47E8-A254-E438E2D0D3F6}"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609600" y="184096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4482" r:id="rId1"/>
    <p:sldLayoutId id="2147484483" r:id="rId2"/>
    <p:sldLayoutId id="2147484484" r:id="rId3"/>
    <p:sldLayoutId id="2147484511" r:id="rId4"/>
    <p:sldLayoutId id="2147484485" r:id="rId5"/>
    <p:sldLayoutId id="2147484486" r:id="rId6"/>
    <p:sldLayoutId id="2147484487" r:id="rId7"/>
    <p:sldLayoutId id="2147484488" r:id="rId8"/>
    <p:sldLayoutId id="2147484489" r:id="rId9"/>
    <p:sldLayoutId id="2147484490" r:id="rId10"/>
    <p:sldLayoutId id="2147484491" r:id="rId11"/>
    <p:sldLayoutId id="2147484492" r:id="rId12"/>
    <p:sldLayoutId id="2147484493" r:id="rId13"/>
    <p:sldLayoutId id="2147484494" r:id="rId14"/>
    <p:sldLayoutId id="2147484495" r:id="rId15"/>
  </p:sldLayoutIdLst>
  <p:transition/>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609600" y="457200"/>
            <a:ext cx="10972800" cy="1382002"/>
          </a:xfrm>
          <a:prstGeom prst="rect">
            <a:avLst/>
          </a:prstGeom>
        </p:spPr>
      </p:pic>
      <p:sp>
        <p:nvSpPr>
          <p:cNvPr id="2" name="Title Placeholder 1"/>
          <p:cNvSpPr>
            <a:spLocks noGrp="1"/>
          </p:cNvSpPr>
          <p:nvPr>
            <p:ph type="title"/>
          </p:nvPr>
        </p:nvSpPr>
        <p:spPr>
          <a:xfrm>
            <a:off x="878417" y="456253"/>
            <a:ext cx="10433051"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3048000" y="2286001"/>
            <a:ext cx="8263467"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8920480" y="6492876"/>
            <a:ext cx="28448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2ED4EC66-2BEB-5949-9F54-9D13C139DD0E}" type="datetime1">
              <a:rPr lang="en-US" smtClean="0"/>
              <a:pPr>
                <a:defRPr/>
              </a:pPr>
              <a:t>1/24/2024</a:t>
            </a:fld>
            <a:endParaRPr lang="en-US" dirty="0"/>
          </a:p>
        </p:txBody>
      </p:sp>
      <p:sp>
        <p:nvSpPr>
          <p:cNvPr id="5"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4"/>
          </p:nvPr>
        </p:nvSpPr>
        <p:spPr>
          <a:xfrm>
            <a:off x="504888" y="6149789"/>
            <a:ext cx="7112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609600" y="184096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4497" r:id="rId1"/>
    <p:sldLayoutId id="2147484498" r:id="rId2"/>
    <p:sldLayoutId id="2147484499" r:id="rId3"/>
    <p:sldLayoutId id="2147484500" r:id="rId4"/>
    <p:sldLayoutId id="2147484501" r:id="rId5"/>
    <p:sldLayoutId id="2147484502" r:id="rId6"/>
    <p:sldLayoutId id="2147484503" r:id="rId7"/>
    <p:sldLayoutId id="2147484504" r:id="rId8"/>
    <p:sldLayoutId id="2147484505" r:id="rId9"/>
    <p:sldLayoutId id="2147484506" r:id="rId10"/>
    <p:sldLayoutId id="2147484507" r:id="rId11"/>
    <p:sldLayoutId id="2147484508" r:id="rId12"/>
    <p:sldLayoutId id="2147484509" r:id="rId13"/>
    <p:sldLayoutId id="2147484510" r:id="rId14"/>
  </p:sldLayoutIdLst>
  <p:transition/>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2.xml"/><Relationship Id="rId4" Type="http://schemas.openxmlformats.org/officeDocument/2006/relationships/image" Target="../media/image11.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2.xml"/><Relationship Id="rId4" Type="http://schemas.openxmlformats.org/officeDocument/2006/relationships/image" Target="../media/image12.emf"/></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4.xml"/><Relationship Id="rId1" Type="http://schemas.openxmlformats.org/officeDocument/2006/relationships/slideLayout" Target="../slideLayouts/slideLayout2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2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8.xml"/><Relationship Id="rId1" Type="http://schemas.openxmlformats.org/officeDocument/2006/relationships/slideLayout" Target="../slideLayouts/slideLayout2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9.xml"/><Relationship Id="rId1" Type="http://schemas.openxmlformats.org/officeDocument/2006/relationships/slideLayout" Target="../slideLayouts/slideLayout2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5.xml"/><Relationship Id="rId1" Type="http://schemas.openxmlformats.org/officeDocument/2006/relationships/slideLayout" Target="../slideLayouts/slideLayout21.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2.xml"/><Relationship Id="rId1" Type="http://schemas.openxmlformats.org/officeDocument/2006/relationships/slideLayout" Target="../slideLayouts/slideLayout21.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35.xml"/><Relationship Id="rId1" Type="http://schemas.openxmlformats.org/officeDocument/2006/relationships/slideLayout" Target="../slideLayouts/slideLayout21.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7.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38.xml"/><Relationship Id="rId1" Type="http://schemas.openxmlformats.org/officeDocument/2006/relationships/slideLayout" Target="../slideLayouts/slideLayout21.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a:xfrm>
            <a:off x="4343401" y="1524001"/>
            <a:ext cx="5396671" cy="1340467"/>
          </a:xfrm>
        </p:spPr>
        <p:txBody>
          <a:bodyPr/>
          <a:lstStyle/>
          <a:p>
            <a:pPr eaLnBrk="1" hangingPunct="1"/>
            <a:r>
              <a:rPr lang="en-US" dirty="0"/>
              <a:t>Chapter 8</a:t>
            </a:r>
            <a:br>
              <a:rPr lang="en-US" dirty="0"/>
            </a:br>
            <a:r>
              <a:rPr lang="en-US" dirty="0"/>
              <a:t>Virtual</a:t>
            </a:r>
            <a:br>
              <a:rPr lang="en-US" dirty="0"/>
            </a:br>
            <a:r>
              <a:rPr lang="en-US" dirty="0"/>
              <a:t>Memory</a:t>
            </a:r>
          </a:p>
        </p:txBody>
      </p:sp>
      <p:sp>
        <p:nvSpPr>
          <p:cNvPr id="3" name="Subtitle 2"/>
          <p:cNvSpPr>
            <a:spLocks noGrp="1"/>
          </p:cNvSpPr>
          <p:nvPr>
            <p:ph type="body" idx="1"/>
          </p:nvPr>
        </p:nvSpPr>
        <p:spPr>
          <a:xfrm>
            <a:off x="-2217207" y="4383580"/>
            <a:ext cx="5362325" cy="861979"/>
          </a:xfrm>
        </p:spPr>
        <p:txBody>
          <a:bodyPr rtlCol="0">
            <a:normAutofit/>
          </a:bodyPr>
          <a:lstStyle/>
          <a:p>
            <a:pPr>
              <a:defRPr/>
            </a:pPr>
            <a:r>
              <a:rPr lang="en-US" dirty="0">
                <a:solidFill>
                  <a:schemeClr val="tx2">
                    <a:lumMod val="75000"/>
                  </a:schemeClr>
                </a:solidFill>
              </a:rPr>
              <a:t>Ninth Edition</a:t>
            </a:r>
          </a:p>
          <a:p>
            <a:pPr>
              <a:defRPr/>
            </a:pPr>
            <a:r>
              <a:rPr lang="en-US" dirty="0">
                <a:solidFill>
                  <a:schemeClr val="tx2">
                    <a:lumMod val="75000"/>
                  </a:schemeClr>
                </a:solidFill>
              </a:rPr>
              <a:t>William Stallings</a:t>
            </a:r>
            <a:endParaRPr lang="en-US" i="1" dirty="0">
              <a:solidFill>
                <a:schemeClr val="tx2">
                  <a:lumMod val="75000"/>
                </a:schemeClr>
              </a:solidFill>
            </a:endParaRPr>
          </a:p>
        </p:txBody>
      </p:sp>
      <p:sp>
        <p:nvSpPr>
          <p:cNvPr id="5" name="Rectangle 4"/>
          <p:cNvSpPr/>
          <p:nvPr/>
        </p:nvSpPr>
        <p:spPr>
          <a:xfrm>
            <a:off x="1011518" y="951255"/>
            <a:ext cx="2133600" cy="3046988"/>
          </a:xfrm>
          <a:prstGeom prst="rect">
            <a:avLst/>
          </a:prstGeom>
        </p:spPr>
        <p:txBody>
          <a:bodyPr wrap="square">
            <a:spAutoFit/>
          </a:bodyPr>
          <a:lstStyle/>
          <a:p>
            <a:pPr lvl="0" algn="ctr">
              <a:defRPr/>
            </a:pPr>
            <a:r>
              <a:rPr lang="en-US" sz="3200" i="1" dirty="0">
                <a:solidFill>
                  <a:schemeClr val="bg2">
                    <a:lumMod val="25000"/>
                  </a:schemeClr>
                </a:solidFill>
                <a:latin typeface="Calisto MT"/>
              </a:rPr>
              <a:t>Operating Systems:</a:t>
            </a:r>
            <a:br>
              <a:rPr lang="en-US" sz="3200" i="1" dirty="0">
                <a:solidFill>
                  <a:schemeClr val="bg2">
                    <a:lumMod val="25000"/>
                  </a:schemeClr>
                </a:solidFill>
                <a:latin typeface="Calisto MT"/>
              </a:rPr>
            </a:br>
            <a:r>
              <a:rPr lang="en-US" sz="3200" i="1" dirty="0">
                <a:solidFill>
                  <a:schemeClr val="bg2">
                    <a:lumMod val="25000"/>
                  </a:schemeClr>
                </a:solidFill>
                <a:latin typeface="Calisto MT"/>
              </a:rPr>
              <a:t>Internals and Design Principles</a:t>
            </a:r>
          </a:p>
          <a:p>
            <a:pPr>
              <a:defRPr/>
            </a:pPr>
            <a:endParaRPr lang="en-US" sz="3200" i="1" dirty="0">
              <a:solidFill>
                <a:schemeClr val="bg2">
                  <a:lumMod val="50000"/>
                </a:schemeClr>
              </a:solidFill>
            </a:endParaRPr>
          </a:p>
        </p:txBody>
      </p:sp>
      <p:sp>
        <p:nvSpPr>
          <p:cNvPr id="6" name="Footer Placeholder 5"/>
          <p:cNvSpPr>
            <a:spLocks noGrp="1"/>
          </p:cNvSpPr>
          <p:nvPr>
            <p:ph type="ftr" sz="quarter" idx="11"/>
          </p:nvPr>
        </p:nvSpPr>
        <p:spPr>
          <a:xfrm>
            <a:off x="1842247" y="6492876"/>
            <a:ext cx="6615953" cy="365125"/>
          </a:xfrm>
        </p:spPr>
        <p:txBody>
          <a:bodyPr/>
          <a:lstStyle/>
          <a:p>
            <a:pPr>
              <a:defRPr/>
            </a:pPr>
            <a:r>
              <a:rPr lang="en-US" dirty="0"/>
              <a:t>© 2017 Pearson Education, Inc., Hoboken, NJ. All rights reserved. </a:t>
            </a:r>
          </a:p>
        </p:txBody>
      </p:sp>
      <p:sp>
        <p:nvSpPr>
          <p:cNvPr id="7" name="Title 1">
            <a:extLst>
              <a:ext uri="{FF2B5EF4-FFF2-40B4-BE49-F238E27FC236}">
                <a16:creationId xmlns:a16="http://schemas.microsoft.com/office/drawing/2014/main" id="{204FBD60-C1C9-545A-0AA5-604E4852B311}"/>
              </a:ext>
            </a:extLst>
          </p:cNvPr>
          <p:cNvSpPr txBox="1">
            <a:spLocks/>
          </p:cNvSpPr>
          <p:nvPr/>
        </p:nvSpPr>
        <p:spPr>
          <a:xfrm>
            <a:off x="4822017" y="3327279"/>
            <a:ext cx="5268153" cy="810905"/>
          </a:xfrm>
          <a:prstGeom prst="rect">
            <a:avLst/>
          </a:prstGeom>
          <a:effectLst/>
        </p:spPr>
        <p:txBody>
          <a:bodyPr vert="horz" lIns="91440" tIns="0" rIns="91440" bIns="0" rtlCol="0" anchor="b" anchorCtr="0">
            <a:noAutofit/>
          </a:bodyPr>
          <a:lstStyle>
            <a:lvl1pPr algn="r" defTabSz="914400" rtl="0" eaLnBrk="1" latinLnBrk="0" hangingPunct="1">
              <a:lnSpc>
                <a:spcPts val="5400"/>
              </a:lnSpc>
              <a:spcBef>
                <a:spcPct val="0"/>
              </a:spcBef>
              <a:buNone/>
              <a:defRPr sz="4600" b="0" kern="1200" cap="none" baseline="0">
                <a:solidFill>
                  <a:schemeClr val="accent1"/>
                </a:solidFill>
                <a:effectLst/>
                <a:latin typeface="+mj-lt"/>
                <a:ea typeface="+mj-ea"/>
                <a:cs typeface="+mj-cs"/>
              </a:defRPr>
            </a:lvl1pPr>
          </a:lstStyle>
          <a:p>
            <a:pPr algn="l" fontAlgn="auto">
              <a:lnSpc>
                <a:spcPct val="100000"/>
              </a:lnSpc>
              <a:spcAft>
                <a:spcPts val="0"/>
              </a:spcAft>
            </a:pPr>
            <a:r>
              <a:rPr lang="en-US" sz="2000" dirty="0"/>
              <a:t>Section 8.1 Hardware and Control Structures</a:t>
            </a:r>
          </a:p>
          <a:p>
            <a:pPr algn="l" fontAlgn="auto">
              <a:lnSpc>
                <a:spcPct val="100000"/>
              </a:lnSpc>
              <a:spcAft>
                <a:spcPts val="0"/>
              </a:spcAft>
            </a:pPr>
            <a:r>
              <a:rPr lang="en-US" sz="2000" dirty="0"/>
              <a:t>Section 8.2 Operating System Software</a:t>
            </a:r>
          </a:p>
        </p:txBody>
      </p:sp>
      <p:sp>
        <p:nvSpPr>
          <p:cNvPr id="4" name="Subtitle 2">
            <a:extLst>
              <a:ext uri="{FF2B5EF4-FFF2-40B4-BE49-F238E27FC236}">
                <a16:creationId xmlns:a16="http://schemas.microsoft.com/office/drawing/2014/main" id="{9E45F566-3880-EB04-761D-406B450A715C}"/>
              </a:ext>
            </a:extLst>
          </p:cNvPr>
          <p:cNvSpPr txBox="1">
            <a:spLocks/>
          </p:cNvSpPr>
          <p:nvPr/>
        </p:nvSpPr>
        <p:spPr>
          <a:xfrm>
            <a:off x="5092215" y="5735420"/>
            <a:ext cx="5362325" cy="805743"/>
          </a:xfrm>
          <a:prstGeom prst="rect">
            <a:avLst/>
          </a:prstGeom>
        </p:spPr>
        <p:txBody>
          <a:bodyPr vert="horz" lIns="91440" tIns="0" rIns="91440" bIns="0" rtlCol="0" anchor="t" anchorCtr="0">
            <a:normAutofit/>
          </a:bodyPr>
          <a:lstStyle>
            <a:lvl1pPr marL="0" indent="0" algn="r" defTabSz="914400" rtl="0" eaLnBrk="1" latinLnBrk="0" hangingPunct="1">
              <a:spcBef>
                <a:spcPts val="300"/>
              </a:spcBef>
              <a:buClr>
                <a:schemeClr val="accent1"/>
              </a:buClr>
              <a:buSzPct val="75000"/>
              <a:buFont typeface="Wingdings" pitchFamily="2" charset="2"/>
              <a:buNone/>
              <a:defRPr sz="1800" kern="1200">
                <a:solidFill>
                  <a:schemeClr val="tx1">
                    <a:lumMod val="50000"/>
                    <a:lumOff val="50000"/>
                  </a:schemeClr>
                </a:solidFill>
                <a:latin typeface="+mn-lt"/>
                <a:ea typeface="+mn-ea"/>
                <a:cs typeface="+mn-cs"/>
              </a:defRPr>
            </a:lvl1pPr>
            <a:lvl2pPr marL="457200" indent="0" algn="l" defTabSz="914400" rtl="0" eaLnBrk="1" latinLnBrk="0" hangingPunct="1">
              <a:spcBef>
                <a:spcPts val="600"/>
              </a:spcBef>
              <a:buClr>
                <a:schemeClr val="accent1"/>
              </a:buClr>
              <a:buSzPct val="75000"/>
              <a:buFont typeface="Wingdings" pitchFamily="2" charset="2"/>
              <a:buNone/>
              <a:defRPr sz="1800" kern="1200">
                <a:solidFill>
                  <a:schemeClr val="tx1">
                    <a:tint val="75000"/>
                  </a:schemeClr>
                </a:solidFill>
                <a:latin typeface="+mn-lt"/>
                <a:ea typeface="+mn-ea"/>
                <a:cs typeface="+mn-cs"/>
              </a:defRPr>
            </a:lvl2pPr>
            <a:lvl3pPr marL="914400" indent="0" algn="l" defTabSz="914400" rtl="0" eaLnBrk="1" latinLnBrk="0" hangingPunct="1">
              <a:spcBef>
                <a:spcPts val="600"/>
              </a:spcBef>
              <a:buClr>
                <a:schemeClr val="accent1"/>
              </a:buClr>
              <a:buSzPct val="75000"/>
              <a:buFont typeface="Wingdings" pitchFamily="2" charset="2"/>
              <a:buNone/>
              <a:defRPr sz="1600" kern="1200">
                <a:solidFill>
                  <a:schemeClr val="tx1">
                    <a:tint val="75000"/>
                  </a:schemeClr>
                </a:solidFill>
                <a:latin typeface="+mn-lt"/>
                <a:ea typeface="+mn-ea"/>
                <a:cs typeface="+mn-cs"/>
              </a:defRPr>
            </a:lvl3pPr>
            <a:lvl4pPr marL="1371600" indent="0" algn="l" defTabSz="914400" rtl="0" eaLnBrk="1" latinLnBrk="0" hangingPunct="1">
              <a:spcBef>
                <a:spcPts val="600"/>
              </a:spcBef>
              <a:buClr>
                <a:schemeClr val="accent1"/>
              </a:buClr>
              <a:buSzPct val="75000"/>
              <a:buFont typeface="Wingdings" pitchFamily="2" charset="2"/>
              <a:buNone/>
              <a:defRPr sz="1400" kern="1200">
                <a:solidFill>
                  <a:schemeClr val="tx1">
                    <a:tint val="75000"/>
                  </a:schemeClr>
                </a:solidFill>
                <a:latin typeface="+mn-lt"/>
                <a:ea typeface="+mn-ea"/>
                <a:cs typeface="+mn-cs"/>
              </a:defRPr>
            </a:lvl4pPr>
            <a:lvl5pPr marL="1828800" indent="0" algn="l" defTabSz="914400" rtl="0" eaLnBrk="1" latinLnBrk="0" hangingPunct="1">
              <a:spcBef>
                <a:spcPts val="600"/>
              </a:spcBef>
              <a:buClr>
                <a:schemeClr val="accent1"/>
              </a:buClr>
              <a:buSzPct val="75000"/>
              <a:buFont typeface="Wingdings" pitchFamily="2" charset="2"/>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fontAlgn="auto">
              <a:spcAft>
                <a:spcPts val="0"/>
              </a:spcAft>
              <a:defRPr/>
            </a:pPr>
            <a:endParaRPr lang="en-US" dirty="0">
              <a:solidFill>
                <a:schemeClr val="tx2">
                  <a:lumMod val="75000"/>
                </a:schemeClr>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xmlns:mv="urn:schemas-microsoft-com:mac:vml">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AE4B2-6C4F-6AB9-4CD6-80DCD3B8CCDC}"/>
              </a:ext>
            </a:extLst>
          </p:cNvPr>
          <p:cNvSpPr>
            <a:spLocks noGrp="1"/>
          </p:cNvSpPr>
          <p:nvPr>
            <p:ph type="ctrTitle"/>
          </p:nvPr>
        </p:nvSpPr>
        <p:spPr>
          <a:xfrm>
            <a:off x="533400" y="484187"/>
            <a:ext cx="10363200" cy="1470025"/>
          </a:xfrm>
        </p:spPr>
        <p:txBody>
          <a:bodyPr/>
          <a:lstStyle/>
          <a:p>
            <a:r>
              <a:rPr lang="en-GB" b="1" dirty="0"/>
              <a:t>Lecture Outline</a:t>
            </a:r>
          </a:p>
        </p:txBody>
      </p:sp>
      <p:sp>
        <p:nvSpPr>
          <p:cNvPr id="3" name="Subtitle 2">
            <a:extLst>
              <a:ext uri="{FF2B5EF4-FFF2-40B4-BE49-F238E27FC236}">
                <a16:creationId xmlns:a16="http://schemas.microsoft.com/office/drawing/2014/main" id="{E90E0579-9974-8153-74B8-1C1EF0C179ED}"/>
              </a:ext>
            </a:extLst>
          </p:cNvPr>
          <p:cNvSpPr>
            <a:spLocks noGrp="1"/>
          </p:cNvSpPr>
          <p:nvPr>
            <p:ph type="subTitle" idx="1"/>
          </p:nvPr>
        </p:nvSpPr>
        <p:spPr>
          <a:xfrm>
            <a:off x="1447800" y="2667000"/>
            <a:ext cx="8534400" cy="1752600"/>
          </a:xfrm>
        </p:spPr>
        <p:txBody>
          <a:bodyPr/>
          <a:lstStyle/>
          <a:p>
            <a:pPr marL="457200" indent="-457200" algn="l" fontAlgn="auto">
              <a:lnSpc>
                <a:spcPct val="100000"/>
              </a:lnSpc>
              <a:spcAft>
                <a:spcPts val="0"/>
              </a:spcAft>
              <a:buFont typeface="Wingdings" panose="05000000000000000000" pitchFamily="2" charset="2"/>
              <a:buChar char="v"/>
            </a:pPr>
            <a:r>
              <a:rPr lang="en-US" sz="3200" dirty="0">
                <a:solidFill>
                  <a:schemeClr val="tx1"/>
                </a:solidFill>
              </a:rPr>
              <a:t>Hardware and Control Structures</a:t>
            </a:r>
          </a:p>
          <a:p>
            <a:pPr marL="457200" indent="-457200" algn="l" fontAlgn="auto">
              <a:lnSpc>
                <a:spcPct val="100000"/>
              </a:lnSpc>
              <a:spcAft>
                <a:spcPts val="0"/>
              </a:spcAft>
              <a:buFont typeface="Wingdings" panose="05000000000000000000" pitchFamily="2" charset="2"/>
              <a:buChar char="v"/>
            </a:pPr>
            <a:r>
              <a:rPr lang="en-US" sz="3200" dirty="0">
                <a:solidFill>
                  <a:schemeClr val="tx1"/>
                </a:solidFill>
              </a:rPr>
              <a:t>Operating System Software</a:t>
            </a:r>
          </a:p>
          <a:p>
            <a:endParaRPr lang="en-GB" dirty="0"/>
          </a:p>
        </p:txBody>
      </p:sp>
      <p:sp>
        <p:nvSpPr>
          <p:cNvPr id="4" name="Footer Placeholder 3">
            <a:extLst>
              <a:ext uri="{FF2B5EF4-FFF2-40B4-BE49-F238E27FC236}">
                <a16:creationId xmlns:a16="http://schemas.microsoft.com/office/drawing/2014/main" id="{515746EC-55CA-E6BE-5E55-65244D24846F}"/>
              </a:ext>
            </a:extLst>
          </p:cNvPr>
          <p:cNvSpPr>
            <a:spLocks noGrp="1"/>
          </p:cNvSpPr>
          <p:nvPr>
            <p:ph type="ftr" sz="quarter" idx="11"/>
          </p:nvPr>
        </p:nvSpPr>
        <p:spPr/>
        <p:txBody>
          <a:bodyPr/>
          <a:lstStyle/>
          <a:p>
            <a:pPr>
              <a:defRPr/>
            </a:pPr>
            <a:r>
              <a:rPr lang="en-US"/>
              <a:t>© 2017 Pearson Education, Inc., Hoboken, NJ. All rights reserved. </a:t>
            </a:r>
            <a:endParaRPr lang="en-US" dirty="0"/>
          </a:p>
        </p:txBody>
      </p:sp>
    </p:spTree>
    <p:extLst>
      <p:ext uri="{BB962C8B-B14F-4D97-AF65-F5344CB8AC3E}">
        <p14:creationId xmlns:p14="http://schemas.microsoft.com/office/powerpoint/2010/main" val="214678233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09801" y="6096000"/>
            <a:ext cx="7924801" cy="293132"/>
          </a:xfrm>
          <a:prstGeom prst="rect">
            <a:avLst/>
          </a:prstGeom>
          <a:blipFill rotWithShape="1">
            <a:blip r:embed="rId3"/>
            <a:tile tx="0" ty="0" sx="100000" sy="100000" flip="none" algn="tl"/>
          </a:blipFill>
        </p:spPr>
        <p:txBody>
          <a:bodyPr wrap="square" rtlCol="0">
            <a:spAutoFit/>
          </a:bodyPr>
          <a:lstStyle/>
          <a:p>
            <a:endParaRPr lang="en-US" dirty="0"/>
          </a:p>
        </p:txBody>
      </p:sp>
      <p:pic>
        <p:nvPicPr>
          <p:cNvPr id="5" name="Picture 4"/>
          <p:cNvPicPr>
            <a:picLocks noChangeAspect="1"/>
          </p:cNvPicPr>
          <p:nvPr/>
        </p:nvPicPr>
        <p:blipFill>
          <a:blip r:embed="rId4"/>
          <a:stretch>
            <a:fillRect/>
          </a:stretch>
        </p:blipFill>
        <p:spPr>
          <a:xfrm>
            <a:off x="971176" y="488539"/>
            <a:ext cx="10757648" cy="5726930"/>
          </a:xfrm>
          <a:prstGeom prst="rect">
            <a:avLst/>
          </a:prstGeom>
        </p:spPr>
      </p:pic>
      <p:sp>
        <p:nvSpPr>
          <p:cNvPr id="7" name="Rectangle 6"/>
          <p:cNvSpPr/>
          <p:nvPr/>
        </p:nvSpPr>
        <p:spPr>
          <a:xfrm>
            <a:off x="2209801" y="5984840"/>
            <a:ext cx="8153400" cy="369332"/>
          </a:xfrm>
          <a:prstGeom prst="rect">
            <a:avLst/>
          </a:prstGeom>
        </p:spPr>
        <p:txBody>
          <a:bodyPr wrap="square">
            <a:spAutoFit/>
          </a:bodyPr>
          <a:lstStyle/>
          <a:p>
            <a:pPr algn="ctr"/>
            <a:r>
              <a:rPr lang="en-US" b="1" dirty="0">
                <a:latin typeface="+mn-lt"/>
              </a:rPr>
              <a:t>Table 8.1  Virtual Memory Terminology</a:t>
            </a:r>
            <a:r>
              <a:rPr lang="en-US" dirty="0">
                <a:latin typeface="+mn-lt"/>
              </a:rPr>
              <a:t> </a:t>
            </a:r>
          </a:p>
        </p:txBody>
      </p:sp>
      <p:sp>
        <p:nvSpPr>
          <p:cNvPr id="10" name="Footer Placeholder 9"/>
          <p:cNvSpPr>
            <a:spLocks noGrp="1"/>
          </p:cNvSpPr>
          <p:nvPr>
            <p:ph type="ftr" sz="quarter" idx="11"/>
          </p:nvPr>
        </p:nvSpPr>
        <p:spPr>
          <a:xfrm>
            <a:off x="1842247" y="6492876"/>
            <a:ext cx="59301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067748"/>
          </a:xfrm>
        </p:spPr>
        <p:txBody>
          <a:bodyPr/>
          <a:lstStyle/>
          <a:p>
            <a:pPr algn="ctr"/>
            <a:r>
              <a:rPr lang="en-US" sz="4000" dirty="0">
                <a:solidFill>
                  <a:schemeClr val="accent6">
                    <a:lumMod val="50000"/>
                  </a:schemeClr>
                </a:solidFill>
              </a:rPr>
              <a:t>Hardware and Control Structures</a:t>
            </a:r>
          </a:p>
        </p:txBody>
      </p:sp>
      <p:sp>
        <p:nvSpPr>
          <p:cNvPr id="3" name="Content Placeholder 2"/>
          <p:cNvSpPr>
            <a:spLocks noGrp="1"/>
          </p:cNvSpPr>
          <p:nvPr>
            <p:ph idx="4294967295"/>
          </p:nvPr>
        </p:nvSpPr>
        <p:spPr>
          <a:xfrm>
            <a:off x="361079" y="1981200"/>
            <a:ext cx="11056470" cy="5257800"/>
          </a:xfrm>
        </p:spPr>
        <p:txBody>
          <a:bodyPr/>
          <a:lstStyle/>
          <a:p>
            <a:r>
              <a:rPr lang="en-US" sz="3000" dirty="0"/>
              <a:t>Two characteristics fundamental to memory management:</a:t>
            </a:r>
          </a:p>
          <a:p>
            <a:pPr marL="1371600" lvl="2" indent="-457200">
              <a:buSzPct val="90000"/>
              <a:buFont typeface="+mj-lt"/>
              <a:buAutoNum type="arabicParenR"/>
            </a:pPr>
            <a:r>
              <a:rPr lang="en-US" sz="2200" dirty="0"/>
              <a:t>All memory references are logical addresses that are dynamically translated into physical addresses at run time</a:t>
            </a:r>
          </a:p>
          <a:p>
            <a:pPr marL="1371600" lvl="2" indent="-457200">
              <a:buSzPct val="90000"/>
              <a:buFont typeface="+mj-lt"/>
              <a:buAutoNum type="arabicParenR"/>
            </a:pPr>
            <a:r>
              <a:rPr lang="en-US" sz="2200" dirty="0"/>
              <a:t>A process may be broken up into a number of pieces that don’t need to be contiguously located in main memory during execution</a:t>
            </a:r>
            <a:endParaRPr lang="en-GB" sz="2200" dirty="0"/>
          </a:p>
          <a:p>
            <a:pPr marL="1371600" lvl="2" indent="-457200">
              <a:buSzPct val="90000"/>
              <a:buFont typeface="+mj-lt"/>
              <a:buAutoNum type="arabicParenR"/>
            </a:pPr>
            <a:endParaRPr lang="en-US" sz="2200" dirty="0"/>
          </a:p>
          <a:p>
            <a:pPr marL="342900" lvl="2" indent="-342900"/>
            <a:r>
              <a:rPr lang="en-US" sz="2900" dirty="0"/>
              <a:t>If these two characteristics are present, it is not necessary that all of the pages or segments of a process be in main memory during execution</a:t>
            </a:r>
          </a:p>
          <a:p>
            <a:pPr marL="342900" lvl="1" indent="-342900">
              <a:buFont typeface="Arial" charset="0"/>
              <a:buChar char="•"/>
            </a:pPr>
            <a:endParaRPr lang="en-US" sz="3000" dirty="0"/>
          </a:p>
        </p:txBody>
      </p:sp>
      <p:sp>
        <p:nvSpPr>
          <p:cNvPr id="6" name="Footer Placeholder 5"/>
          <p:cNvSpPr>
            <a:spLocks noGrp="1"/>
          </p:cNvSpPr>
          <p:nvPr>
            <p:ph type="ftr" sz="quarter" idx="11"/>
          </p:nvPr>
        </p:nvSpPr>
        <p:spPr>
          <a:xfrm>
            <a:off x="1842247" y="6492876"/>
            <a:ext cx="6768353" cy="365125"/>
          </a:xfrm>
        </p:spPr>
        <p:txBody>
          <a:bodyPr/>
          <a:lstStyle/>
          <a:p>
            <a:pPr>
              <a:defRPr/>
            </a:pPr>
            <a:r>
              <a:rPr lang="en-US" dirty="0"/>
              <a:t>© 2017 Pearson Education, Inc., Hoboken, NJ. All rights reserved. </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304801"/>
            <a:ext cx="7824788" cy="1323041"/>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Execution of a Process</a:t>
            </a:r>
          </a:p>
        </p:txBody>
      </p:sp>
      <p:sp>
        <p:nvSpPr>
          <p:cNvPr id="3" name="Content Placeholder 2"/>
          <p:cNvSpPr>
            <a:spLocks noGrp="1"/>
          </p:cNvSpPr>
          <p:nvPr>
            <p:ph idx="4294967295"/>
          </p:nvPr>
        </p:nvSpPr>
        <p:spPr>
          <a:xfrm>
            <a:off x="641079" y="2209801"/>
            <a:ext cx="10721497" cy="4090460"/>
          </a:xfrm>
        </p:spPr>
        <p:txBody>
          <a:bodyPr/>
          <a:lstStyle/>
          <a:p>
            <a:r>
              <a:rPr lang="en-US" sz="2200" dirty="0"/>
              <a:t>Operating system brings into main memory a few pieces of the program</a:t>
            </a:r>
          </a:p>
          <a:p>
            <a:r>
              <a:rPr lang="en-US" sz="2200" dirty="0"/>
              <a:t>Resident set</a:t>
            </a:r>
          </a:p>
          <a:p>
            <a:pPr lvl="2"/>
            <a:r>
              <a:rPr lang="en-US" dirty="0"/>
              <a:t>Portion of process that is in main memory</a:t>
            </a:r>
          </a:p>
          <a:p>
            <a:r>
              <a:rPr lang="en-US" sz="2200" dirty="0"/>
              <a:t>An interrupt is generated when an address is needed that is not in main                                 memory</a:t>
            </a:r>
          </a:p>
          <a:p>
            <a:r>
              <a:rPr lang="en-US" sz="2200" dirty="0"/>
              <a:t>Operating system places the process in a blocking state</a:t>
            </a:r>
          </a:p>
          <a:p>
            <a:endParaRPr lang="en-US" dirty="0"/>
          </a:p>
        </p:txBody>
      </p:sp>
      <p:sp>
        <p:nvSpPr>
          <p:cNvPr id="4" name="TextBox 3"/>
          <p:cNvSpPr txBox="1"/>
          <p:nvPr/>
        </p:nvSpPr>
        <p:spPr>
          <a:xfrm>
            <a:off x="8458200" y="6457890"/>
            <a:ext cx="1781532" cy="400110"/>
          </a:xfrm>
          <a:prstGeom prst="rect">
            <a:avLst/>
          </a:prstGeom>
          <a:noFill/>
        </p:spPr>
        <p:txBody>
          <a:bodyPr wrap="square" rtlCol="0">
            <a:spAutoFit/>
          </a:bodyPr>
          <a:lstStyle/>
          <a:p>
            <a:r>
              <a:rPr lang="en-US" sz="2000" dirty="0">
                <a:latin typeface="+mn-lt"/>
              </a:rPr>
              <a:t>Continued . . .</a:t>
            </a:r>
          </a:p>
        </p:txBody>
      </p:sp>
      <p:sp>
        <p:nvSpPr>
          <p:cNvPr id="8" name="Footer Placeholder 7"/>
          <p:cNvSpPr>
            <a:spLocks noGrp="1"/>
          </p:cNvSpPr>
          <p:nvPr>
            <p:ph type="ftr" sz="quarter" idx="11"/>
          </p:nvPr>
        </p:nvSpPr>
        <p:spPr>
          <a:xfrm>
            <a:off x="1842247" y="6492876"/>
            <a:ext cx="4787153" cy="365125"/>
          </a:xfrm>
        </p:spPr>
        <p:txBody>
          <a:bodyPr/>
          <a:lstStyle/>
          <a:p>
            <a:pPr>
              <a:defRPr/>
            </a:pPr>
            <a:r>
              <a:rPr lang="en-US" dirty="0"/>
              <a:t>© 2017 Pearson Education, Inc., Hoboken, NJ. All rights reserved. </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3">
                    <a:lumMod val="50000"/>
                  </a:schemeClr>
                </a:solidFill>
              </a:rPr>
              <a:t>Execution of a Process</a:t>
            </a:r>
          </a:p>
        </p:txBody>
      </p:sp>
      <p:sp>
        <p:nvSpPr>
          <p:cNvPr id="3" name="Content Placeholder 2"/>
          <p:cNvSpPr>
            <a:spLocks noGrp="1"/>
          </p:cNvSpPr>
          <p:nvPr>
            <p:ph idx="4294967295"/>
          </p:nvPr>
        </p:nvSpPr>
        <p:spPr>
          <a:xfrm>
            <a:off x="585196" y="2209800"/>
            <a:ext cx="10919510" cy="3962400"/>
          </a:xfrm>
          <a:solidFill>
            <a:schemeClr val="tx1"/>
          </a:solidFill>
        </p:spPr>
        <p:style>
          <a:lnRef idx="2">
            <a:schemeClr val="dk1">
              <a:shade val="50000"/>
            </a:schemeClr>
          </a:lnRef>
          <a:fillRef idx="1">
            <a:schemeClr val="dk1"/>
          </a:fillRef>
          <a:effectRef idx="0">
            <a:schemeClr val="dk1"/>
          </a:effectRef>
          <a:fontRef idx="minor">
            <a:schemeClr val="lt1"/>
          </a:fontRef>
        </p:style>
        <p:txBody>
          <a:bodyPr/>
          <a:lstStyle/>
          <a:p>
            <a:r>
              <a:rPr lang="en-US" sz="2800" dirty="0"/>
              <a:t>Piece of process that contains the logical address is brought into main memory</a:t>
            </a:r>
          </a:p>
          <a:p>
            <a:pPr lvl="2"/>
            <a:r>
              <a:rPr lang="en-US" sz="2200" dirty="0"/>
              <a:t>Operating system issues a disk I/O Read request</a:t>
            </a:r>
          </a:p>
          <a:p>
            <a:pPr lvl="2"/>
            <a:r>
              <a:rPr lang="en-US" sz="2200" dirty="0"/>
              <a:t>Another process is dispatched to run while the disk I/O takes place</a:t>
            </a:r>
          </a:p>
          <a:p>
            <a:pPr lvl="2"/>
            <a:r>
              <a:rPr lang="en-US" sz="2200" dirty="0"/>
              <a:t>An interrupt is issued when disk I/O is complete, which causes the operating system to place the affected process in the Ready state</a:t>
            </a:r>
          </a:p>
          <a:p>
            <a:endParaRPr lang="en-US" dirty="0"/>
          </a:p>
        </p:txBody>
      </p:sp>
      <p:sp>
        <p:nvSpPr>
          <p:cNvPr id="7" name="Footer Placeholder 6"/>
          <p:cNvSpPr>
            <a:spLocks noGrp="1"/>
          </p:cNvSpPr>
          <p:nvPr>
            <p:ph type="ftr" sz="quarter" idx="11"/>
          </p:nvPr>
        </p:nvSpPr>
        <p:spPr>
          <a:xfrm>
            <a:off x="1842247" y="6492876"/>
            <a:ext cx="5472953" cy="365125"/>
          </a:xfrm>
        </p:spPr>
        <p:txBody>
          <a:bodyPr/>
          <a:lstStyle/>
          <a:p>
            <a:pPr>
              <a:defRPr/>
            </a:pPr>
            <a:r>
              <a:rPr lang="en-US" dirty="0"/>
              <a:t>© 2017 Pearson Education, Inc., Hoboken, NJ. All rights reserved. </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7"/>
          </a:xfrm>
        </p:spPr>
        <p:txBody>
          <a:bodyPr/>
          <a:lstStyle/>
          <a:p>
            <a:pPr algn="ctr"/>
            <a:r>
              <a:rPr lang="en-NZ" b="1" dirty="0">
                <a:solidFill>
                  <a:schemeClr val="accent1">
                    <a:lumMod val="50000"/>
                  </a:schemeClr>
                </a:solidFill>
              </a:rPr>
              <a:t>Implications</a:t>
            </a:r>
            <a:endParaRPr lang="en-US" b="1" dirty="0">
              <a:solidFill>
                <a:schemeClr val="accent1">
                  <a:lumMod val="50000"/>
                </a:schemeClr>
              </a:solidFill>
            </a:endParaRPr>
          </a:p>
        </p:txBody>
      </p:sp>
      <p:sp>
        <p:nvSpPr>
          <p:cNvPr id="3" name="Content Placeholder 2"/>
          <p:cNvSpPr>
            <a:spLocks noGrp="1"/>
          </p:cNvSpPr>
          <p:nvPr>
            <p:ph idx="4294967295"/>
          </p:nvPr>
        </p:nvSpPr>
        <p:spPr>
          <a:xfrm>
            <a:off x="498039" y="2286000"/>
            <a:ext cx="11454902" cy="4267200"/>
          </a:xfrm>
        </p:spPr>
        <p:txBody>
          <a:bodyPr>
            <a:normAutofit/>
          </a:bodyPr>
          <a:lstStyle/>
          <a:p>
            <a:r>
              <a:rPr lang="en-US" sz="2200" dirty="0"/>
              <a:t>More processes may be maintained in main memory</a:t>
            </a:r>
          </a:p>
          <a:p>
            <a:pPr lvl="2"/>
            <a:r>
              <a:rPr lang="en-US" dirty="0"/>
              <a:t>Because only some of the pieces of any particular process are loaded, there is room for more processes</a:t>
            </a:r>
          </a:p>
          <a:p>
            <a:pPr lvl="2"/>
            <a:r>
              <a:rPr lang="en-US" dirty="0"/>
              <a:t>This leads to more efficient utilization of the processor because it is more likely that at least one of the more numerous processes will be in a Ready state at any particular time</a:t>
            </a:r>
          </a:p>
          <a:p>
            <a:r>
              <a:rPr lang="en-US" sz="2200" dirty="0"/>
              <a:t>A process may be larger than all of main memory</a:t>
            </a:r>
          </a:p>
          <a:p>
            <a:pPr lvl="2"/>
            <a:r>
              <a:rPr lang="en-US" dirty="0"/>
              <a:t>If the program being written is too large, the programmer must devise ways to structure the program into pieces that can be loaded separately in some sort of overlay strategy</a:t>
            </a:r>
          </a:p>
          <a:p>
            <a:pPr lvl="2"/>
            <a:r>
              <a:rPr lang="en-US" dirty="0"/>
              <a:t>With virtual memory based on paging or segmentation, that job is left to the OS and the hardware</a:t>
            </a:r>
          </a:p>
          <a:p>
            <a:pPr lvl="2"/>
            <a:r>
              <a:rPr lang="en-US" dirty="0"/>
              <a:t>The OS automatically loads pieces of a process into main memory as required</a:t>
            </a:r>
          </a:p>
          <a:p>
            <a:endParaRPr lang="en-US" dirty="0"/>
          </a:p>
        </p:txBody>
      </p:sp>
      <p:sp>
        <p:nvSpPr>
          <p:cNvPr id="7" name="Footer Placeholder 6"/>
          <p:cNvSpPr>
            <a:spLocks noGrp="1"/>
          </p:cNvSpPr>
          <p:nvPr>
            <p:ph type="ftr" sz="quarter" idx="11"/>
          </p:nvPr>
        </p:nvSpPr>
        <p:spPr>
          <a:xfrm>
            <a:off x="1842247" y="6492876"/>
            <a:ext cx="5091953" cy="365125"/>
          </a:xfrm>
        </p:spPr>
        <p:txBody>
          <a:bodyPr/>
          <a:lstStyle/>
          <a:p>
            <a:pPr>
              <a:defRPr/>
            </a:pPr>
            <a:r>
              <a:rPr lang="en-US" dirty="0"/>
              <a:t>© 2017 Pearson Education, Inc., Hoboken, NJ. All rights reserved. </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8"/>
          </a:xfrm>
        </p:spPr>
        <p:txBody>
          <a:bodyPr/>
          <a:lstStyle/>
          <a:p>
            <a:r>
              <a:rPr lang="en-US" b="1" dirty="0">
                <a:ln w="1905"/>
                <a:solidFill>
                  <a:schemeClr val="accent1">
                    <a:lumMod val="75000"/>
                  </a:schemeClr>
                </a:solidFill>
                <a:effectLst>
                  <a:innerShdw blurRad="69850" dist="43180" dir="5400000">
                    <a:srgbClr val="000000">
                      <a:alpha val="65000"/>
                    </a:srgbClr>
                  </a:innerShdw>
                </a:effectLst>
              </a:rPr>
              <a:t>Real and Virtual Memory</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2448015133"/>
              </p:ext>
            </p:extLst>
          </p:nvPr>
        </p:nvGraphicFramePr>
        <p:xfrm>
          <a:off x="224118" y="2130927"/>
          <a:ext cx="11616763"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1842247" y="6492876"/>
            <a:ext cx="5625353" cy="365125"/>
          </a:xfrm>
        </p:spPr>
        <p:txBody>
          <a:bodyPr/>
          <a:lstStyle/>
          <a:p>
            <a:pPr>
              <a:defRPr/>
            </a:pPr>
            <a:r>
              <a:rPr lang="en-US" dirty="0"/>
              <a:t>© 2017 Pearson Education, Inc., Hoboken, NJ. All rights reserved. </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48200" y="6400800"/>
            <a:ext cx="5410200" cy="76200"/>
          </a:xfrm>
          <a:prstGeom prst="rect">
            <a:avLst/>
          </a:prstGeom>
          <a:blipFill rotWithShape="1">
            <a:blip r:embed="rId3"/>
            <a:tile tx="0" ty="0" sx="100000" sy="100000" flip="none" algn="tl"/>
          </a:blipFill>
        </p:spPr>
        <p:txBody>
          <a:bodyPr wrap="square" rtlCol="0">
            <a:spAutoFit/>
          </a:bodyPr>
          <a:lstStyle/>
          <a:p>
            <a:endParaRPr lang="en-US" dirty="0"/>
          </a:p>
        </p:txBody>
      </p:sp>
      <p:pic>
        <p:nvPicPr>
          <p:cNvPr id="5" name="Picture 4"/>
          <p:cNvPicPr>
            <a:picLocks noChangeAspect="1"/>
          </p:cNvPicPr>
          <p:nvPr/>
        </p:nvPicPr>
        <p:blipFill>
          <a:blip r:embed="rId4"/>
          <a:stretch>
            <a:fillRect/>
          </a:stretch>
        </p:blipFill>
        <p:spPr>
          <a:xfrm>
            <a:off x="1332255" y="0"/>
            <a:ext cx="9437844" cy="6642100"/>
          </a:xfrm>
          <a:prstGeom prst="rect">
            <a:avLst/>
          </a:prstGeom>
        </p:spPr>
      </p:pic>
      <p:sp>
        <p:nvSpPr>
          <p:cNvPr id="6" name="TextBox 5"/>
          <p:cNvSpPr txBox="1"/>
          <p:nvPr/>
        </p:nvSpPr>
        <p:spPr>
          <a:xfrm>
            <a:off x="111063" y="6438900"/>
            <a:ext cx="11406094" cy="461665"/>
          </a:xfrm>
          <a:prstGeom prst="rect">
            <a:avLst/>
          </a:prstGeom>
          <a:noFill/>
        </p:spPr>
        <p:txBody>
          <a:bodyPr wrap="square" rtlCol="0">
            <a:spAutoFit/>
          </a:bodyPr>
          <a:lstStyle/>
          <a:p>
            <a:pPr algn="ctr"/>
            <a:r>
              <a:rPr lang="en-US" sz="2400" b="1" dirty="0">
                <a:latin typeface="+mn-lt"/>
              </a:rPr>
              <a:t>Table 8.2  </a:t>
            </a:r>
            <a:r>
              <a:rPr lang="en-US" sz="1400" b="1" dirty="0">
                <a:latin typeface="+mn-lt"/>
              </a:rPr>
              <a:t>Characteristics of Paging and Segmentation</a:t>
            </a:r>
            <a:r>
              <a:rPr lang="en-US" sz="1400" dirty="0">
                <a:latin typeface="+mn-lt"/>
              </a:rPr>
              <a:t> </a:t>
            </a:r>
            <a:endParaRPr lang="en-US" sz="2400" dirty="0">
              <a:latin typeface="+mn-lt"/>
            </a:endParaRPr>
          </a:p>
        </p:txBody>
      </p:sp>
      <p:sp>
        <p:nvSpPr>
          <p:cNvPr id="9" name="Footer Placeholder 8"/>
          <p:cNvSpPr>
            <a:spLocks noGrp="1"/>
          </p:cNvSpPr>
          <p:nvPr>
            <p:ph type="ftr" sz="quarter" idx="11"/>
          </p:nvPr>
        </p:nvSpPr>
        <p:spPr>
          <a:xfrm>
            <a:off x="1842247" y="6492876"/>
            <a:ext cx="4710953" cy="365125"/>
          </a:xfrm>
        </p:spPr>
        <p:txBody>
          <a:bodyPr/>
          <a:lstStyle/>
          <a:p>
            <a:pPr>
              <a:defRPr/>
            </a:pPr>
            <a:r>
              <a:rPr lang="en-US" dirty="0"/>
              <a:t>© 2017 Pearson Education, Inc., Hoboken, NJ. All rights reserved. </a:t>
            </a:r>
          </a:p>
        </p:txBody>
      </p:sp>
    </p:spTree>
  </p:cSld>
  <p:clrMapOvr>
    <a:masterClrMapping/>
  </p:clrMapOvr>
  <p:transition spd="slow">
    <p:wheel spokes="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p:cNvGraphicFramePr>
            <a:graphicFrameLocks noGrp="1"/>
          </p:cNvGraphicFramePr>
          <p:nvPr>
            <p:ph idx="4294967295"/>
            <p:extLst>
              <p:ext uri="{D42A27DB-BD31-4B8C-83A1-F6EECF244321}">
                <p14:modId xmlns:p14="http://schemas.microsoft.com/office/powerpoint/2010/main" val="283957888"/>
              </p:ext>
            </p:extLst>
          </p:nvPr>
        </p:nvGraphicFramePr>
        <p:xfrm>
          <a:off x="0" y="1828800"/>
          <a:ext cx="11620120" cy="563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1842247" y="6492876"/>
            <a:ext cx="5091953" cy="365125"/>
          </a:xfrm>
        </p:spPr>
        <p:txBody>
          <a:bodyPr/>
          <a:lstStyle/>
          <a:p>
            <a:pPr>
              <a:defRPr/>
            </a:pPr>
            <a:r>
              <a:rPr lang="en-US" dirty="0"/>
              <a:t>© 2017 Pearson Education, Inc., Hoboken, NJ. All rights reserved. </a:t>
            </a:r>
          </a:p>
        </p:txBody>
      </p:sp>
      <p:sp>
        <p:nvSpPr>
          <p:cNvPr id="5" name="TextBox 4"/>
          <p:cNvSpPr txBox="1"/>
          <p:nvPr/>
        </p:nvSpPr>
        <p:spPr>
          <a:xfrm>
            <a:off x="2133600" y="685800"/>
            <a:ext cx="3505200" cy="892552"/>
          </a:xfrm>
          <a:prstGeom prst="rect">
            <a:avLst/>
          </a:prstGeom>
          <a:noFill/>
        </p:spPr>
        <p:txBody>
          <a:bodyPr wrap="square" rtlCol="0">
            <a:spAutoFit/>
          </a:bodyPr>
          <a:lstStyle/>
          <a:p>
            <a:r>
              <a:rPr lang="en-US" sz="5200" b="1" dirty="0">
                <a:solidFill>
                  <a:schemeClr val="accent1">
                    <a:lumMod val="50000"/>
                  </a:schemeClr>
                </a:solidFill>
                <a:effectLst>
                  <a:outerShdw blurRad="50800" dist="38100" dir="2700000" algn="tl" rotWithShape="0">
                    <a:prstClr val="black">
                      <a:alpha val="40000"/>
                    </a:prstClr>
                  </a:outerShdw>
                </a:effectLst>
                <a:latin typeface="+mj-lt"/>
                <a:ea typeface="+mj-ea"/>
                <a:cs typeface="+mj-cs"/>
              </a:rPr>
              <a:t>Thrashing</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8"/>
          </a:xfrm>
        </p:spPr>
        <p:txBody>
          <a:bodyPr/>
          <a:lstStyle/>
          <a:p>
            <a:pPr algn="ctr"/>
            <a:r>
              <a:rPr lang="en-US" b="1" dirty="0">
                <a:solidFill>
                  <a:schemeClr val="accent1">
                    <a:lumMod val="50000"/>
                  </a:schemeClr>
                </a:solidFill>
              </a:rPr>
              <a:t>Principle of Locality</a:t>
            </a:r>
          </a:p>
        </p:txBody>
      </p:sp>
      <p:sp>
        <p:nvSpPr>
          <p:cNvPr id="3" name="Content Placeholder 2"/>
          <p:cNvSpPr>
            <a:spLocks noGrp="1"/>
          </p:cNvSpPr>
          <p:nvPr>
            <p:ph idx="4294967295"/>
          </p:nvPr>
        </p:nvSpPr>
        <p:spPr>
          <a:xfrm>
            <a:off x="659902" y="2286001"/>
            <a:ext cx="11044020" cy="3840163"/>
          </a:xfrm>
        </p:spPr>
        <p:txBody>
          <a:bodyPr/>
          <a:lstStyle/>
          <a:p>
            <a:r>
              <a:rPr lang="en-US" sz="2200" dirty="0"/>
              <a:t>Program and data references within a process tend to cluster</a:t>
            </a:r>
          </a:p>
          <a:p>
            <a:r>
              <a:rPr lang="en-US" sz="2200" dirty="0"/>
              <a:t>Only a few pieces of a process will be needed over a short period of time</a:t>
            </a:r>
          </a:p>
          <a:p>
            <a:r>
              <a:rPr lang="en-US" sz="2200" dirty="0"/>
              <a:t>Therefore it is possible to make intelligent guesses about which pieces will be needed in the future</a:t>
            </a:r>
          </a:p>
          <a:p>
            <a:r>
              <a:rPr lang="en-US" sz="2200" dirty="0"/>
              <a:t>Avoids thrashing</a:t>
            </a:r>
          </a:p>
          <a:p>
            <a:endParaRPr lang="en-US" dirty="0"/>
          </a:p>
        </p:txBody>
      </p:sp>
      <p:sp>
        <p:nvSpPr>
          <p:cNvPr id="7" name="Footer Placeholder 6"/>
          <p:cNvSpPr>
            <a:spLocks noGrp="1"/>
          </p:cNvSpPr>
          <p:nvPr>
            <p:ph type="ftr" sz="quarter" idx="11"/>
          </p:nvPr>
        </p:nvSpPr>
        <p:spPr>
          <a:xfrm>
            <a:off x="1842247" y="6492876"/>
            <a:ext cx="5472953" cy="365125"/>
          </a:xfrm>
        </p:spPr>
        <p:txBody>
          <a:bodyPr/>
          <a:lstStyle/>
          <a:p>
            <a:pPr>
              <a:defRPr/>
            </a:pPr>
            <a:r>
              <a:rPr lang="en-US" dirty="0"/>
              <a:t>© 2017 Pearson Education, Inc., Hoboken, NJ. All rights reserved. </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6253"/>
            <a:ext cx="8229600" cy="1323041"/>
          </a:xfrm>
        </p:spPr>
        <p:txBody>
          <a:bodyPr>
            <a:normAutofit fontScale="90000"/>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Support Needed for Virtual Memory</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173787416"/>
              </p:ext>
            </p:extLst>
          </p:nvPr>
        </p:nvGraphicFramePr>
        <p:xfrm>
          <a:off x="678500" y="2153522"/>
          <a:ext cx="11132595"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1842247" y="6492876"/>
            <a:ext cx="6158753" cy="365125"/>
          </a:xfrm>
        </p:spPr>
        <p:txBody>
          <a:bodyPr/>
          <a:lstStyle/>
          <a:p>
            <a:pPr>
              <a:defRPr/>
            </a:pPr>
            <a:r>
              <a:rPr lang="en-US" dirty="0"/>
              <a:t>© 2017 Pearson Education, Inc., Hoboken, NJ. All rights reserved. </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220148"/>
          </a:xfrm>
        </p:spPr>
        <p:txBody>
          <a:bodyPr/>
          <a:lstStyle/>
          <a:p>
            <a:pPr algn="ctr"/>
            <a:r>
              <a:rPr lang="en-US" b="1" dirty="0">
                <a:solidFill>
                  <a:schemeClr val="accent6">
                    <a:lumMod val="75000"/>
                  </a:schemeClr>
                </a:solidFill>
              </a:rPr>
              <a:t>Paging</a:t>
            </a:r>
          </a:p>
        </p:txBody>
      </p:sp>
      <p:sp>
        <p:nvSpPr>
          <p:cNvPr id="3" name="Content Placeholder 2"/>
          <p:cNvSpPr>
            <a:spLocks noGrp="1"/>
          </p:cNvSpPr>
          <p:nvPr>
            <p:ph idx="4294967295"/>
          </p:nvPr>
        </p:nvSpPr>
        <p:spPr>
          <a:xfrm>
            <a:off x="573386" y="2164557"/>
            <a:ext cx="11043641" cy="3840163"/>
          </a:xfrm>
        </p:spPr>
        <p:txBody>
          <a:bodyPr/>
          <a:lstStyle/>
          <a:p>
            <a:r>
              <a:rPr lang="en-US" sz="2200" dirty="0"/>
              <a:t>The term </a:t>
            </a:r>
            <a:r>
              <a:rPr lang="en-US" sz="2200" i="1" dirty="0"/>
              <a:t>virtual memory </a:t>
            </a:r>
            <a:r>
              <a:rPr lang="en-US" sz="2200" dirty="0"/>
              <a:t>is usually associated with systems that employ paging</a:t>
            </a:r>
          </a:p>
          <a:p>
            <a:r>
              <a:rPr lang="en-US" sz="2200" dirty="0"/>
              <a:t>Use of paging to achieve virtual memory was first reported for the Atlas computer</a:t>
            </a:r>
          </a:p>
          <a:p>
            <a:r>
              <a:rPr lang="en-US" sz="2200" dirty="0"/>
              <a:t>Each process has its own page table</a:t>
            </a:r>
          </a:p>
          <a:p>
            <a:pPr lvl="1"/>
            <a:r>
              <a:rPr lang="en-US" sz="2200" dirty="0"/>
              <a:t>Each page table entry (PTE) contains the frame number of the corresponding page in main memory</a:t>
            </a:r>
          </a:p>
          <a:p>
            <a:pPr lvl="1"/>
            <a:r>
              <a:rPr lang="en-US" sz="2200" dirty="0"/>
              <a:t>A page table is also needed for a virtual memory   scheme based on paging</a:t>
            </a:r>
          </a:p>
          <a:p>
            <a:endParaRPr lang="en-US" dirty="0"/>
          </a:p>
        </p:txBody>
      </p:sp>
      <p:sp>
        <p:nvSpPr>
          <p:cNvPr id="7" name="Footer Placeholder 6"/>
          <p:cNvSpPr>
            <a:spLocks noGrp="1"/>
          </p:cNvSpPr>
          <p:nvPr>
            <p:ph type="ftr" sz="quarter" idx="11"/>
          </p:nvPr>
        </p:nvSpPr>
        <p:spPr>
          <a:xfrm>
            <a:off x="1842247" y="6492876"/>
            <a:ext cx="5091953" cy="365125"/>
          </a:xfrm>
        </p:spPr>
        <p:txBody>
          <a:bodyPr/>
          <a:lstStyle/>
          <a:p>
            <a:pPr>
              <a:defRPr/>
            </a:pPr>
            <a:r>
              <a:rPr lang="en-US" dirty="0"/>
              <a:t>© 2017 Pearson Education, Inc., Hoboken, NJ. All rights reserved. </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Inverted Page Table</a:t>
            </a:r>
          </a:p>
        </p:txBody>
      </p:sp>
      <p:sp>
        <p:nvSpPr>
          <p:cNvPr id="3" name="Content Placeholder 2"/>
          <p:cNvSpPr>
            <a:spLocks noGrp="1"/>
          </p:cNvSpPr>
          <p:nvPr>
            <p:ph idx="4294967295"/>
          </p:nvPr>
        </p:nvSpPr>
        <p:spPr>
          <a:xfrm>
            <a:off x="509748" y="1828800"/>
            <a:ext cx="11141628" cy="5791200"/>
          </a:xfrm>
        </p:spPr>
        <p:txBody>
          <a:bodyPr>
            <a:normAutofit/>
          </a:bodyPr>
          <a:lstStyle/>
          <a:p>
            <a:pPr>
              <a:buNone/>
            </a:pPr>
            <a:endParaRPr lang="en-US" dirty="0"/>
          </a:p>
          <a:p>
            <a:r>
              <a:rPr lang="en-US" sz="2200" dirty="0"/>
              <a:t>Page number portion of a virtual address is mapped into a hash value</a:t>
            </a:r>
          </a:p>
          <a:p>
            <a:pPr lvl="2"/>
            <a:r>
              <a:rPr lang="en-US" dirty="0"/>
              <a:t>Hash value points to inverted page table</a:t>
            </a:r>
          </a:p>
          <a:p>
            <a:r>
              <a:rPr lang="en-US" sz="2200" dirty="0"/>
              <a:t>Fixed proportion of real memory is required for the tables regardless of the number of processes or virtual pages supported</a:t>
            </a:r>
          </a:p>
          <a:p>
            <a:r>
              <a:rPr lang="en-US" sz="2200" dirty="0"/>
              <a:t>Structure is called</a:t>
            </a:r>
            <a:r>
              <a:rPr lang="en-US" sz="2200" i="1" dirty="0"/>
              <a:t> inverted</a:t>
            </a:r>
            <a:r>
              <a:rPr lang="en-US" sz="2200" dirty="0"/>
              <a:t> because it indexes page table entries by frame number rather than by virtual page number</a:t>
            </a:r>
          </a:p>
          <a:p>
            <a:endParaRPr lang="en-US" dirty="0"/>
          </a:p>
        </p:txBody>
      </p:sp>
      <p:sp>
        <p:nvSpPr>
          <p:cNvPr id="8" name="Footer Placeholder 7"/>
          <p:cNvSpPr>
            <a:spLocks noGrp="1"/>
          </p:cNvSpPr>
          <p:nvPr>
            <p:ph type="ftr" sz="quarter" idx="11"/>
          </p:nvPr>
        </p:nvSpPr>
        <p:spPr>
          <a:xfrm>
            <a:off x="1842247" y="6492876"/>
            <a:ext cx="5472953" cy="365125"/>
          </a:xfrm>
        </p:spPr>
        <p:txBody>
          <a:bodyPr/>
          <a:lstStyle/>
          <a:p>
            <a:pPr>
              <a:defRPr/>
            </a:pPr>
            <a:r>
              <a:rPr lang="en-US" dirty="0"/>
              <a:t>© 2017 Pearson Education, Inc., Hoboken, NJ. All rights reserved. </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8"/>
          </a:xfrm>
        </p:spPr>
        <p:txBody>
          <a:bodyPr/>
          <a:lstStyle/>
          <a:p>
            <a:pPr algn="ctr"/>
            <a:r>
              <a:rPr lang="en-US" b="1" dirty="0">
                <a:solidFill>
                  <a:schemeClr val="accent3">
                    <a:lumMod val="50000"/>
                  </a:schemeClr>
                </a:solidFill>
              </a:rPr>
              <a:t>Inverted Page Table</a:t>
            </a:r>
          </a:p>
        </p:txBody>
      </p:sp>
      <p:sp>
        <p:nvSpPr>
          <p:cNvPr id="3" name="Content Placeholder 2"/>
          <p:cNvSpPr>
            <a:spLocks noGrp="1"/>
          </p:cNvSpPr>
          <p:nvPr>
            <p:ph idx="4294967295"/>
          </p:nvPr>
        </p:nvSpPr>
        <p:spPr>
          <a:xfrm>
            <a:off x="2057400" y="2209800"/>
            <a:ext cx="8382000" cy="5257800"/>
          </a:xfrm>
        </p:spPr>
        <p:txBody>
          <a:bodyPr>
            <a:normAutofit/>
          </a:bodyPr>
          <a:lstStyle/>
          <a:p>
            <a:pPr>
              <a:buNone/>
            </a:pPr>
            <a:r>
              <a:rPr lang="en-NZ" sz="2800" dirty="0"/>
              <a:t>Each entry in the page table includes:</a:t>
            </a:r>
            <a:endParaRPr lang="en-US" sz="2800" dirty="0"/>
          </a:p>
        </p:txBody>
      </p:sp>
      <p:graphicFrame>
        <p:nvGraphicFramePr>
          <p:cNvPr id="5" name="Diagram 4"/>
          <p:cNvGraphicFramePr/>
          <p:nvPr>
            <p:extLst>
              <p:ext uri="{D42A27DB-BD31-4B8C-83A1-F6EECF244321}">
                <p14:modId xmlns:p14="http://schemas.microsoft.com/office/powerpoint/2010/main" val="69950107"/>
              </p:ext>
            </p:extLst>
          </p:nvPr>
        </p:nvGraphicFramePr>
        <p:xfrm>
          <a:off x="801031" y="2743200"/>
          <a:ext cx="10806651" cy="360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TextBox 5"/>
          <p:cNvSpPr txBox="1"/>
          <p:nvPr/>
        </p:nvSpPr>
        <p:spPr>
          <a:xfrm>
            <a:off x="801031" y="4281097"/>
            <a:ext cx="2226575" cy="1602180"/>
          </a:xfrm>
          <a:prstGeom prst="rect">
            <a:avLst/>
          </a:prstGeom>
          <a:noFill/>
        </p:spPr>
        <p:txBody>
          <a:bodyPr wrap="square" rtlCol="0">
            <a:spAutoFit/>
          </a:bodyPr>
          <a:lstStyle/>
          <a:p>
            <a:pPr>
              <a:buFont typeface="Arial"/>
              <a:buChar char="•"/>
            </a:pPr>
            <a:r>
              <a:rPr lang="en-US" sz="2400" dirty="0">
                <a:latin typeface="+mn-lt"/>
              </a:rPr>
              <a:t> This is the page number portion of the virtual address</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4"/>
            <a:ext cx="7824788" cy="991547"/>
          </a:xfrm>
        </p:spPr>
        <p:txBody>
          <a:bodyPr/>
          <a:lstStyle/>
          <a:p>
            <a:pPr algn="ctr"/>
            <a:r>
              <a:rPr lang="en-US" dirty="0">
                <a:solidFill>
                  <a:schemeClr val="accent1">
                    <a:lumMod val="50000"/>
                  </a:schemeClr>
                </a:solidFill>
              </a:rPr>
              <a:t>Segmentation</a:t>
            </a:r>
          </a:p>
        </p:txBody>
      </p:sp>
      <p:sp>
        <p:nvSpPr>
          <p:cNvPr id="3" name="Content Placeholder 2"/>
          <p:cNvSpPr>
            <a:spLocks noGrp="1"/>
          </p:cNvSpPr>
          <p:nvPr>
            <p:ph idx="4294967295"/>
          </p:nvPr>
        </p:nvSpPr>
        <p:spPr>
          <a:xfrm>
            <a:off x="983407" y="2209800"/>
            <a:ext cx="10480309" cy="1295400"/>
          </a:xfrm>
        </p:spPr>
        <p:txBody>
          <a:bodyPr>
            <a:normAutofit/>
          </a:bodyPr>
          <a:lstStyle/>
          <a:p>
            <a:r>
              <a:rPr lang="en-NZ" sz="2200" dirty="0"/>
              <a:t>Segmentation allows the programmer to view memory as consisting of multiple address spaces or segments</a:t>
            </a:r>
          </a:p>
        </p:txBody>
      </p:sp>
      <p:cxnSp>
        <p:nvCxnSpPr>
          <p:cNvPr id="7" name="Straight Connector 6"/>
          <p:cNvCxnSpPr/>
          <p:nvPr/>
        </p:nvCxnSpPr>
        <p:spPr>
          <a:xfrm rot="10800000">
            <a:off x="4114800" y="3505200"/>
            <a:ext cx="35052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9" name="Footer Placeholder 8"/>
          <p:cNvSpPr>
            <a:spLocks noGrp="1"/>
          </p:cNvSpPr>
          <p:nvPr>
            <p:ph type="ftr" sz="quarter" idx="11"/>
          </p:nvPr>
        </p:nvSpPr>
        <p:spPr>
          <a:xfrm>
            <a:off x="1842247" y="6492876"/>
            <a:ext cx="7073153" cy="365125"/>
          </a:xfrm>
        </p:spPr>
        <p:txBody>
          <a:bodyPr/>
          <a:lstStyle/>
          <a:p>
            <a:pPr>
              <a:defRPr/>
            </a:pPr>
            <a:r>
              <a:rPr lang="en-US" dirty="0"/>
              <a:t>© 2017 Pearson Education, Inc., Hoboken, NJ. All rights reserved. </a:t>
            </a:r>
          </a:p>
        </p:txBody>
      </p:sp>
      <p:sp>
        <p:nvSpPr>
          <p:cNvPr id="10" name="TextBox 9"/>
          <p:cNvSpPr txBox="1"/>
          <p:nvPr/>
        </p:nvSpPr>
        <p:spPr>
          <a:xfrm>
            <a:off x="674336" y="3886200"/>
            <a:ext cx="10972014" cy="2677656"/>
          </a:xfrm>
          <a:prstGeom prst="rect">
            <a:avLst/>
          </a:prstGeom>
          <a:noFill/>
        </p:spPr>
        <p:txBody>
          <a:bodyPr wrap="square" rtlCol="0">
            <a:spAutoFit/>
          </a:bodyPr>
          <a:lstStyle/>
          <a:p>
            <a:pPr lvl="0"/>
            <a:r>
              <a:rPr lang="en-US" sz="2200" dirty="0">
                <a:solidFill>
                  <a:schemeClr val="tx1">
                    <a:lumMod val="85000"/>
                    <a:lumOff val="15000"/>
                  </a:schemeClr>
                </a:solidFill>
                <a:latin typeface="+mn-lt"/>
              </a:rPr>
              <a:t>			</a:t>
            </a:r>
            <a:r>
              <a:rPr lang="en-US" sz="2400" dirty="0">
                <a:solidFill>
                  <a:schemeClr val="tx1">
                    <a:lumMod val="85000"/>
                    <a:lumOff val="15000"/>
                  </a:schemeClr>
                </a:solidFill>
                <a:latin typeface="+mn-lt"/>
              </a:rPr>
              <a:t>Advantages:</a:t>
            </a:r>
          </a:p>
          <a:p>
            <a:pPr lvl="0"/>
            <a:endParaRPr lang="en-US" dirty="0"/>
          </a:p>
          <a:p>
            <a:pPr marL="282575" lvl="1" indent="-282575">
              <a:spcBef>
                <a:spcPts val="600"/>
              </a:spcBef>
              <a:buClr>
                <a:schemeClr val="accent1"/>
              </a:buClr>
              <a:buSzPct val="75000"/>
              <a:buFont typeface="Wingdings" pitchFamily="2" charset="2"/>
              <a:buChar char="n"/>
            </a:pPr>
            <a:r>
              <a:rPr lang="en-US" sz="2200" dirty="0">
                <a:solidFill>
                  <a:schemeClr val="tx1">
                    <a:lumMod val="85000"/>
                    <a:lumOff val="15000"/>
                  </a:schemeClr>
                </a:solidFill>
                <a:latin typeface="+mn-lt"/>
              </a:rPr>
              <a:t>Simplifies handling of growing data structures</a:t>
            </a:r>
          </a:p>
          <a:p>
            <a:pPr marL="282575" lvl="1" indent="-282575">
              <a:spcBef>
                <a:spcPts val="600"/>
              </a:spcBef>
              <a:buClr>
                <a:schemeClr val="accent1"/>
              </a:buClr>
              <a:buSzPct val="75000"/>
              <a:buFont typeface="Wingdings" pitchFamily="2" charset="2"/>
              <a:buChar char="n"/>
            </a:pPr>
            <a:r>
              <a:rPr lang="en-US" sz="2200" dirty="0">
                <a:solidFill>
                  <a:schemeClr val="tx1">
                    <a:lumMod val="85000"/>
                    <a:lumOff val="15000"/>
                  </a:schemeClr>
                </a:solidFill>
                <a:latin typeface="+mn-lt"/>
              </a:rPr>
              <a:t>Allows programs to be altered and recompiled independently</a:t>
            </a:r>
          </a:p>
          <a:p>
            <a:pPr marL="282575" lvl="1" indent="-282575">
              <a:spcBef>
                <a:spcPts val="600"/>
              </a:spcBef>
              <a:buClr>
                <a:schemeClr val="accent1"/>
              </a:buClr>
              <a:buSzPct val="75000"/>
              <a:buFont typeface="Wingdings" pitchFamily="2" charset="2"/>
              <a:buChar char="n"/>
            </a:pPr>
            <a:r>
              <a:rPr lang="en-US" sz="2200" dirty="0">
                <a:solidFill>
                  <a:schemeClr val="tx1">
                    <a:lumMod val="85000"/>
                    <a:lumOff val="15000"/>
                  </a:schemeClr>
                </a:solidFill>
                <a:latin typeface="+mn-lt"/>
              </a:rPr>
              <a:t>Lends itself to sharing data among processes</a:t>
            </a:r>
          </a:p>
          <a:p>
            <a:pPr marL="282575" lvl="1" indent="-282575">
              <a:spcBef>
                <a:spcPts val="600"/>
              </a:spcBef>
              <a:buClr>
                <a:schemeClr val="accent1"/>
              </a:buClr>
              <a:buSzPct val="75000"/>
              <a:buFont typeface="Wingdings" pitchFamily="2" charset="2"/>
              <a:buChar char="n"/>
            </a:pPr>
            <a:r>
              <a:rPr lang="en-US" sz="2200" dirty="0">
                <a:solidFill>
                  <a:schemeClr val="tx1">
                    <a:lumMod val="85000"/>
                    <a:lumOff val="15000"/>
                  </a:schemeClr>
                </a:solidFill>
                <a:latin typeface="+mn-lt"/>
              </a:rPr>
              <a:t>Lends itself to protection</a:t>
            </a:r>
          </a:p>
          <a:p>
            <a:endParaRPr 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4">
                    <a:lumMod val="50000"/>
                  </a:schemeClr>
                </a:solidFill>
              </a:rPr>
              <a:t>Segment Organization</a:t>
            </a:r>
          </a:p>
        </p:txBody>
      </p:sp>
      <p:sp>
        <p:nvSpPr>
          <p:cNvPr id="3" name="Content Placeholder 2"/>
          <p:cNvSpPr>
            <a:spLocks noGrp="1"/>
          </p:cNvSpPr>
          <p:nvPr>
            <p:ph idx="4294967295"/>
          </p:nvPr>
        </p:nvSpPr>
        <p:spPr>
          <a:xfrm>
            <a:off x="878417" y="2362200"/>
            <a:ext cx="10880322" cy="5105400"/>
          </a:xfrm>
        </p:spPr>
        <p:txBody>
          <a:bodyPr/>
          <a:lstStyle/>
          <a:p>
            <a:r>
              <a:rPr lang="en-US" sz="2200" dirty="0"/>
              <a:t>Each segment table entry contains the starting address of the corresponding segment in main memory and the length of the segment</a:t>
            </a:r>
          </a:p>
          <a:p>
            <a:r>
              <a:rPr lang="en-US" sz="2200" dirty="0"/>
              <a:t>A bit is needed to determine if the segment is already in main memory</a:t>
            </a:r>
          </a:p>
          <a:p>
            <a:r>
              <a:rPr lang="en-US" sz="2200" dirty="0"/>
              <a:t>Another bit is needed to determine if the segment has been modified since it was loaded in main memory</a:t>
            </a:r>
          </a:p>
          <a:p>
            <a:endParaRPr lang="en-US" dirty="0"/>
          </a:p>
        </p:txBody>
      </p:sp>
      <p:sp>
        <p:nvSpPr>
          <p:cNvPr id="8" name="Footer Placeholder 7"/>
          <p:cNvSpPr>
            <a:spLocks noGrp="1"/>
          </p:cNvSpPr>
          <p:nvPr>
            <p:ph type="ftr" sz="quarter" idx="11"/>
          </p:nvPr>
        </p:nvSpPr>
        <p:spPr>
          <a:xfrm>
            <a:off x="1842247" y="6492876"/>
            <a:ext cx="6768353" cy="365125"/>
          </a:xfrm>
        </p:spPr>
        <p:txBody>
          <a:bodyPr/>
          <a:lstStyle/>
          <a:p>
            <a:pPr>
              <a:defRPr/>
            </a:pPr>
            <a:r>
              <a:rPr lang="en-US" dirty="0"/>
              <a:t>© 2017 Pearson Education, Inc., Hoboken, NJ. All rights reserved. </a:t>
            </a:r>
          </a:p>
        </p:txBody>
      </p:sp>
      <p:pic>
        <p:nvPicPr>
          <p:cNvPr id="5" name="Picture 4">
            <a:extLst>
              <a:ext uri="{FF2B5EF4-FFF2-40B4-BE49-F238E27FC236}">
                <a16:creationId xmlns:a16="http://schemas.microsoft.com/office/drawing/2014/main" id="{CF6F28E9-8A15-8E85-4042-E92D7D46EECB}"/>
              </a:ext>
            </a:extLst>
          </p:cNvPr>
          <p:cNvPicPr>
            <a:picLocks noChangeAspect="1"/>
          </p:cNvPicPr>
          <p:nvPr/>
        </p:nvPicPr>
        <p:blipFill>
          <a:blip r:embed="rId3"/>
          <a:stretch>
            <a:fillRect/>
          </a:stretch>
        </p:blipFill>
        <p:spPr>
          <a:xfrm>
            <a:off x="6396880" y="5295900"/>
            <a:ext cx="3952875" cy="1562100"/>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solidFill>
                  <a:schemeClr val="accent6">
                    <a:lumMod val="75000"/>
                  </a:schemeClr>
                </a:solidFill>
              </a:rPr>
              <a:t>Combined Paging and Segmentation</a:t>
            </a:r>
          </a:p>
        </p:txBody>
      </p:sp>
      <p:graphicFrame>
        <p:nvGraphicFramePr>
          <p:cNvPr id="5" name="Diagram 4"/>
          <p:cNvGraphicFramePr/>
          <p:nvPr>
            <p:extLst>
              <p:ext uri="{D42A27DB-BD31-4B8C-83A1-F6EECF244321}">
                <p14:modId xmlns:p14="http://schemas.microsoft.com/office/powerpoint/2010/main" val="17649684"/>
              </p:ext>
            </p:extLst>
          </p:nvPr>
        </p:nvGraphicFramePr>
        <p:xfrm>
          <a:off x="1905000" y="2057400"/>
          <a:ext cx="83820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1842247" y="6492876"/>
            <a:ext cx="6006353" cy="365125"/>
          </a:xfrm>
        </p:spPr>
        <p:txBody>
          <a:bodyPr/>
          <a:lstStyle/>
          <a:p>
            <a:pPr>
              <a:defRPr/>
            </a:pPr>
            <a:r>
              <a:rPr lang="en-US" dirty="0"/>
              <a:t>© 2017 Pearson Education, Inc., Hoboken, NJ. All rights reserved. </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456253"/>
            <a:ext cx="9144000" cy="1067748"/>
          </a:xfrm>
        </p:spPr>
        <p:txBody>
          <a:bodyPr/>
          <a:lstStyle/>
          <a:p>
            <a:pPr algn="ctr">
              <a:tabLst>
                <a:tab pos="1804988" algn="l"/>
              </a:tabLst>
            </a:pPr>
            <a:r>
              <a:rPr lang="en-NZ" b="1" dirty="0">
                <a:solidFill>
                  <a:schemeClr val="accent1">
                    <a:lumMod val="50000"/>
                  </a:schemeClr>
                </a:solidFill>
              </a:rPr>
              <a:t>Operating System Software</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96944895"/>
              </p:ext>
            </p:extLst>
          </p:nvPr>
        </p:nvGraphicFramePr>
        <p:xfrm>
          <a:off x="590045" y="2362200"/>
          <a:ext cx="11042256"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1842247" y="6492876"/>
            <a:ext cx="6844553" cy="365125"/>
          </a:xfrm>
        </p:spPr>
        <p:txBody>
          <a:bodyPr/>
          <a:lstStyle/>
          <a:p>
            <a:pPr>
              <a:defRPr/>
            </a:pPr>
            <a:r>
              <a:rPr lang="en-US"/>
              <a:t>© 2017 Pearson Education, Inc., Hoboken, NJ. All rights reserved. </a:t>
            </a:r>
            <a:endParaRPr 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0677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Fetch Policy</a:t>
            </a:r>
          </a:p>
        </p:txBody>
      </p:sp>
      <p:sp>
        <p:nvSpPr>
          <p:cNvPr id="3" name="Content Placeholder 2"/>
          <p:cNvSpPr>
            <a:spLocks noGrp="1"/>
          </p:cNvSpPr>
          <p:nvPr>
            <p:ph idx="4294967295"/>
          </p:nvPr>
        </p:nvSpPr>
        <p:spPr>
          <a:xfrm>
            <a:off x="618142" y="2514600"/>
            <a:ext cx="4868258" cy="3962400"/>
          </a:xfrm>
        </p:spPr>
        <p:txBody>
          <a:bodyPr>
            <a:normAutofit/>
          </a:bodyPr>
          <a:lstStyle/>
          <a:p>
            <a:r>
              <a:rPr lang="en-US" sz="2600" dirty="0"/>
              <a:t>Determines when a page should be brought into memory</a:t>
            </a:r>
          </a:p>
        </p:txBody>
      </p:sp>
      <p:graphicFrame>
        <p:nvGraphicFramePr>
          <p:cNvPr id="4" name="Diagram 3"/>
          <p:cNvGraphicFramePr/>
          <p:nvPr>
            <p:extLst>
              <p:ext uri="{D42A27DB-BD31-4B8C-83A1-F6EECF244321}">
                <p14:modId xmlns:p14="http://schemas.microsoft.com/office/powerpoint/2010/main" val="1138753818"/>
              </p:ext>
            </p:extLst>
          </p:nvPr>
        </p:nvGraphicFramePr>
        <p:xfrm>
          <a:off x="5486399" y="2514600"/>
          <a:ext cx="5893025" cy="345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Footer Placeholder 8"/>
          <p:cNvSpPr>
            <a:spLocks noGrp="1"/>
          </p:cNvSpPr>
          <p:nvPr>
            <p:ph type="ftr" sz="quarter" idx="11"/>
          </p:nvPr>
        </p:nvSpPr>
        <p:spPr>
          <a:xfrm>
            <a:off x="1842247" y="6492876"/>
            <a:ext cx="6387353" cy="365125"/>
          </a:xfrm>
        </p:spPr>
        <p:txBody>
          <a:bodyPr/>
          <a:lstStyle/>
          <a:p>
            <a:pPr>
              <a:defRPr/>
            </a:pPr>
            <a:r>
              <a:rPr lang="en-US" dirty="0"/>
              <a:t>© 2017 Pearson Education, Inc., Hoboken, NJ. All rights reserved. </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chemeClr val="accent4">
                    <a:lumMod val="50000"/>
                  </a:schemeClr>
                </a:solidFill>
              </a:rPr>
              <a:t>Demand Paging </a:t>
            </a:r>
            <a:endParaRPr lang="en-US" dirty="0"/>
          </a:p>
        </p:txBody>
      </p:sp>
      <p:sp>
        <p:nvSpPr>
          <p:cNvPr id="3" name="Content Placeholder 2"/>
          <p:cNvSpPr>
            <a:spLocks noGrp="1"/>
          </p:cNvSpPr>
          <p:nvPr>
            <p:ph idx="4294967295"/>
          </p:nvPr>
        </p:nvSpPr>
        <p:spPr>
          <a:xfrm>
            <a:off x="365265" y="2286000"/>
            <a:ext cx="11252987" cy="5105400"/>
          </a:xfrm>
        </p:spPr>
        <p:txBody>
          <a:bodyPr/>
          <a:lstStyle/>
          <a:p>
            <a:r>
              <a:rPr lang="en-US" sz="2200" b="1" dirty="0"/>
              <a:t>Demand Paging</a:t>
            </a:r>
            <a:endParaRPr lang="en-US" sz="2200" dirty="0"/>
          </a:p>
          <a:p>
            <a:pPr lvl="1"/>
            <a:r>
              <a:rPr lang="en-US" sz="2200" dirty="0"/>
              <a:t>Only brings pages into main memory when a reference is made to a location on the page</a:t>
            </a:r>
          </a:p>
          <a:p>
            <a:pPr lvl="1"/>
            <a:r>
              <a:rPr lang="en-US" sz="2200" dirty="0"/>
              <a:t>Many page faults when process is first started </a:t>
            </a:r>
          </a:p>
          <a:p>
            <a:pPr lvl="1"/>
            <a:r>
              <a:rPr lang="en-US" sz="2200" dirty="0"/>
              <a:t>Principle of locality suggests that as more and more pages are brought in, most future references will be to pages that have recently been brought in, and page faults should drop to a very low level</a:t>
            </a:r>
          </a:p>
          <a:p>
            <a:pPr>
              <a:buNone/>
            </a:pPr>
            <a:endParaRPr lang="en-US" dirty="0"/>
          </a:p>
        </p:txBody>
      </p:sp>
      <p:sp>
        <p:nvSpPr>
          <p:cNvPr id="8" name="Footer Placeholder 7"/>
          <p:cNvSpPr>
            <a:spLocks noGrp="1"/>
          </p:cNvSpPr>
          <p:nvPr>
            <p:ph type="ftr" sz="quarter" idx="11"/>
          </p:nvPr>
        </p:nvSpPr>
        <p:spPr>
          <a:xfrm>
            <a:off x="1842247" y="6492876"/>
            <a:ext cx="5777753" cy="365125"/>
          </a:xfrm>
        </p:spPr>
        <p:txBody>
          <a:bodyPr/>
          <a:lstStyle/>
          <a:p>
            <a:pPr>
              <a:defRPr/>
            </a:pPr>
            <a:r>
              <a:rPr lang="en-US" dirty="0"/>
              <a:t>© 2017 Pearson Education, Inc., Hoboken, NJ. All rights reserved. </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8"/>
          </a:xfrm>
        </p:spPr>
        <p:txBody>
          <a:bodyPr/>
          <a:lstStyle/>
          <a:p>
            <a:pPr algn="ctr"/>
            <a:r>
              <a:rPr lang="en-NZ" sz="4800" b="1" dirty="0">
                <a:solidFill>
                  <a:schemeClr val="accent1">
                    <a:lumMod val="50000"/>
                  </a:schemeClr>
                </a:solidFill>
              </a:rPr>
              <a:t>Prepaging</a:t>
            </a:r>
          </a:p>
        </p:txBody>
      </p:sp>
      <p:sp>
        <p:nvSpPr>
          <p:cNvPr id="3" name="Content Placeholder 2"/>
          <p:cNvSpPr>
            <a:spLocks noGrp="1"/>
          </p:cNvSpPr>
          <p:nvPr>
            <p:ph idx="4294967295"/>
          </p:nvPr>
        </p:nvSpPr>
        <p:spPr>
          <a:xfrm>
            <a:off x="491704" y="2209800"/>
            <a:ext cx="11196792" cy="5562600"/>
          </a:xfrm>
        </p:spPr>
        <p:txBody>
          <a:bodyPr/>
          <a:lstStyle/>
          <a:p>
            <a:r>
              <a:rPr lang="en-US" sz="2800" b="1" dirty="0" err="1"/>
              <a:t>Prepaging</a:t>
            </a:r>
            <a:r>
              <a:rPr lang="en-US" sz="2800" b="1" dirty="0"/>
              <a:t> </a:t>
            </a:r>
          </a:p>
          <a:p>
            <a:pPr lvl="1"/>
            <a:r>
              <a:rPr lang="en-US" sz="2200" dirty="0"/>
              <a:t>Pages other than the one demanded by a page fault are brought in</a:t>
            </a:r>
          </a:p>
          <a:p>
            <a:pPr lvl="1"/>
            <a:r>
              <a:rPr lang="en-US" sz="2200" dirty="0"/>
              <a:t>Exploits the characteristics of most secondary memory devices</a:t>
            </a:r>
          </a:p>
          <a:p>
            <a:pPr lvl="1"/>
            <a:r>
              <a:rPr lang="en-US" sz="2200" dirty="0"/>
              <a:t>If pages of a process are stored contiguously in secondary memory it is more efficient to bring in a number of pages at one time</a:t>
            </a:r>
          </a:p>
          <a:p>
            <a:pPr lvl="1"/>
            <a:r>
              <a:rPr lang="en-US" sz="2200" dirty="0"/>
              <a:t>Ineffective if extra pages are not referenced</a:t>
            </a:r>
          </a:p>
          <a:p>
            <a:pPr lvl="1"/>
            <a:r>
              <a:rPr lang="en-US" sz="2200" dirty="0"/>
              <a:t>Should not be confused with “swapping”</a:t>
            </a:r>
          </a:p>
          <a:p>
            <a:endParaRPr lang="en-NZ" dirty="0"/>
          </a:p>
        </p:txBody>
      </p:sp>
      <p:sp>
        <p:nvSpPr>
          <p:cNvPr id="6" name="Footer Placeholder 5"/>
          <p:cNvSpPr>
            <a:spLocks noGrp="1"/>
          </p:cNvSpPr>
          <p:nvPr>
            <p:ph type="ftr" sz="quarter" idx="11"/>
          </p:nvPr>
        </p:nvSpPr>
        <p:spPr>
          <a:xfrm>
            <a:off x="1842247" y="6492876"/>
            <a:ext cx="6158753" cy="365125"/>
          </a:xfrm>
        </p:spPr>
        <p:txBody>
          <a:bodyPr/>
          <a:lstStyle/>
          <a:p>
            <a:pPr>
              <a:defRPr/>
            </a:pPr>
            <a:r>
              <a:rPr lang="en-US" dirty="0"/>
              <a:t>© 2017 Pearson Education, Inc., Hoboken, NJ. All rights reserved. </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4">
                    <a:lumMod val="50000"/>
                  </a:schemeClr>
                </a:solidFill>
              </a:rPr>
              <a:t>Placement Policy</a:t>
            </a:r>
          </a:p>
        </p:txBody>
      </p:sp>
      <p:sp>
        <p:nvSpPr>
          <p:cNvPr id="3" name="Content Placeholder 2"/>
          <p:cNvSpPr>
            <a:spLocks noGrp="1"/>
          </p:cNvSpPr>
          <p:nvPr>
            <p:ph type="body" orient="vert" idx="4294967295"/>
          </p:nvPr>
        </p:nvSpPr>
        <p:spPr>
          <a:xfrm>
            <a:off x="379314" y="2286001"/>
            <a:ext cx="11224890" cy="3840163"/>
          </a:xfrm>
        </p:spPr>
        <p:txBody>
          <a:bodyPr>
            <a:normAutofit/>
          </a:bodyPr>
          <a:lstStyle/>
          <a:p>
            <a:r>
              <a:rPr lang="en-US" sz="3000" dirty="0"/>
              <a:t>Determines where in real memory a process piece is to reside</a:t>
            </a:r>
          </a:p>
          <a:p>
            <a:r>
              <a:rPr lang="en-US" sz="3000" dirty="0"/>
              <a:t>Important design issue in a segmentation system</a:t>
            </a:r>
          </a:p>
          <a:p>
            <a:r>
              <a:rPr lang="en-US" sz="3000" dirty="0"/>
              <a:t>Paging or combined paging with segmentation placing is irrelevant because hardware performs functions with equal efficiency</a:t>
            </a:r>
          </a:p>
          <a:p>
            <a:r>
              <a:rPr lang="en-US" sz="3000" dirty="0"/>
              <a:t>For NUMA systems an automatic placement strategy is desirable</a:t>
            </a:r>
          </a:p>
          <a:p>
            <a:endParaRPr lang="en-US" dirty="0"/>
          </a:p>
        </p:txBody>
      </p:sp>
      <p:sp>
        <p:nvSpPr>
          <p:cNvPr id="6" name="Footer Placeholder 5"/>
          <p:cNvSpPr>
            <a:spLocks noGrp="1"/>
          </p:cNvSpPr>
          <p:nvPr>
            <p:ph type="ftr" sz="quarter" idx="11"/>
          </p:nvPr>
        </p:nvSpPr>
        <p:spPr>
          <a:xfrm>
            <a:off x="1842247" y="6492876"/>
            <a:ext cx="5091953" cy="365125"/>
          </a:xfrm>
        </p:spPr>
        <p:txBody>
          <a:bodyPr/>
          <a:lstStyle/>
          <a:p>
            <a:pPr>
              <a:defRPr/>
            </a:pPr>
            <a:r>
              <a:rPr lang="en-US" dirty="0"/>
              <a:t>© 2017 Pearson Education, Inc., Hoboken, NJ. All rights reserved. </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50000"/>
                  </a:schemeClr>
                </a:solidFill>
              </a:rPr>
              <a:t>Replacement Policy</a:t>
            </a:r>
          </a:p>
        </p:txBody>
      </p:sp>
      <p:sp>
        <p:nvSpPr>
          <p:cNvPr id="3" name="Content Placeholder 2"/>
          <p:cNvSpPr>
            <a:spLocks noGrp="1"/>
          </p:cNvSpPr>
          <p:nvPr>
            <p:ph idx="4294967295"/>
          </p:nvPr>
        </p:nvSpPr>
        <p:spPr>
          <a:xfrm>
            <a:off x="491704" y="2133600"/>
            <a:ext cx="11154646" cy="5105400"/>
          </a:xfrm>
        </p:spPr>
        <p:txBody>
          <a:bodyPr>
            <a:normAutofit/>
          </a:bodyPr>
          <a:lstStyle/>
          <a:p>
            <a:r>
              <a:rPr lang="en-NZ" sz="2800" dirty="0"/>
              <a:t>Deals with the selection of a page in main memory to be replaced when a new page must be brought in</a:t>
            </a:r>
          </a:p>
          <a:p>
            <a:pPr lvl="3"/>
            <a:r>
              <a:rPr lang="en-NZ" sz="2400" dirty="0"/>
              <a:t>Objective is that the page that is removed be the page least likely to be referenced in the near future</a:t>
            </a:r>
          </a:p>
          <a:p>
            <a:pPr marL="282575" lvl="3">
              <a:spcBef>
                <a:spcPts val="1800"/>
              </a:spcBef>
            </a:pPr>
            <a:r>
              <a:rPr lang="en-NZ" sz="2800" dirty="0"/>
              <a:t>The more elaborate the replacement policy the greater the hardware and software overhead to implement it</a:t>
            </a:r>
          </a:p>
        </p:txBody>
      </p:sp>
      <p:sp>
        <p:nvSpPr>
          <p:cNvPr id="6" name="Footer Placeholder 5"/>
          <p:cNvSpPr>
            <a:spLocks noGrp="1"/>
          </p:cNvSpPr>
          <p:nvPr>
            <p:ph type="ftr" sz="quarter" idx="11"/>
          </p:nvPr>
        </p:nvSpPr>
        <p:spPr>
          <a:xfrm>
            <a:off x="1842247" y="6492876"/>
            <a:ext cx="5472953" cy="365125"/>
          </a:xfrm>
        </p:spPr>
        <p:txBody>
          <a:bodyPr/>
          <a:lstStyle/>
          <a:p>
            <a:pPr>
              <a:defRPr/>
            </a:pPr>
            <a:r>
              <a:rPr lang="en-US"/>
              <a:t>© 2017 Pearson Education, Inc., Hoboken, NJ. All rights reserved. </a:t>
            </a:r>
            <a:endParaRPr 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lumMod val="50000"/>
                  </a:schemeClr>
                </a:solidFill>
              </a:rPr>
              <a:t> </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Frame Locking</a:t>
            </a:r>
            <a:endParaRPr lang="en-US" b="1" dirty="0">
              <a:solidFill>
                <a:schemeClr val="accent5">
                  <a:lumMod val="50000"/>
                </a:schemeClr>
              </a:solidFill>
            </a:endParaRPr>
          </a:p>
        </p:txBody>
      </p:sp>
      <p:sp>
        <p:nvSpPr>
          <p:cNvPr id="3" name="Content Placeholder 2"/>
          <p:cNvSpPr>
            <a:spLocks noGrp="1"/>
          </p:cNvSpPr>
          <p:nvPr>
            <p:ph idx="4294967295"/>
          </p:nvPr>
        </p:nvSpPr>
        <p:spPr>
          <a:xfrm>
            <a:off x="772676" y="2362200"/>
            <a:ext cx="10747235" cy="4876800"/>
          </a:xfrm>
        </p:spPr>
        <p:txBody>
          <a:bodyPr>
            <a:normAutofit/>
          </a:bodyPr>
          <a:lstStyle/>
          <a:p>
            <a:pPr>
              <a:lnSpc>
                <a:spcPct val="150000"/>
              </a:lnSpc>
              <a:buSzPct val="125000"/>
              <a:buFont typeface="Wingdings" charset="2"/>
              <a:buChar char="§"/>
            </a:pPr>
            <a:r>
              <a:rPr lang="en-US" sz="2500" dirty="0"/>
              <a:t>When a frame is locked the page currently stored in that frame may not be replaced</a:t>
            </a:r>
          </a:p>
          <a:p>
            <a:pPr marL="1092200" lvl="1" indent="-292100">
              <a:lnSpc>
                <a:spcPct val="150000"/>
              </a:lnSpc>
              <a:buSzPct val="125000"/>
              <a:buFont typeface="Wingdings" charset="2"/>
              <a:buChar char="§"/>
            </a:pPr>
            <a:r>
              <a:rPr lang="en-US" sz="2500" dirty="0"/>
              <a:t>Kernel of the OS as well as key control structures are held in locked frames</a:t>
            </a:r>
          </a:p>
          <a:p>
            <a:pPr marL="1092200" lvl="1" indent="-292100">
              <a:lnSpc>
                <a:spcPct val="150000"/>
              </a:lnSpc>
              <a:buSzPct val="125000"/>
              <a:buFont typeface="Wingdings" charset="2"/>
              <a:buChar char="§"/>
            </a:pPr>
            <a:r>
              <a:rPr lang="en-US" sz="2500" dirty="0"/>
              <a:t>I/O buffers and time-critical areas may be locked into main memory frames</a:t>
            </a:r>
          </a:p>
          <a:p>
            <a:pPr marL="1092200" lvl="1" indent="-292100">
              <a:lnSpc>
                <a:spcPct val="150000"/>
              </a:lnSpc>
              <a:buSzPct val="125000"/>
              <a:buFont typeface="Wingdings" charset="2"/>
              <a:buChar char="§"/>
            </a:pPr>
            <a:r>
              <a:rPr lang="en-US" sz="2500" dirty="0"/>
              <a:t>Locking is achieved by associating a lock bit with each frame</a:t>
            </a:r>
          </a:p>
        </p:txBody>
      </p:sp>
      <p:sp>
        <p:nvSpPr>
          <p:cNvPr id="7" name="Footer Placeholder 6"/>
          <p:cNvSpPr>
            <a:spLocks noGrp="1"/>
          </p:cNvSpPr>
          <p:nvPr>
            <p:ph type="ftr" sz="quarter" idx="11"/>
          </p:nvPr>
        </p:nvSpPr>
        <p:spPr>
          <a:xfrm>
            <a:off x="1842247" y="6492876"/>
            <a:ext cx="6006353" cy="365125"/>
          </a:xfrm>
        </p:spPr>
        <p:txBody>
          <a:bodyPr/>
          <a:lstStyle/>
          <a:p>
            <a:pPr>
              <a:defRPr/>
            </a:pPr>
            <a:r>
              <a:rPr lang="en-US" dirty="0"/>
              <a:t>© 2017 Pearson Education, Inc., Hoboken, NJ. All rights reserved. </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304801"/>
            <a:ext cx="7824788" cy="1323041"/>
          </a:xfrm>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Basic Algorithms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2707262187"/>
              </p:ext>
            </p:extLst>
          </p:nvPr>
        </p:nvGraphicFramePr>
        <p:xfrm>
          <a:off x="2057400" y="2133600"/>
          <a:ext cx="81534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1842247" y="6492876"/>
            <a:ext cx="6006353" cy="365125"/>
          </a:xfrm>
        </p:spPr>
        <p:txBody>
          <a:bodyPr/>
          <a:lstStyle/>
          <a:p>
            <a:pPr>
              <a:defRPr/>
            </a:pPr>
            <a:r>
              <a:rPr lang="en-US" dirty="0"/>
              <a:t>© 2017 Pearson Education, Inc., Hoboken, NJ. All rights reserved. </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4.pdf"/>
          <p:cNvPicPr>
            <a:picLocks noChangeAspect="1"/>
          </p:cNvPicPr>
          <p:nvPr/>
        </p:nvPicPr>
        <p:blipFill>
          <a:blip r:embed="rId3"/>
          <a:stretch>
            <a:fillRect/>
          </a:stretch>
        </p:blipFill>
        <p:spPr>
          <a:xfrm>
            <a:off x="1180089" y="190501"/>
            <a:ext cx="10353872" cy="6667499"/>
          </a:xfrm>
          <a:prstGeom prst="rect">
            <a:avLst/>
          </a:prstGeom>
        </p:spPr>
      </p:pic>
      <p:sp>
        <p:nvSpPr>
          <p:cNvPr id="5" name="Footer Placeholder 4"/>
          <p:cNvSpPr>
            <a:spLocks noGrp="1"/>
          </p:cNvSpPr>
          <p:nvPr>
            <p:ph type="ftr" sz="quarter" idx="11"/>
          </p:nvPr>
        </p:nvSpPr>
        <p:spPr>
          <a:xfrm>
            <a:off x="1842247" y="6492876"/>
            <a:ext cx="57777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50000"/>
                  </a:schemeClr>
                </a:solidFill>
              </a:rPr>
              <a:t>Least Recently Used (LRU)</a:t>
            </a:r>
          </a:p>
        </p:txBody>
      </p:sp>
      <p:sp>
        <p:nvSpPr>
          <p:cNvPr id="3" name="Content Placeholder 2"/>
          <p:cNvSpPr>
            <a:spLocks noGrp="1"/>
          </p:cNvSpPr>
          <p:nvPr>
            <p:ph idx="4294967295"/>
          </p:nvPr>
        </p:nvSpPr>
        <p:spPr>
          <a:xfrm>
            <a:off x="280973" y="2209801"/>
            <a:ext cx="11379425" cy="3840163"/>
          </a:xfrm>
        </p:spPr>
        <p:txBody>
          <a:bodyPr>
            <a:normAutofit fontScale="92500" lnSpcReduction="10000"/>
          </a:bodyPr>
          <a:lstStyle/>
          <a:p>
            <a:pPr>
              <a:lnSpc>
                <a:spcPct val="150000"/>
              </a:lnSpc>
              <a:spcBef>
                <a:spcPts val="1200"/>
              </a:spcBef>
            </a:pPr>
            <a:r>
              <a:rPr lang="en-US" sz="2800" dirty="0"/>
              <a:t>Replaces the page that has not been referenced for the longest time</a:t>
            </a:r>
          </a:p>
          <a:p>
            <a:pPr>
              <a:lnSpc>
                <a:spcPct val="150000"/>
              </a:lnSpc>
              <a:spcBef>
                <a:spcPts val="1200"/>
              </a:spcBef>
            </a:pPr>
            <a:r>
              <a:rPr lang="en-US" sz="2800" dirty="0"/>
              <a:t>By the principle of locality, this should be the page least likely to be referenced in the near future</a:t>
            </a:r>
          </a:p>
          <a:p>
            <a:pPr>
              <a:lnSpc>
                <a:spcPct val="150000"/>
              </a:lnSpc>
              <a:spcBef>
                <a:spcPts val="1200"/>
              </a:spcBef>
            </a:pPr>
            <a:r>
              <a:rPr lang="en-US" sz="2800" dirty="0"/>
              <a:t>Difficult to implement</a:t>
            </a:r>
          </a:p>
          <a:p>
            <a:pPr lvl="1">
              <a:lnSpc>
                <a:spcPct val="150000"/>
              </a:lnSpc>
            </a:pPr>
            <a:r>
              <a:rPr lang="en-US" sz="2595" dirty="0"/>
              <a:t>One approach is to tag each page with the time of last reference</a:t>
            </a:r>
          </a:p>
          <a:p>
            <a:pPr lvl="2">
              <a:lnSpc>
                <a:spcPct val="150000"/>
              </a:lnSpc>
            </a:pPr>
            <a:r>
              <a:rPr lang="en-US" sz="2378" dirty="0"/>
              <a:t>This requires a great deal of overhead</a:t>
            </a:r>
          </a:p>
        </p:txBody>
      </p:sp>
      <p:sp>
        <p:nvSpPr>
          <p:cNvPr id="7" name="Footer Placeholder 6"/>
          <p:cNvSpPr>
            <a:spLocks noGrp="1"/>
          </p:cNvSpPr>
          <p:nvPr>
            <p:ph type="ftr" sz="quarter" idx="11"/>
          </p:nvPr>
        </p:nvSpPr>
        <p:spPr>
          <a:xfrm>
            <a:off x="1842247" y="6492876"/>
            <a:ext cx="5396753" cy="365125"/>
          </a:xfrm>
        </p:spPr>
        <p:txBody>
          <a:bodyPr/>
          <a:lstStyle/>
          <a:p>
            <a:pPr>
              <a:defRPr/>
            </a:pPr>
            <a:r>
              <a:rPr lang="en-US" dirty="0"/>
              <a:t>© 2017 Pearson Education, Inc., Hoboken, NJ. All rights reserved. </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50000"/>
                  </a:schemeClr>
                </a:solidFill>
              </a:rPr>
              <a:t>First-in-First-out (FIFO)</a:t>
            </a:r>
          </a:p>
        </p:txBody>
      </p:sp>
      <p:sp>
        <p:nvSpPr>
          <p:cNvPr id="3" name="Content Placeholder 2"/>
          <p:cNvSpPr>
            <a:spLocks noGrp="1"/>
          </p:cNvSpPr>
          <p:nvPr>
            <p:ph idx="4294967295"/>
          </p:nvPr>
        </p:nvSpPr>
        <p:spPr>
          <a:xfrm>
            <a:off x="575996" y="2286000"/>
            <a:ext cx="11112500" cy="5334000"/>
          </a:xfrm>
        </p:spPr>
        <p:txBody>
          <a:bodyPr>
            <a:normAutofit/>
          </a:bodyPr>
          <a:lstStyle/>
          <a:p>
            <a:pPr>
              <a:lnSpc>
                <a:spcPct val="150000"/>
              </a:lnSpc>
            </a:pPr>
            <a:r>
              <a:rPr lang="en-US" sz="3100" dirty="0"/>
              <a:t>Treats page frames allocated to a process as a circular buffer</a:t>
            </a:r>
          </a:p>
          <a:p>
            <a:pPr>
              <a:lnSpc>
                <a:spcPct val="150000"/>
              </a:lnSpc>
            </a:pPr>
            <a:r>
              <a:rPr lang="en-US" sz="3100" dirty="0"/>
              <a:t>Pages are removed in round-robin style</a:t>
            </a:r>
          </a:p>
          <a:p>
            <a:pPr marL="625475" lvl="2" indent="-342900">
              <a:lnSpc>
                <a:spcPct val="150000"/>
              </a:lnSpc>
              <a:buSzPct val="100000"/>
              <a:buFont typeface="Wingdings" charset="2"/>
              <a:buChar char="§"/>
            </a:pPr>
            <a:r>
              <a:rPr lang="en-US" sz="3100" dirty="0"/>
              <a:t>Simple replacement policy to implement</a:t>
            </a:r>
          </a:p>
          <a:p>
            <a:pPr>
              <a:lnSpc>
                <a:spcPct val="150000"/>
              </a:lnSpc>
            </a:pPr>
            <a:r>
              <a:rPr lang="en-US" sz="3100" dirty="0"/>
              <a:t>Page that has been in memory </a:t>
            </a:r>
            <a:r>
              <a:rPr lang="en-US" sz="3100" dirty="0" err="1"/>
              <a:t>th</a:t>
            </a:r>
            <a:r>
              <a:rPr lang="en-GB" sz="3100" dirty="0"/>
              <a:t>e</a:t>
            </a:r>
            <a:r>
              <a:rPr lang="en-US" sz="3100" dirty="0"/>
              <a:t> longest is replaced</a:t>
            </a:r>
          </a:p>
        </p:txBody>
      </p:sp>
      <p:sp>
        <p:nvSpPr>
          <p:cNvPr id="7" name="Footer Placeholder 6"/>
          <p:cNvSpPr>
            <a:spLocks noGrp="1"/>
          </p:cNvSpPr>
          <p:nvPr>
            <p:ph type="ftr" sz="quarter" idx="11"/>
          </p:nvPr>
        </p:nvSpPr>
        <p:spPr>
          <a:xfrm>
            <a:off x="1842247" y="6492876"/>
            <a:ext cx="7225553" cy="365125"/>
          </a:xfrm>
        </p:spPr>
        <p:txBody>
          <a:bodyPr/>
          <a:lstStyle/>
          <a:p>
            <a:pPr>
              <a:defRPr/>
            </a:pPr>
            <a:r>
              <a:rPr lang="en-US" dirty="0"/>
              <a:t>© 2017 Pearson Education, Inc., Hoboken, NJ. All rights reserved. </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220147"/>
          </a:xfrm>
        </p:spPr>
        <p:txBody>
          <a:bodyPr/>
          <a:lstStyle/>
          <a:p>
            <a:pPr algn="ctr"/>
            <a:r>
              <a:rPr lang="en-US" b="1" dirty="0">
                <a:solidFill>
                  <a:schemeClr val="accent1">
                    <a:lumMod val="50000"/>
                  </a:schemeClr>
                </a:solidFill>
              </a:rPr>
              <a:t>Clock Policy</a:t>
            </a:r>
          </a:p>
        </p:txBody>
      </p:sp>
      <p:sp>
        <p:nvSpPr>
          <p:cNvPr id="3" name="Content Placeholder 2"/>
          <p:cNvSpPr>
            <a:spLocks noGrp="1"/>
          </p:cNvSpPr>
          <p:nvPr>
            <p:ph idx="4294967295"/>
          </p:nvPr>
        </p:nvSpPr>
        <p:spPr>
          <a:xfrm>
            <a:off x="2057400" y="2057400"/>
            <a:ext cx="8229600" cy="5181600"/>
          </a:xfrm>
        </p:spPr>
        <p:txBody>
          <a:bodyPr>
            <a:normAutofit/>
          </a:bodyPr>
          <a:lstStyle/>
          <a:p>
            <a:r>
              <a:rPr lang="en-US" sz="2400" dirty="0"/>
              <a:t>Requires the association of an additional bit with each frame</a:t>
            </a:r>
          </a:p>
          <a:p>
            <a:pPr lvl="2"/>
            <a:r>
              <a:rPr lang="en-US" sz="2200" dirty="0"/>
              <a:t>Referred to as the </a:t>
            </a:r>
            <a:r>
              <a:rPr lang="en-US" sz="2200" i="1" dirty="0"/>
              <a:t>use</a:t>
            </a:r>
            <a:r>
              <a:rPr lang="en-US" sz="2200" dirty="0"/>
              <a:t> bit</a:t>
            </a:r>
          </a:p>
          <a:p>
            <a:r>
              <a:rPr lang="en-US" sz="2400" dirty="0"/>
              <a:t>When a page is first loaded in memory or referenced, the use bit is set to 1</a:t>
            </a:r>
          </a:p>
          <a:p>
            <a:r>
              <a:rPr lang="en-US" sz="2400" dirty="0"/>
              <a:t>The set of frames is considered to be a circular buffer</a:t>
            </a:r>
          </a:p>
          <a:p>
            <a:r>
              <a:rPr lang="en-US" sz="2400" dirty="0"/>
              <a:t>Any frame with a use bit of 1 is passed over                        by the algorithm</a:t>
            </a:r>
          </a:p>
          <a:p>
            <a:r>
              <a:rPr lang="en-US" sz="2400" dirty="0"/>
              <a:t>Page frames visualized as laid out in a circle</a:t>
            </a:r>
          </a:p>
          <a:p>
            <a:endParaRPr lang="en-US" dirty="0"/>
          </a:p>
        </p:txBody>
      </p:sp>
      <p:sp>
        <p:nvSpPr>
          <p:cNvPr id="8" name="Footer Placeholder 7"/>
          <p:cNvSpPr>
            <a:spLocks noGrp="1"/>
          </p:cNvSpPr>
          <p:nvPr>
            <p:ph type="ftr" sz="quarter" idx="11"/>
          </p:nvPr>
        </p:nvSpPr>
        <p:spPr>
          <a:xfrm>
            <a:off x="1842247" y="6492876"/>
            <a:ext cx="6082553" cy="365125"/>
          </a:xfrm>
        </p:spPr>
        <p:txBody>
          <a:bodyPr/>
          <a:lstStyle/>
          <a:p>
            <a:pPr>
              <a:defRPr/>
            </a:pPr>
            <a:r>
              <a:rPr lang="en-US" dirty="0"/>
              <a:t>© 2017 Pearson Education, Inc., Hoboken, NJ. All rights reserved. </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5.pdf"/>
          <p:cNvPicPr>
            <a:picLocks noChangeAspect="1"/>
          </p:cNvPicPr>
          <p:nvPr/>
        </p:nvPicPr>
        <p:blipFill>
          <a:blip r:embed="rId3"/>
          <a:stretch>
            <a:fillRect/>
          </a:stretch>
        </p:blipFill>
        <p:spPr>
          <a:xfrm>
            <a:off x="3732296" y="304800"/>
            <a:ext cx="4802105" cy="6347130"/>
          </a:xfrm>
          <a:prstGeom prst="rect">
            <a:avLst/>
          </a:prstGeom>
        </p:spPr>
      </p:pic>
      <p:sp>
        <p:nvSpPr>
          <p:cNvPr id="5" name="Footer Placeholder 4"/>
          <p:cNvSpPr>
            <a:spLocks noGrp="1"/>
          </p:cNvSpPr>
          <p:nvPr>
            <p:ph type="ftr" sz="quarter" idx="11"/>
          </p:nvPr>
        </p:nvSpPr>
        <p:spPr>
          <a:xfrm>
            <a:off x="1842247" y="6492876"/>
            <a:ext cx="6996953" cy="365125"/>
          </a:xfrm>
        </p:spPr>
        <p:txBody>
          <a:bodyPr/>
          <a:lstStyle/>
          <a:p>
            <a:pPr>
              <a:defRPr/>
            </a:pPr>
            <a:r>
              <a:rPr lang="en-US" dirty="0"/>
              <a:t>© 2017 Pearson Education, Inc., Hoboken, NJ. All rights reserved. </a:t>
            </a:r>
          </a:p>
        </p:txBody>
      </p:sp>
    </p:spTree>
  </p:cSld>
  <p:clrMapOvr>
    <a:masterClrMapping/>
  </p:clrMapOvr>
  <p:transition spd="slow">
    <p:wheel spokes="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6.pdf"/>
          <p:cNvPicPr>
            <a:picLocks noChangeAspect="1"/>
          </p:cNvPicPr>
          <p:nvPr/>
        </p:nvPicPr>
        <p:blipFill>
          <a:blip r:embed="rId3"/>
          <a:srcRect l="9091" t="22353" r="9091" b="24706"/>
          <a:stretch>
            <a:fillRect/>
          </a:stretch>
        </p:blipFill>
        <p:spPr>
          <a:xfrm>
            <a:off x="1972170" y="1532976"/>
            <a:ext cx="8364143" cy="4182024"/>
          </a:xfrm>
          <a:prstGeom prst="rect">
            <a:avLst/>
          </a:prstGeom>
        </p:spPr>
      </p:pic>
      <p:sp>
        <p:nvSpPr>
          <p:cNvPr id="6" name="Footer Placeholder 5"/>
          <p:cNvSpPr>
            <a:spLocks noGrp="1"/>
          </p:cNvSpPr>
          <p:nvPr>
            <p:ph type="ftr" sz="quarter" idx="11"/>
          </p:nvPr>
        </p:nvSpPr>
        <p:spPr>
          <a:xfrm>
            <a:off x="1842247" y="6492876"/>
            <a:ext cx="73017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9915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Page Buffering</a:t>
            </a:r>
          </a:p>
        </p:txBody>
      </p:sp>
      <p:sp>
        <p:nvSpPr>
          <p:cNvPr id="3" name="Content Placeholder 2"/>
          <p:cNvSpPr>
            <a:spLocks noGrp="1"/>
          </p:cNvSpPr>
          <p:nvPr>
            <p:ph idx="4294967295"/>
          </p:nvPr>
        </p:nvSpPr>
        <p:spPr>
          <a:xfrm>
            <a:off x="2057400" y="2209801"/>
            <a:ext cx="2590800" cy="3840163"/>
          </a:xfrm>
        </p:spPr>
        <p:txBody>
          <a:bodyPr>
            <a:normAutofit/>
          </a:bodyPr>
          <a:lstStyle/>
          <a:p>
            <a:r>
              <a:rPr lang="en-US" sz="2200" dirty="0"/>
              <a:t>Improves paging performance and allows the use of a simpler page replacement policy</a:t>
            </a:r>
          </a:p>
        </p:txBody>
      </p:sp>
      <p:graphicFrame>
        <p:nvGraphicFramePr>
          <p:cNvPr id="4" name="Diagram 3"/>
          <p:cNvGraphicFramePr/>
          <p:nvPr>
            <p:extLst>
              <p:ext uri="{D42A27DB-BD31-4B8C-83A1-F6EECF244321}">
                <p14:modId xmlns:p14="http://schemas.microsoft.com/office/powerpoint/2010/main" val="1049519651"/>
              </p:ext>
            </p:extLst>
          </p:nvPr>
        </p:nvGraphicFramePr>
        <p:xfrm>
          <a:off x="3276600" y="2057400"/>
          <a:ext cx="7086600" cy="429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1842247" y="6492876"/>
            <a:ext cx="7225553" cy="365125"/>
          </a:xfrm>
        </p:spPr>
        <p:txBody>
          <a:bodyPr/>
          <a:lstStyle/>
          <a:p>
            <a:pPr>
              <a:defRPr/>
            </a:pPr>
            <a:r>
              <a:rPr lang="en-US" dirty="0"/>
              <a:t>© 2017 Pearson Education, Inc., Hoboken, NJ. All rights reserved. </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Resident Set Management</a:t>
            </a:r>
          </a:p>
        </p:txBody>
      </p:sp>
      <p:sp>
        <p:nvSpPr>
          <p:cNvPr id="3" name="Content Placeholder 2"/>
          <p:cNvSpPr>
            <a:spLocks noGrp="1"/>
          </p:cNvSpPr>
          <p:nvPr>
            <p:ph idx="4294967295"/>
          </p:nvPr>
        </p:nvSpPr>
        <p:spPr>
          <a:xfrm>
            <a:off x="1981200" y="2133600"/>
            <a:ext cx="8229600" cy="5105400"/>
          </a:xfrm>
        </p:spPr>
        <p:txBody>
          <a:bodyPr>
            <a:normAutofit/>
          </a:bodyPr>
          <a:lstStyle/>
          <a:p>
            <a:r>
              <a:rPr lang="en-NZ" sz="2800" dirty="0"/>
              <a:t>The OS must decide how many pages to bring into main memory</a:t>
            </a:r>
          </a:p>
          <a:p>
            <a:pPr lvl="2"/>
            <a:r>
              <a:rPr lang="en-NZ" sz="2200" dirty="0"/>
              <a:t>The smaller the amount of memory allocated to each process, the more processes can reside in memory</a:t>
            </a:r>
          </a:p>
          <a:p>
            <a:pPr lvl="2"/>
            <a:r>
              <a:rPr lang="en-NZ" sz="2200" dirty="0"/>
              <a:t>Small number of pages loaded increases page faults</a:t>
            </a:r>
          </a:p>
          <a:p>
            <a:pPr lvl="2"/>
            <a:r>
              <a:rPr lang="en-NZ" sz="2200" dirty="0"/>
              <a:t>Beyond a certain size, further allocations                               of pages will not effect the page fault rate</a:t>
            </a:r>
          </a:p>
        </p:txBody>
      </p:sp>
      <p:sp>
        <p:nvSpPr>
          <p:cNvPr id="7" name="Footer Placeholder 6"/>
          <p:cNvSpPr>
            <a:spLocks noGrp="1"/>
          </p:cNvSpPr>
          <p:nvPr>
            <p:ph type="ftr" sz="quarter" idx="11"/>
          </p:nvPr>
        </p:nvSpPr>
        <p:spPr>
          <a:xfrm>
            <a:off x="1842247" y="6492876"/>
            <a:ext cx="6844553" cy="365125"/>
          </a:xfrm>
        </p:spPr>
        <p:txBody>
          <a:bodyPr/>
          <a:lstStyle/>
          <a:p>
            <a:pPr>
              <a:defRPr/>
            </a:pPr>
            <a:r>
              <a:rPr lang="en-US" dirty="0"/>
              <a:t>© 2017 Pearson Education, Inc., Hoboken, NJ. All rights reserved. </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8"/>
          </a:xfrm>
        </p:spPr>
        <p:txBody>
          <a:bodyPr/>
          <a:lstStyle/>
          <a:p>
            <a:pPr algn="ctr"/>
            <a:r>
              <a:rPr lang="en-US" b="1" dirty="0">
                <a:solidFill>
                  <a:schemeClr val="tx2">
                    <a:lumMod val="50000"/>
                  </a:schemeClr>
                </a:solidFill>
              </a:rPr>
              <a:t>Resident Set Size</a:t>
            </a:r>
          </a:p>
        </p:txBody>
      </p:sp>
      <p:sp>
        <p:nvSpPr>
          <p:cNvPr id="5" name="Text Placeholder 4"/>
          <p:cNvSpPr>
            <a:spLocks noGrp="1"/>
          </p:cNvSpPr>
          <p:nvPr>
            <p:ph type="body" idx="1"/>
          </p:nvPr>
        </p:nvSpPr>
        <p:spPr>
          <a:xfrm>
            <a:off x="2209800" y="2362201"/>
            <a:ext cx="3657600" cy="730415"/>
          </a:xfrm>
        </p:spPr>
        <p:txBody>
          <a:bodyPr/>
          <a:lstStyle/>
          <a:p>
            <a:pPr lvl="0"/>
            <a:r>
              <a:rPr lang="en-US" sz="3200" dirty="0"/>
              <a:t>Fixed-allocation</a:t>
            </a:r>
          </a:p>
          <a:p>
            <a:endParaRPr lang="en-US" dirty="0"/>
          </a:p>
        </p:txBody>
      </p:sp>
      <p:sp>
        <p:nvSpPr>
          <p:cNvPr id="6" name="Text Placeholder 5"/>
          <p:cNvSpPr>
            <a:spLocks noGrp="1"/>
          </p:cNvSpPr>
          <p:nvPr>
            <p:ph type="body" sz="quarter" idx="3"/>
          </p:nvPr>
        </p:nvSpPr>
        <p:spPr>
          <a:xfrm>
            <a:off x="6324600" y="2438400"/>
            <a:ext cx="3657600" cy="609600"/>
          </a:xfrm>
        </p:spPr>
        <p:txBody>
          <a:bodyPr/>
          <a:lstStyle/>
          <a:p>
            <a:pPr lvl="0"/>
            <a:r>
              <a:rPr lang="en-US" sz="3200" dirty="0"/>
              <a:t>Variable-allocation</a:t>
            </a:r>
          </a:p>
          <a:p>
            <a:endParaRPr lang="en-US" sz="3200" dirty="0"/>
          </a:p>
        </p:txBody>
      </p:sp>
      <p:sp>
        <p:nvSpPr>
          <p:cNvPr id="7" name="Content Placeholder 6"/>
          <p:cNvSpPr>
            <a:spLocks noGrp="1"/>
          </p:cNvSpPr>
          <p:nvPr>
            <p:ph sz="quarter" idx="4"/>
          </p:nvPr>
        </p:nvSpPr>
        <p:spPr>
          <a:xfrm>
            <a:off x="6352032" y="2895600"/>
            <a:ext cx="3657600" cy="3230563"/>
          </a:xfrm>
        </p:spPr>
        <p:txBody>
          <a:bodyPr>
            <a:normAutofit/>
          </a:bodyPr>
          <a:lstStyle/>
          <a:p>
            <a:pPr lvl="0"/>
            <a:r>
              <a:rPr lang="en-US" sz="2200" dirty="0"/>
              <a:t>Allows the number of page frames allocated to a process to be varied over the lifetime of the process</a:t>
            </a:r>
          </a:p>
        </p:txBody>
      </p:sp>
      <p:sp>
        <p:nvSpPr>
          <p:cNvPr id="8" name="Content Placeholder 7"/>
          <p:cNvSpPr>
            <a:spLocks noGrp="1"/>
          </p:cNvSpPr>
          <p:nvPr>
            <p:ph sz="half" idx="2"/>
          </p:nvPr>
        </p:nvSpPr>
        <p:spPr>
          <a:xfrm>
            <a:off x="2187388" y="2895601"/>
            <a:ext cx="3657600" cy="3230562"/>
          </a:xfrm>
        </p:spPr>
        <p:txBody>
          <a:bodyPr/>
          <a:lstStyle/>
          <a:p>
            <a:r>
              <a:rPr lang="en-US" sz="2200" dirty="0"/>
              <a:t>Gives a process a fixed number of frames in main memory within which to execute</a:t>
            </a:r>
          </a:p>
          <a:p>
            <a:pPr marL="628650" lvl="1" indent="-228600">
              <a:spcBef>
                <a:spcPts val="1800"/>
              </a:spcBef>
            </a:pPr>
            <a:r>
              <a:rPr lang="en-US" sz="2000" dirty="0"/>
              <a:t>When a page fault occurs, one of the pages of that process must be replaced</a:t>
            </a:r>
          </a:p>
          <a:p>
            <a:endParaRPr lang="en-US" dirty="0"/>
          </a:p>
        </p:txBody>
      </p:sp>
      <p:sp>
        <p:nvSpPr>
          <p:cNvPr id="11" name="Footer Placeholder 10"/>
          <p:cNvSpPr>
            <a:spLocks noGrp="1"/>
          </p:cNvSpPr>
          <p:nvPr>
            <p:ph type="ftr" sz="quarter" idx="11"/>
          </p:nvPr>
        </p:nvSpPr>
        <p:spPr>
          <a:xfrm>
            <a:off x="1842247" y="6492876"/>
            <a:ext cx="6539753" cy="365125"/>
          </a:xfrm>
        </p:spPr>
        <p:txBody>
          <a:bodyPr/>
          <a:lstStyle/>
          <a:p>
            <a:pPr>
              <a:defRPr/>
            </a:pPr>
            <a:r>
              <a:rPr lang="en-US" dirty="0"/>
              <a:t>© 2017 Pearson Education, Inc., Hoboken, NJ. All rights reserved.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8"/>
          </a:xfrm>
        </p:spPr>
        <p:txBody>
          <a:bodyPr/>
          <a:lstStyle/>
          <a:p>
            <a:pPr algn="ctr"/>
            <a:r>
              <a:rPr lang="en-US" b="1" dirty="0">
                <a:ln w="1905"/>
                <a:solidFill>
                  <a:schemeClr val="accent3">
                    <a:lumMod val="50000"/>
                  </a:schemeClr>
                </a:solidFill>
                <a:effectLst>
                  <a:innerShdw blurRad="69850" dist="43180" dir="5400000">
                    <a:srgbClr val="000000">
                      <a:alpha val="65000"/>
                    </a:srgbClr>
                  </a:innerShdw>
                </a:effectLst>
              </a:rPr>
              <a:t>Cleaning Policy</a:t>
            </a:r>
          </a:p>
        </p:txBody>
      </p:sp>
      <p:sp>
        <p:nvSpPr>
          <p:cNvPr id="3" name="Content Placeholder 2"/>
          <p:cNvSpPr>
            <a:spLocks noGrp="1"/>
          </p:cNvSpPr>
          <p:nvPr>
            <p:ph idx="4294967295"/>
          </p:nvPr>
        </p:nvSpPr>
        <p:spPr>
          <a:xfrm>
            <a:off x="2057400" y="2209800"/>
            <a:ext cx="8382000" cy="4953000"/>
          </a:xfrm>
        </p:spPr>
        <p:txBody>
          <a:bodyPr>
            <a:normAutofit/>
          </a:bodyPr>
          <a:lstStyle/>
          <a:p>
            <a:r>
              <a:rPr lang="en-NZ" sz="2200" dirty="0"/>
              <a:t>Concerned with determining when a modified page should be written out to secondary memory</a:t>
            </a:r>
            <a:endParaRPr lang="en-US" sz="2200" dirty="0"/>
          </a:p>
        </p:txBody>
      </p:sp>
      <p:graphicFrame>
        <p:nvGraphicFramePr>
          <p:cNvPr id="4" name="Diagram 3"/>
          <p:cNvGraphicFramePr/>
          <p:nvPr>
            <p:extLst>
              <p:ext uri="{D42A27DB-BD31-4B8C-83A1-F6EECF244321}">
                <p14:modId xmlns:p14="http://schemas.microsoft.com/office/powerpoint/2010/main" val="689822316"/>
              </p:ext>
            </p:extLst>
          </p:nvPr>
        </p:nvGraphicFramePr>
        <p:xfrm>
          <a:off x="2133600" y="3352800"/>
          <a:ext cx="7772400" cy="299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1842247" y="6492876"/>
            <a:ext cx="5853953" cy="365125"/>
          </a:xfrm>
        </p:spPr>
        <p:txBody>
          <a:bodyPr/>
          <a:lstStyle/>
          <a:p>
            <a:pPr>
              <a:defRPr/>
            </a:pPr>
            <a:r>
              <a:rPr lang="en-US" dirty="0"/>
              <a:t>© 2017 Pearson Education, Inc., Hoboken, NJ. All rights reserved. </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220148"/>
          </a:xfrm>
        </p:spPr>
        <p:txBody>
          <a:bodyPr/>
          <a:lstStyle/>
          <a:p>
            <a:pPr algn="l"/>
            <a:r>
              <a:rPr lang="en-US" dirty="0">
                <a:solidFill>
                  <a:schemeClr val="accent1">
                    <a:lumMod val="75000"/>
                  </a:schemeClr>
                </a:solidFill>
              </a:rPr>
              <a:t>Load Control</a:t>
            </a:r>
          </a:p>
        </p:txBody>
      </p:sp>
      <p:sp>
        <p:nvSpPr>
          <p:cNvPr id="3" name="Content Placeholder 2"/>
          <p:cNvSpPr>
            <a:spLocks noGrp="1"/>
          </p:cNvSpPr>
          <p:nvPr>
            <p:ph idx="4294967295"/>
          </p:nvPr>
        </p:nvSpPr>
        <p:spPr>
          <a:xfrm>
            <a:off x="1981200" y="2286001"/>
            <a:ext cx="8153400" cy="3840163"/>
          </a:xfrm>
        </p:spPr>
        <p:txBody>
          <a:bodyPr/>
          <a:lstStyle/>
          <a:p>
            <a:r>
              <a:rPr lang="en-US" sz="2400" dirty="0"/>
              <a:t>Determines the number of processes that will be resident in main memory</a:t>
            </a:r>
          </a:p>
          <a:p>
            <a:pPr lvl="1"/>
            <a:r>
              <a:rPr lang="en-US" sz="2200" dirty="0"/>
              <a:t> </a:t>
            </a:r>
            <a:r>
              <a:rPr lang="en-US" sz="2200" i="1" dirty="0"/>
              <a:t>Multiprogramming </a:t>
            </a:r>
            <a:r>
              <a:rPr lang="en-US" sz="2200" dirty="0"/>
              <a:t>level</a:t>
            </a:r>
          </a:p>
          <a:p>
            <a:r>
              <a:rPr lang="en-US" sz="2400" dirty="0"/>
              <a:t>Critical in effective memory management</a:t>
            </a:r>
          </a:p>
          <a:p>
            <a:r>
              <a:rPr lang="en-US" sz="2400" dirty="0"/>
              <a:t>Too few processes, many occasions when all processes will be blocked and much time will be spent in swapping</a:t>
            </a:r>
          </a:p>
          <a:p>
            <a:r>
              <a:rPr lang="en-US" sz="2400" dirty="0"/>
              <a:t>Too many processes will lead to thrashing</a:t>
            </a:r>
          </a:p>
          <a:p>
            <a:endParaRPr lang="en-US" dirty="0"/>
          </a:p>
        </p:txBody>
      </p:sp>
      <p:sp>
        <p:nvSpPr>
          <p:cNvPr id="8" name="Footer Placeholder 7"/>
          <p:cNvSpPr>
            <a:spLocks noGrp="1"/>
          </p:cNvSpPr>
          <p:nvPr>
            <p:ph type="ftr" sz="quarter" idx="11"/>
          </p:nvPr>
        </p:nvSpPr>
        <p:spPr>
          <a:xfrm>
            <a:off x="1842247" y="6492876"/>
            <a:ext cx="6692153" cy="365125"/>
          </a:xfrm>
        </p:spPr>
        <p:txBody>
          <a:bodyPr/>
          <a:lstStyle/>
          <a:p>
            <a:pPr>
              <a:defRPr/>
            </a:pPr>
            <a:r>
              <a:rPr lang="en-US" dirty="0"/>
              <a:t>© 2017 Pearson Education, Inc., Hoboken, NJ. All rights reserved. </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9.pdf"/>
          <p:cNvPicPr>
            <a:picLocks noChangeAspect="1"/>
          </p:cNvPicPr>
          <p:nvPr/>
        </p:nvPicPr>
        <p:blipFill>
          <a:blip r:embed="rId3"/>
          <a:srcRect l="16471" t="19091" r="22353" b="33636"/>
          <a:stretch>
            <a:fillRect/>
          </a:stretch>
        </p:blipFill>
        <p:spPr>
          <a:xfrm>
            <a:off x="3124201" y="381000"/>
            <a:ext cx="6293391" cy="6293452"/>
          </a:xfrm>
          <a:prstGeom prst="rect">
            <a:avLst/>
          </a:prstGeom>
        </p:spPr>
      </p:pic>
      <p:sp>
        <p:nvSpPr>
          <p:cNvPr id="6" name="Footer Placeholder 5"/>
          <p:cNvSpPr>
            <a:spLocks noGrp="1"/>
          </p:cNvSpPr>
          <p:nvPr>
            <p:ph type="ftr" sz="quarter" idx="11"/>
          </p:nvPr>
        </p:nvSpPr>
        <p:spPr>
          <a:xfrm>
            <a:off x="1842247" y="6492876"/>
            <a:ext cx="66921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xmlns:mv="urn:schemas-microsoft-com:mac:vml">
      <p:transition spd="slow">
        <p:circl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067748"/>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Suspension</a:t>
            </a:r>
          </a:p>
        </p:txBody>
      </p:sp>
      <p:sp>
        <p:nvSpPr>
          <p:cNvPr id="3" name="Content Placeholder 2"/>
          <p:cNvSpPr>
            <a:spLocks noGrp="1"/>
          </p:cNvSpPr>
          <p:nvPr>
            <p:ph idx="4294967295"/>
          </p:nvPr>
        </p:nvSpPr>
        <p:spPr>
          <a:xfrm>
            <a:off x="1981200" y="2133600"/>
            <a:ext cx="8305800" cy="5334000"/>
          </a:xfrm>
        </p:spPr>
        <p:txBody>
          <a:bodyPr>
            <a:normAutofit/>
          </a:bodyPr>
          <a:lstStyle/>
          <a:p>
            <a:r>
              <a:rPr lang="en-NZ" sz="2200" dirty="0"/>
              <a:t>If the degree of multiprogramming is to be reduced, one or more of the currently resident processes must be swapped out</a:t>
            </a:r>
          </a:p>
        </p:txBody>
      </p:sp>
      <p:graphicFrame>
        <p:nvGraphicFramePr>
          <p:cNvPr id="4" name="Diagram 3"/>
          <p:cNvGraphicFramePr/>
          <p:nvPr>
            <p:extLst>
              <p:ext uri="{D42A27DB-BD31-4B8C-83A1-F6EECF244321}">
                <p14:modId xmlns:p14="http://schemas.microsoft.com/office/powerpoint/2010/main" val="3058219849"/>
              </p:ext>
            </p:extLst>
          </p:nvPr>
        </p:nvGraphicFramePr>
        <p:xfrm>
          <a:off x="3581400" y="2895600"/>
          <a:ext cx="5562600" cy="353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1842247" y="6492876"/>
            <a:ext cx="7377953" cy="365125"/>
          </a:xfrm>
        </p:spPr>
        <p:txBody>
          <a:bodyPr/>
          <a:lstStyle/>
          <a:p>
            <a:pPr>
              <a:defRPr/>
            </a:pPr>
            <a:r>
              <a:rPr lang="en-US" dirty="0"/>
              <a:t>© 2017 Pearson Education, Inc., Hoboken, NJ. All rights reserved. </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600" dirty="0">
                <a:solidFill>
                  <a:schemeClr val="accent1">
                    <a:lumMod val="75000"/>
                  </a:schemeClr>
                </a:solidFill>
              </a:rPr>
              <a:t>Summary</a:t>
            </a:r>
          </a:p>
        </p:txBody>
      </p:sp>
      <p:sp>
        <p:nvSpPr>
          <p:cNvPr id="9" name="Content Placeholder 8"/>
          <p:cNvSpPr>
            <a:spLocks noGrp="1"/>
          </p:cNvSpPr>
          <p:nvPr>
            <p:ph sz="half" idx="14"/>
          </p:nvPr>
        </p:nvSpPr>
        <p:spPr>
          <a:xfrm>
            <a:off x="2182906" y="2286000"/>
            <a:ext cx="3760694" cy="4114800"/>
          </a:xfrm>
        </p:spPr>
        <p:txBody>
          <a:bodyPr>
            <a:normAutofit fontScale="40000" lnSpcReduction="20000"/>
          </a:bodyPr>
          <a:lstStyle/>
          <a:p>
            <a:r>
              <a:rPr lang="en-US" sz="3892" dirty="0"/>
              <a:t>Hardware and control structures</a:t>
            </a:r>
          </a:p>
          <a:p>
            <a:pPr lvl="2"/>
            <a:r>
              <a:rPr lang="en-US" sz="3892" dirty="0"/>
              <a:t>Locality and virtual memory</a:t>
            </a:r>
          </a:p>
          <a:p>
            <a:pPr lvl="2"/>
            <a:r>
              <a:rPr lang="en-US" sz="3892" dirty="0"/>
              <a:t>Paging </a:t>
            </a:r>
          </a:p>
          <a:p>
            <a:pPr lvl="2"/>
            <a:r>
              <a:rPr lang="en-US" sz="3892" dirty="0"/>
              <a:t>Segmentation</a:t>
            </a:r>
          </a:p>
          <a:p>
            <a:pPr lvl="2"/>
            <a:r>
              <a:rPr lang="en-US" sz="3892" dirty="0"/>
              <a:t>Combined paging and segmentation</a:t>
            </a:r>
          </a:p>
          <a:p>
            <a:pPr lvl="2"/>
            <a:r>
              <a:rPr lang="en-US" sz="3892" dirty="0"/>
              <a:t>Protection and sharing</a:t>
            </a:r>
          </a:p>
          <a:p>
            <a:r>
              <a:rPr lang="en-US" sz="3892" dirty="0"/>
              <a:t>OS software</a:t>
            </a:r>
          </a:p>
          <a:p>
            <a:pPr lvl="2"/>
            <a:r>
              <a:rPr lang="en-US" sz="3892" dirty="0"/>
              <a:t>Fetch policy</a:t>
            </a:r>
          </a:p>
          <a:p>
            <a:pPr lvl="2"/>
            <a:r>
              <a:rPr lang="en-US" sz="3892" dirty="0"/>
              <a:t>Placement policy</a:t>
            </a:r>
          </a:p>
          <a:p>
            <a:pPr lvl="2"/>
            <a:r>
              <a:rPr lang="en-US" sz="3892" dirty="0"/>
              <a:t>Replacement policy</a:t>
            </a:r>
          </a:p>
          <a:p>
            <a:pPr lvl="2"/>
            <a:r>
              <a:rPr lang="en-US" sz="3892" dirty="0"/>
              <a:t>Resident set management</a:t>
            </a:r>
          </a:p>
          <a:p>
            <a:pPr lvl="2"/>
            <a:r>
              <a:rPr lang="en-US" sz="3892" dirty="0"/>
              <a:t>Cleaning policy</a:t>
            </a:r>
          </a:p>
          <a:p>
            <a:pPr lvl="2"/>
            <a:r>
              <a:rPr lang="en-US" sz="3892" dirty="0"/>
              <a:t>Load control</a:t>
            </a:r>
          </a:p>
        </p:txBody>
      </p:sp>
      <p:sp>
        <p:nvSpPr>
          <p:cNvPr id="8" name="Footer Placeholder 7"/>
          <p:cNvSpPr>
            <a:spLocks noGrp="1"/>
          </p:cNvSpPr>
          <p:nvPr>
            <p:ph type="ftr" sz="quarter" idx="11"/>
          </p:nvPr>
        </p:nvSpPr>
        <p:spPr>
          <a:xfrm>
            <a:off x="1842247" y="6492876"/>
            <a:ext cx="5549153" cy="365125"/>
          </a:xfrm>
        </p:spPr>
        <p:txBody>
          <a:bodyPr/>
          <a:lstStyle/>
          <a:p>
            <a:pPr>
              <a:defRPr/>
            </a:pPr>
            <a:r>
              <a:rPr lang="en-US" dirty="0"/>
              <a:t>© 2017 Pearson Education, Inc., Hoboken, NJ. All rights reserved. </a:t>
            </a:r>
          </a:p>
        </p:txBody>
      </p:sp>
    </p:spTree>
  </p:cSld>
  <p:clrMapOvr>
    <a:masterClrMapping/>
  </p:clrMapOv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9706</Words>
  <Application>Microsoft Office PowerPoint</Application>
  <PresentationFormat>Widescreen</PresentationFormat>
  <Paragraphs>1033</Paragraphs>
  <Slides>40</Slides>
  <Notes>39</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40</vt:i4>
      </vt:variant>
    </vt:vector>
  </HeadingPairs>
  <TitlesOfParts>
    <vt:vector size="48" baseType="lpstr">
      <vt:lpstr>Arial</vt:lpstr>
      <vt:lpstr>Calibri</vt:lpstr>
      <vt:lpstr>Calisto MT</vt:lpstr>
      <vt:lpstr>Times New Roman</vt:lpstr>
      <vt:lpstr>Wingdings</vt:lpstr>
      <vt:lpstr>Custom Design</vt:lpstr>
      <vt:lpstr>Codex</vt:lpstr>
      <vt:lpstr>1_Codex</vt:lpstr>
      <vt:lpstr>Chapter 8 Virtual Memory</vt:lpstr>
      <vt:lpstr>Lecture Outline</vt:lpstr>
      <vt:lpstr>PowerPoint Presentation</vt:lpstr>
      <vt:lpstr>Hardware and Control Structures</vt:lpstr>
      <vt:lpstr>Execution of a Process</vt:lpstr>
      <vt:lpstr>Execution of a Process</vt:lpstr>
      <vt:lpstr>Implications</vt:lpstr>
      <vt:lpstr>Real and Virtual Memory</vt:lpstr>
      <vt:lpstr>PowerPoint Presentation</vt:lpstr>
      <vt:lpstr>PowerPoint Presentation</vt:lpstr>
      <vt:lpstr>Principle of Locality</vt:lpstr>
      <vt:lpstr>Support Needed for Virtual Memory</vt:lpstr>
      <vt:lpstr>Paging</vt:lpstr>
      <vt:lpstr>Inverted Page Table</vt:lpstr>
      <vt:lpstr>Inverted Page Table</vt:lpstr>
      <vt:lpstr>Segmentation</vt:lpstr>
      <vt:lpstr>Segment Organization</vt:lpstr>
      <vt:lpstr>Combined Paging and Segmentation</vt:lpstr>
      <vt:lpstr>Operating System Software</vt:lpstr>
      <vt:lpstr>Fetch Policy</vt:lpstr>
      <vt:lpstr>Demand Paging </vt:lpstr>
      <vt:lpstr>Prepaging</vt:lpstr>
      <vt:lpstr>Placement Policy</vt:lpstr>
      <vt:lpstr>Replacement Policy</vt:lpstr>
      <vt:lpstr> Frame Locking</vt:lpstr>
      <vt:lpstr>Basic Algorithms</vt:lpstr>
      <vt:lpstr>PowerPoint Presentation</vt:lpstr>
      <vt:lpstr>Least Recently Used (LRU)</vt:lpstr>
      <vt:lpstr>First-in-First-out (FIFO)</vt:lpstr>
      <vt:lpstr>Clock Policy</vt:lpstr>
      <vt:lpstr>PowerPoint Presentation</vt:lpstr>
      <vt:lpstr>PowerPoint Presentation</vt:lpstr>
      <vt:lpstr>Page Buffering</vt:lpstr>
      <vt:lpstr>Resident Set Management</vt:lpstr>
      <vt:lpstr>Resident Set Size</vt:lpstr>
      <vt:lpstr>Cleaning Policy</vt:lpstr>
      <vt:lpstr>Load Control</vt:lpstr>
      <vt:lpstr>PowerPoint Presentation</vt:lpstr>
      <vt:lpstr>Process Suspension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Virtual Memory</dc:title>
  <dc:creator/>
  <cp:lastModifiedBy/>
  <cp:revision>2</cp:revision>
  <dcterms:created xsi:type="dcterms:W3CDTF">2017-04-19T21:19:21Z</dcterms:created>
  <dcterms:modified xsi:type="dcterms:W3CDTF">2024-01-24T18:26:07Z</dcterms:modified>
</cp:coreProperties>
</file>