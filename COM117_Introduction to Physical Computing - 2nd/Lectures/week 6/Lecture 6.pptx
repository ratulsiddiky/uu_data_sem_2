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741" r:id="rId2"/>
    <p:sldMasterId id="2147483756" r:id="rId3"/>
  </p:sldMasterIdLst>
  <p:notesMasterIdLst>
    <p:notesMasterId r:id="rId47"/>
  </p:notesMasterIdLst>
  <p:sldIdLst>
    <p:sldId id="256" r:id="rId4"/>
    <p:sldId id="257" r:id="rId5"/>
    <p:sldId id="309" r:id="rId6"/>
    <p:sldId id="362" r:id="rId7"/>
    <p:sldId id="259" r:id="rId8"/>
    <p:sldId id="363" r:id="rId9"/>
    <p:sldId id="260" r:id="rId10"/>
    <p:sldId id="313" r:id="rId11"/>
    <p:sldId id="263" r:id="rId12"/>
    <p:sldId id="264" r:id="rId13"/>
    <p:sldId id="266" r:id="rId14"/>
    <p:sldId id="354" r:id="rId15"/>
    <p:sldId id="267" r:id="rId16"/>
    <p:sldId id="271" r:id="rId17"/>
    <p:sldId id="364" r:id="rId18"/>
    <p:sldId id="269" r:id="rId19"/>
    <p:sldId id="315" r:id="rId20"/>
    <p:sldId id="317" r:id="rId21"/>
    <p:sldId id="274" r:id="rId22"/>
    <p:sldId id="275" r:id="rId23"/>
    <p:sldId id="276" r:id="rId24"/>
    <p:sldId id="277" r:id="rId25"/>
    <p:sldId id="278" r:id="rId26"/>
    <p:sldId id="320" r:id="rId27"/>
    <p:sldId id="280" r:id="rId28"/>
    <p:sldId id="281" r:id="rId29"/>
    <p:sldId id="282" r:id="rId30"/>
    <p:sldId id="283" r:id="rId31"/>
    <p:sldId id="284" r:id="rId32"/>
    <p:sldId id="286" r:id="rId33"/>
    <p:sldId id="323" r:id="rId34"/>
    <p:sldId id="366" r:id="rId35"/>
    <p:sldId id="325" r:id="rId36"/>
    <p:sldId id="328" r:id="rId37"/>
    <p:sldId id="287" r:id="rId38"/>
    <p:sldId id="288" r:id="rId39"/>
    <p:sldId id="290" r:id="rId40"/>
    <p:sldId id="365" r:id="rId41"/>
    <p:sldId id="291" r:id="rId42"/>
    <p:sldId id="292" r:id="rId43"/>
    <p:sldId id="293" r:id="rId44"/>
    <p:sldId id="339" r:id="rId45"/>
    <p:sldId id="358" r:id="rId46"/>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FF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89" autoAdjust="0"/>
    <p:restoredTop sz="72222" autoAdjust="0"/>
  </p:normalViewPr>
  <p:slideViewPr>
    <p:cSldViewPr>
      <p:cViewPr varScale="1">
        <p:scale>
          <a:sx n="45" d="100"/>
          <a:sy n="45" d="100"/>
        </p:scale>
        <p:origin x="1548" y="56"/>
      </p:cViewPr>
      <p:guideLst>
        <p:guide orient="horz" pos="2160"/>
        <p:guide pos="3840"/>
      </p:guideLst>
    </p:cSldViewPr>
  </p:slideViewPr>
  <p:outlineViewPr>
    <p:cViewPr>
      <p:scale>
        <a:sx n="33" d="100"/>
        <a:sy n="33" d="100"/>
      </p:scale>
      <p:origin x="0" y="-4780"/>
    </p:cViewPr>
  </p:outlineViewPr>
  <p:notesTextViewPr>
    <p:cViewPr>
      <p:scale>
        <a:sx n="100" d="100"/>
        <a:sy n="100" d="100"/>
      </p:scale>
      <p:origin x="0" y="0"/>
    </p:cViewPr>
  </p:notesTextViewPr>
  <p:sorterViewPr>
    <p:cViewPr varScale="1">
      <p:scale>
        <a:sx n="1" d="1"/>
        <a:sy n="1" d="1"/>
      </p:scale>
      <p:origin x="0" y="-569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069595-C8F8-C542-AA06-04537D63260B}"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26383733-9C83-2F4E-AA73-9102FEACE73A}">
      <dgm:prSet phldrT="[Text]" custT="1"/>
      <dgm:spPr>
        <a:solidFill>
          <a:schemeClr val="accent1">
            <a:lumMod val="75000"/>
          </a:schemeClr>
        </a:solidFill>
      </dgm:spPr>
      <dgm:t>
        <a:bodyPr/>
        <a:lstStyle/>
        <a:p>
          <a:r>
            <a:rPr lang="en-NZ" sz="2000" b="1" dirty="0"/>
            <a:t>Reusable</a:t>
          </a:r>
          <a:endParaRPr lang="en-US" sz="2000" b="1" dirty="0"/>
        </a:p>
      </dgm:t>
    </dgm:pt>
    <dgm:pt modelId="{B8E0DD79-8102-5B47-8E3C-C29A96295326}" type="parTrans" cxnId="{1F8CBAE7-5E4D-B746-A15B-28BCC9F64965}">
      <dgm:prSet/>
      <dgm:spPr/>
      <dgm:t>
        <a:bodyPr/>
        <a:lstStyle/>
        <a:p>
          <a:endParaRPr lang="en-US"/>
        </a:p>
      </dgm:t>
    </dgm:pt>
    <dgm:pt modelId="{606FA574-F26B-524F-8E65-05056BD13BBA}" type="sibTrans" cxnId="{1F8CBAE7-5E4D-B746-A15B-28BCC9F64965}">
      <dgm:prSet/>
      <dgm:spPr>
        <a:solidFill>
          <a:schemeClr val="bg1"/>
        </a:solidFill>
        <a:ln>
          <a:solidFill>
            <a:schemeClr val="accent1">
              <a:lumMod val="60000"/>
              <a:lumOff val="40000"/>
            </a:schemeClr>
          </a:solidFill>
        </a:ln>
      </dgm:spPr>
      <dgm:t>
        <a:bodyPr/>
        <a:lstStyle/>
        <a:p>
          <a:endParaRPr lang="en-US"/>
        </a:p>
      </dgm:t>
    </dgm:pt>
    <dgm:pt modelId="{F794A6D0-159F-1648-B732-77E25AB56B54}">
      <dgm:prSet custT="1"/>
      <dgm:spPr>
        <a:solidFill>
          <a:schemeClr val="accent1">
            <a:lumMod val="75000"/>
          </a:schemeClr>
        </a:solidFill>
      </dgm:spPr>
      <dgm:t>
        <a:bodyPr/>
        <a:lstStyle/>
        <a:p>
          <a:r>
            <a:rPr lang="en-NZ" sz="1600" dirty="0"/>
            <a:t>can be safely used by only one process at a time and is not depleted by that use</a:t>
          </a:r>
        </a:p>
      </dgm:t>
    </dgm:pt>
    <dgm:pt modelId="{632F1CE8-9F3F-FB47-A51E-39E4B4D3E3A2}" type="parTrans" cxnId="{0D811623-65F9-C049-9216-9DC1EE4A95DB}">
      <dgm:prSet/>
      <dgm:spPr/>
      <dgm:t>
        <a:bodyPr/>
        <a:lstStyle/>
        <a:p>
          <a:endParaRPr lang="en-US"/>
        </a:p>
      </dgm:t>
    </dgm:pt>
    <dgm:pt modelId="{F12C7981-B93A-D34C-8B5B-6776E7049310}" type="sibTrans" cxnId="{0D811623-65F9-C049-9216-9DC1EE4A95DB}">
      <dgm:prSet/>
      <dgm:spPr/>
      <dgm:t>
        <a:bodyPr/>
        <a:lstStyle/>
        <a:p>
          <a:endParaRPr lang="en-US"/>
        </a:p>
      </dgm:t>
    </dgm:pt>
    <dgm:pt modelId="{9A7E617A-4BED-144C-BA37-F797C39B70C8}">
      <dgm:prSet custT="1"/>
      <dgm:spPr>
        <a:solidFill>
          <a:schemeClr val="accent1">
            <a:lumMod val="75000"/>
          </a:schemeClr>
        </a:solidFill>
      </dgm:spPr>
      <dgm:t>
        <a:bodyPr/>
        <a:lstStyle/>
        <a:p>
          <a:r>
            <a:rPr lang="en-US" sz="1600" dirty="0"/>
            <a:t>processors, I/O channels, main and secondary memory, devices, and data structures such as files, databases, and semaphores</a:t>
          </a:r>
        </a:p>
      </dgm:t>
    </dgm:pt>
    <dgm:pt modelId="{6D12ECF2-14C3-6F42-8F5E-3F542083975C}" type="parTrans" cxnId="{F363C5CC-A31A-9748-8E8E-7542E9A8084E}">
      <dgm:prSet/>
      <dgm:spPr/>
      <dgm:t>
        <a:bodyPr/>
        <a:lstStyle/>
        <a:p>
          <a:endParaRPr lang="en-US"/>
        </a:p>
      </dgm:t>
    </dgm:pt>
    <dgm:pt modelId="{F87F6F7F-14F0-EA4D-A74B-2CC1D24459A3}" type="sibTrans" cxnId="{F363C5CC-A31A-9748-8E8E-7542E9A8084E}">
      <dgm:prSet/>
      <dgm:spPr/>
      <dgm:t>
        <a:bodyPr/>
        <a:lstStyle/>
        <a:p>
          <a:endParaRPr lang="en-US"/>
        </a:p>
      </dgm:t>
    </dgm:pt>
    <dgm:pt modelId="{191AB62D-7613-ED44-BF21-05A480174B7A}">
      <dgm:prSet custT="1"/>
      <dgm:spPr>
        <a:solidFill>
          <a:schemeClr val="accent1">
            <a:lumMod val="75000"/>
          </a:schemeClr>
        </a:solidFill>
      </dgm:spPr>
      <dgm:t>
        <a:bodyPr/>
        <a:lstStyle/>
        <a:p>
          <a:r>
            <a:rPr lang="en-NZ" sz="2000" b="1" dirty="0"/>
            <a:t>Consumable</a:t>
          </a:r>
        </a:p>
      </dgm:t>
    </dgm:pt>
    <dgm:pt modelId="{2C2ADAE6-8AD9-3743-9FB8-ED574BAF6CAD}" type="parTrans" cxnId="{18773EE1-44B8-574F-B98C-3015C0727EFC}">
      <dgm:prSet/>
      <dgm:spPr/>
      <dgm:t>
        <a:bodyPr/>
        <a:lstStyle/>
        <a:p>
          <a:endParaRPr lang="en-US"/>
        </a:p>
      </dgm:t>
    </dgm:pt>
    <dgm:pt modelId="{7C98AAE8-A720-8640-80AC-8219FBEE20FB}" type="sibTrans" cxnId="{18773EE1-44B8-574F-B98C-3015C0727EFC}">
      <dgm:prSet/>
      <dgm:spPr/>
      <dgm:t>
        <a:bodyPr/>
        <a:lstStyle/>
        <a:p>
          <a:endParaRPr lang="en-US"/>
        </a:p>
      </dgm:t>
    </dgm:pt>
    <dgm:pt modelId="{EA30BBB8-30F3-504E-8E0A-4089A7235F4B}">
      <dgm:prSet custT="1"/>
      <dgm:spPr>
        <a:solidFill>
          <a:schemeClr val="accent1">
            <a:lumMod val="75000"/>
          </a:schemeClr>
        </a:solidFill>
      </dgm:spPr>
      <dgm:t>
        <a:bodyPr/>
        <a:lstStyle/>
        <a:p>
          <a:r>
            <a:rPr lang="en-NZ" sz="1600" dirty="0"/>
            <a:t>one that can be created (produced) and destroyed (consumed)</a:t>
          </a:r>
        </a:p>
      </dgm:t>
    </dgm:pt>
    <dgm:pt modelId="{5E434350-189C-B54F-A946-E8F5E0AD6E11}" type="parTrans" cxnId="{9A42656D-52CD-2F4F-9627-AC09C70BC8E1}">
      <dgm:prSet/>
      <dgm:spPr/>
      <dgm:t>
        <a:bodyPr/>
        <a:lstStyle/>
        <a:p>
          <a:endParaRPr lang="en-US"/>
        </a:p>
      </dgm:t>
    </dgm:pt>
    <dgm:pt modelId="{C1FF72E8-3B30-964C-91A9-95CD5181E4FA}" type="sibTrans" cxnId="{9A42656D-52CD-2F4F-9627-AC09C70BC8E1}">
      <dgm:prSet/>
      <dgm:spPr/>
      <dgm:t>
        <a:bodyPr/>
        <a:lstStyle/>
        <a:p>
          <a:endParaRPr lang="en-US"/>
        </a:p>
      </dgm:t>
    </dgm:pt>
    <dgm:pt modelId="{80314524-DF9D-D142-BDDF-43D86B545F73}">
      <dgm:prSet custT="1"/>
      <dgm:spPr>
        <a:solidFill>
          <a:schemeClr val="accent1">
            <a:lumMod val="75000"/>
          </a:schemeClr>
        </a:solidFill>
      </dgm:spPr>
      <dgm:t>
        <a:bodyPr/>
        <a:lstStyle/>
        <a:p>
          <a:r>
            <a:rPr lang="en-US" sz="1600" dirty="0"/>
            <a:t>interrupts, signals, messages, and information in I/O buffers</a:t>
          </a:r>
        </a:p>
      </dgm:t>
    </dgm:pt>
    <dgm:pt modelId="{5127AD05-47D3-F542-824B-EAD759E83F28}" type="parTrans" cxnId="{C111ED75-0A8E-2644-A617-C5075307D75F}">
      <dgm:prSet/>
      <dgm:spPr/>
      <dgm:t>
        <a:bodyPr/>
        <a:lstStyle/>
        <a:p>
          <a:endParaRPr lang="en-US"/>
        </a:p>
      </dgm:t>
    </dgm:pt>
    <dgm:pt modelId="{0A349A34-73D3-4A4D-8FC2-0EAF13B7C801}" type="sibTrans" cxnId="{C111ED75-0A8E-2644-A617-C5075307D75F}">
      <dgm:prSet/>
      <dgm:spPr/>
      <dgm:t>
        <a:bodyPr/>
        <a:lstStyle/>
        <a:p>
          <a:endParaRPr lang="en-US"/>
        </a:p>
      </dgm:t>
    </dgm:pt>
    <dgm:pt modelId="{4EC26E6F-C52F-CE42-A8F6-CF14E3CA6C52}" type="pres">
      <dgm:prSet presAssocID="{4B069595-C8F8-C542-AA06-04537D63260B}" presName="outerComposite" presStyleCnt="0">
        <dgm:presLayoutVars>
          <dgm:chMax val="5"/>
          <dgm:dir/>
          <dgm:resizeHandles val="exact"/>
        </dgm:presLayoutVars>
      </dgm:prSet>
      <dgm:spPr/>
    </dgm:pt>
    <dgm:pt modelId="{D4B683C6-9581-CC48-B17B-FE198341F943}" type="pres">
      <dgm:prSet presAssocID="{4B069595-C8F8-C542-AA06-04537D63260B}" presName="dummyMaxCanvas" presStyleCnt="0">
        <dgm:presLayoutVars/>
      </dgm:prSet>
      <dgm:spPr/>
    </dgm:pt>
    <dgm:pt modelId="{C7F5FE58-0E4F-1448-8B6D-1E52F620776C}" type="pres">
      <dgm:prSet presAssocID="{4B069595-C8F8-C542-AA06-04537D63260B}" presName="TwoNodes_1" presStyleLbl="node1" presStyleIdx="0" presStyleCnt="2">
        <dgm:presLayoutVars>
          <dgm:bulletEnabled val="1"/>
        </dgm:presLayoutVars>
      </dgm:prSet>
      <dgm:spPr/>
    </dgm:pt>
    <dgm:pt modelId="{FBCB8F57-C548-1C43-A637-8BC0E0917159}" type="pres">
      <dgm:prSet presAssocID="{4B069595-C8F8-C542-AA06-04537D63260B}" presName="TwoNodes_2" presStyleLbl="node1" presStyleIdx="1" presStyleCnt="2">
        <dgm:presLayoutVars>
          <dgm:bulletEnabled val="1"/>
        </dgm:presLayoutVars>
      </dgm:prSet>
      <dgm:spPr/>
    </dgm:pt>
    <dgm:pt modelId="{22B4735D-FDE9-0F4D-8517-6404F300167D}" type="pres">
      <dgm:prSet presAssocID="{4B069595-C8F8-C542-AA06-04537D63260B}" presName="TwoConn_1-2" presStyleLbl="fgAccFollowNode1" presStyleIdx="0" presStyleCnt="1" custScaleX="98854" custScaleY="89767">
        <dgm:presLayoutVars>
          <dgm:bulletEnabled val="1"/>
        </dgm:presLayoutVars>
      </dgm:prSet>
      <dgm:spPr/>
    </dgm:pt>
    <dgm:pt modelId="{A26B9EBC-74D7-2A48-BA22-9588CC88354C}" type="pres">
      <dgm:prSet presAssocID="{4B069595-C8F8-C542-AA06-04537D63260B}" presName="TwoNodes_1_text" presStyleLbl="node1" presStyleIdx="1" presStyleCnt="2">
        <dgm:presLayoutVars>
          <dgm:bulletEnabled val="1"/>
        </dgm:presLayoutVars>
      </dgm:prSet>
      <dgm:spPr/>
    </dgm:pt>
    <dgm:pt modelId="{D6DE09C8-9119-B147-8885-52885619EE92}" type="pres">
      <dgm:prSet presAssocID="{4B069595-C8F8-C542-AA06-04537D63260B}" presName="TwoNodes_2_text" presStyleLbl="node1" presStyleIdx="1" presStyleCnt="2">
        <dgm:presLayoutVars>
          <dgm:bulletEnabled val="1"/>
        </dgm:presLayoutVars>
      </dgm:prSet>
      <dgm:spPr/>
    </dgm:pt>
  </dgm:ptLst>
  <dgm:cxnLst>
    <dgm:cxn modelId="{8A46FA12-3158-C240-B7DF-09C33CE8F711}" type="presOf" srcId="{26383733-9C83-2F4E-AA73-9102FEACE73A}" destId="{A26B9EBC-74D7-2A48-BA22-9588CC88354C}" srcOrd="1" destOrd="0" presId="urn:microsoft.com/office/officeart/2005/8/layout/vProcess5"/>
    <dgm:cxn modelId="{5966CD22-FDD0-DE4D-BCA4-DB3FA0E58675}" type="presOf" srcId="{9A7E617A-4BED-144C-BA37-F797C39B70C8}" destId="{C7F5FE58-0E4F-1448-8B6D-1E52F620776C}" srcOrd="0" destOrd="2" presId="urn:microsoft.com/office/officeart/2005/8/layout/vProcess5"/>
    <dgm:cxn modelId="{0D811623-65F9-C049-9216-9DC1EE4A95DB}" srcId="{26383733-9C83-2F4E-AA73-9102FEACE73A}" destId="{F794A6D0-159F-1648-B732-77E25AB56B54}" srcOrd="0" destOrd="0" parTransId="{632F1CE8-9F3F-FB47-A51E-39E4B4D3E3A2}" sibTransId="{F12C7981-B93A-D34C-8B5B-6776E7049310}"/>
    <dgm:cxn modelId="{65C4432C-5250-0640-8A86-B843CB2CE8B8}" type="presOf" srcId="{EA30BBB8-30F3-504E-8E0A-4089A7235F4B}" destId="{D6DE09C8-9119-B147-8885-52885619EE92}" srcOrd="1" destOrd="1" presId="urn:microsoft.com/office/officeart/2005/8/layout/vProcess5"/>
    <dgm:cxn modelId="{A328853F-1088-A74C-9CA2-86678E43A313}" type="presOf" srcId="{80314524-DF9D-D142-BDDF-43D86B545F73}" destId="{D6DE09C8-9119-B147-8885-52885619EE92}" srcOrd="1" destOrd="2" presId="urn:microsoft.com/office/officeart/2005/8/layout/vProcess5"/>
    <dgm:cxn modelId="{B28A8268-2359-A54A-A2AA-46FC73828A14}" type="presOf" srcId="{F794A6D0-159F-1648-B732-77E25AB56B54}" destId="{A26B9EBC-74D7-2A48-BA22-9588CC88354C}" srcOrd="1" destOrd="1" presId="urn:microsoft.com/office/officeart/2005/8/layout/vProcess5"/>
    <dgm:cxn modelId="{76FE5349-4226-CF43-A802-85086A94EB23}" type="presOf" srcId="{606FA574-F26B-524F-8E65-05056BD13BBA}" destId="{22B4735D-FDE9-0F4D-8517-6404F300167D}" srcOrd="0" destOrd="0" presId="urn:microsoft.com/office/officeart/2005/8/layout/vProcess5"/>
    <dgm:cxn modelId="{9A42656D-52CD-2F4F-9627-AC09C70BC8E1}" srcId="{191AB62D-7613-ED44-BF21-05A480174B7A}" destId="{EA30BBB8-30F3-504E-8E0A-4089A7235F4B}" srcOrd="0" destOrd="0" parTransId="{5E434350-189C-B54F-A946-E8F5E0AD6E11}" sibTransId="{C1FF72E8-3B30-964C-91A9-95CD5181E4FA}"/>
    <dgm:cxn modelId="{941DD24D-AD4D-BC4D-8CCA-987287C3EB02}" type="presOf" srcId="{191AB62D-7613-ED44-BF21-05A480174B7A}" destId="{FBCB8F57-C548-1C43-A637-8BC0E0917159}" srcOrd="0" destOrd="0" presId="urn:microsoft.com/office/officeart/2005/8/layout/vProcess5"/>
    <dgm:cxn modelId="{841D6870-4543-2B4B-9A88-866BCA5009AB}" type="presOf" srcId="{9A7E617A-4BED-144C-BA37-F797C39B70C8}" destId="{A26B9EBC-74D7-2A48-BA22-9588CC88354C}" srcOrd="1" destOrd="2" presId="urn:microsoft.com/office/officeart/2005/8/layout/vProcess5"/>
    <dgm:cxn modelId="{3E0F7050-D293-614C-89CB-DC9579EDDD3C}" type="presOf" srcId="{4B069595-C8F8-C542-AA06-04537D63260B}" destId="{4EC26E6F-C52F-CE42-A8F6-CF14E3CA6C52}" srcOrd="0" destOrd="0" presId="urn:microsoft.com/office/officeart/2005/8/layout/vProcess5"/>
    <dgm:cxn modelId="{1A6B5052-8D0A-F649-8AA2-3F7583CD2A05}" type="presOf" srcId="{F794A6D0-159F-1648-B732-77E25AB56B54}" destId="{C7F5FE58-0E4F-1448-8B6D-1E52F620776C}" srcOrd="0" destOrd="1" presId="urn:microsoft.com/office/officeart/2005/8/layout/vProcess5"/>
    <dgm:cxn modelId="{C111ED75-0A8E-2644-A617-C5075307D75F}" srcId="{EA30BBB8-30F3-504E-8E0A-4089A7235F4B}" destId="{80314524-DF9D-D142-BDDF-43D86B545F73}" srcOrd="0" destOrd="0" parTransId="{5127AD05-47D3-F542-824B-EAD759E83F28}" sibTransId="{0A349A34-73D3-4A4D-8FC2-0EAF13B7C801}"/>
    <dgm:cxn modelId="{B537B878-6085-D246-BFFF-2D4A7493EEA9}" type="presOf" srcId="{80314524-DF9D-D142-BDDF-43D86B545F73}" destId="{FBCB8F57-C548-1C43-A637-8BC0E0917159}" srcOrd="0" destOrd="2" presId="urn:microsoft.com/office/officeart/2005/8/layout/vProcess5"/>
    <dgm:cxn modelId="{F363C5CC-A31A-9748-8E8E-7542E9A8084E}" srcId="{F794A6D0-159F-1648-B732-77E25AB56B54}" destId="{9A7E617A-4BED-144C-BA37-F797C39B70C8}" srcOrd="0" destOrd="0" parTransId="{6D12ECF2-14C3-6F42-8F5E-3F542083975C}" sibTransId="{F87F6F7F-14F0-EA4D-A74B-2CC1D24459A3}"/>
    <dgm:cxn modelId="{18773EE1-44B8-574F-B98C-3015C0727EFC}" srcId="{4B069595-C8F8-C542-AA06-04537D63260B}" destId="{191AB62D-7613-ED44-BF21-05A480174B7A}" srcOrd="1" destOrd="0" parTransId="{2C2ADAE6-8AD9-3743-9FB8-ED574BAF6CAD}" sibTransId="{7C98AAE8-A720-8640-80AC-8219FBEE20FB}"/>
    <dgm:cxn modelId="{4C44D5E3-E32F-4C4B-B378-55E5A871BAA1}" type="presOf" srcId="{191AB62D-7613-ED44-BF21-05A480174B7A}" destId="{D6DE09C8-9119-B147-8885-52885619EE92}" srcOrd="1" destOrd="0" presId="urn:microsoft.com/office/officeart/2005/8/layout/vProcess5"/>
    <dgm:cxn modelId="{1F8CBAE7-5E4D-B746-A15B-28BCC9F64965}" srcId="{4B069595-C8F8-C542-AA06-04537D63260B}" destId="{26383733-9C83-2F4E-AA73-9102FEACE73A}" srcOrd="0" destOrd="0" parTransId="{B8E0DD79-8102-5B47-8E3C-C29A96295326}" sibTransId="{606FA574-F26B-524F-8E65-05056BD13BBA}"/>
    <dgm:cxn modelId="{C4A3DBED-6FC4-A541-B931-EB60E015B3A9}" type="presOf" srcId="{26383733-9C83-2F4E-AA73-9102FEACE73A}" destId="{C7F5FE58-0E4F-1448-8B6D-1E52F620776C}" srcOrd="0" destOrd="0" presId="urn:microsoft.com/office/officeart/2005/8/layout/vProcess5"/>
    <dgm:cxn modelId="{01DA2DF5-8E7F-6C4A-A685-F33147BBB45C}" type="presOf" srcId="{EA30BBB8-30F3-504E-8E0A-4089A7235F4B}" destId="{FBCB8F57-C548-1C43-A637-8BC0E0917159}" srcOrd="0" destOrd="1" presId="urn:microsoft.com/office/officeart/2005/8/layout/vProcess5"/>
    <dgm:cxn modelId="{015911ED-3B2E-1548-9D80-616A76126C6A}" type="presParOf" srcId="{4EC26E6F-C52F-CE42-A8F6-CF14E3CA6C52}" destId="{D4B683C6-9581-CC48-B17B-FE198341F943}" srcOrd="0" destOrd="0" presId="urn:microsoft.com/office/officeart/2005/8/layout/vProcess5"/>
    <dgm:cxn modelId="{0B4F5643-E5DD-744B-974F-37A2A1E07EEF}" type="presParOf" srcId="{4EC26E6F-C52F-CE42-A8F6-CF14E3CA6C52}" destId="{C7F5FE58-0E4F-1448-8B6D-1E52F620776C}" srcOrd="1" destOrd="0" presId="urn:microsoft.com/office/officeart/2005/8/layout/vProcess5"/>
    <dgm:cxn modelId="{CB2B53E1-84D4-164F-9DE1-2086FD1BF4F3}" type="presParOf" srcId="{4EC26E6F-C52F-CE42-A8F6-CF14E3CA6C52}" destId="{FBCB8F57-C548-1C43-A637-8BC0E0917159}" srcOrd="2" destOrd="0" presId="urn:microsoft.com/office/officeart/2005/8/layout/vProcess5"/>
    <dgm:cxn modelId="{4578A8EA-D4A8-E54A-B9BE-FD1554465E57}" type="presParOf" srcId="{4EC26E6F-C52F-CE42-A8F6-CF14E3CA6C52}" destId="{22B4735D-FDE9-0F4D-8517-6404F300167D}" srcOrd="3" destOrd="0" presId="urn:microsoft.com/office/officeart/2005/8/layout/vProcess5"/>
    <dgm:cxn modelId="{BA1148A2-879A-C049-8480-CE4EBD34D288}" type="presParOf" srcId="{4EC26E6F-C52F-CE42-A8F6-CF14E3CA6C52}" destId="{A26B9EBC-74D7-2A48-BA22-9588CC88354C}" srcOrd="4" destOrd="0" presId="urn:microsoft.com/office/officeart/2005/8/layout/vProcess5"/>
    <dgm:cxn modelId="{E9CF799A-CD52-AD44-AB14-F70A18A3B58E}" type="presParOf" srcId="{4EC26E6F-C52F-CE42-A8F6-CF14E3CA6C52}" destId="{D6DE09C8-9119-B147-8885-52885619EE92}"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F28E27-31E0-B34F-BC9F-4CDE7B8EDC8B}"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FAADB5D8-2D9B-7A46-8864-3E76632DF242}">
      <dgm:prSet phldrT="[Text]"/>
      <dgm:spPr/>
      <dgm:t>
        <a:bodyPr/>
        <a:lstStyle/>
        <a:p>
          <a:r>
            <a:rPr lang="en-US" dirty="0"/>
            <a:t>Mutual Exclusion</a:t>
          </a:r>
        </a:p>
      </dgm:t>
    </dgm:pt>
    <dgm:pt modelId="{13107E0E-EAEB-E249-A700-4C5354826476}" type="parTrans" cxnId="{7E36EEB6-8273-DB4E-ABCE-384C7CC38C43}">
      <dgm:prSet/>
      <dgm:spPr/>
      <dgm:t>
        <a:bodyPr/>
        <a:lstStyle/>
        <a:p>
          <a:endParaRPr lang="en-US"/>
        </a:p>
      </dgm:t>
    </dgm:pt>
    <dgm:pt modelId="{1E2D3B4A-6DB0-1A45-A8F9-7D186F04B72A}" type="sibTrans" cxnId="{7E36EEB6-8273-DB4E-ABCE-384C7CC38C43}">
      <dgm:prSet/>
      <dgm:spPr/>
      <dgm:t>
        <a:bodyPr/>
        <a:lstStyle/>
        <a:p>
          <a:endParaRPr lang="en-US"/>
        </a:p>
      </dgm:t>
    </dgm:pt>
    <dgm:pt modelId="{C30027CC-F546-2244-ADC4-F1E1D604EBBF}">
      <dgm:prSet/>
      <dgm:spPr>
        <a:solidFill>
          <a:schemeClr val="bg1"/>
        </a:solidFill>
        <a:ln>
          <a:solidFill>
            <a:schemeClr val="accent1"/>
          </a:solidFill>
        </a:ln>
      </dgm:spPr>
      <dgm:t>
        <a:bodyPr/>
        <a:lstStyle/>
        <a:p>
          <a:r>
            <a:rPr lang="en-US" dirty="0"/>
            <a:t>only one process may use a resource at a time</a:t>
          </a:r>
        </a:p>
      </dgm:t>
    </dgm:pt>
    <dgm:pt modelId="{66FA7D5D-B901-D048-B7EA-F239C1B39F7D}" type="parTrans" cxnId="{4CE91DD5-DBA7-3848-B2E2-A63BBB97D862}">
      <dgm:prSet/>
      <dgm:spPr/>
      <dgm:t>
        <a:bodyPr/>
        <a:lstStyle/>
        <a:p>
          <a:endParaRPr lang="en-US"/>
        </a:p>
      </dgm:t>
    </dgm:pt>
    <dgm:pt modelId="{D75C275F-F007-3946-9381-CBA55B14D844}" type="sibTrans" cxnId="{4CE91DD5-DBA7-3848-B2E2-A63BBB97D862}">
      <dgm:prSet/>
      <dgm:spPr/>
      <dgm:t>
        <a:bodyPr/>
        <a:lstStyle/>
        <a:p>
          <a:endParaRPr lang="en-US"/>
        </a:p>
      </dgm:t>
    </dgm:pt>
    <dgm:pt modelId="{89770E3B-DCA7-3848-9303-28CD4251107C}">
      <dgm:prSet/>
      <dgm:spPr/>
      <dgm:t>
        <a:bodyPr/>
        <a:lstStyle/>
        <a:p>
          <a:r>
            <a:rPr lang="en-US" dirty="0"/>
            <a:t>Hold-and-Wait</a:t>
          </a:r>
        </a:p>
      </dgm:t>
    </dgm:pt>
    <dgm:pt modelId="{95FE122D-516D-1640-8DB2-434AA9FACA8E}" type="parTrans" cxnId="{123391C1-8758-AA4A-B13D-7307D65CD3BD}">
      <dgm:prSet/>
      <dgm:spPr/>
      <dgm:t>
        <a:bodyPr/>
        <a:lstStyle/>
        <a:p>
          <a:endParaRPr lang="en-US"/>
        </a:p>
      </dgm:t>
    </dgm:pt>
    <dgm:pt modelId="{A5BA5E1B-CDE3-A64B-8989-CA5B097F5E14}" type="sibTrans" cxnId="{123391C1-8758-AA4A-B13D-7307D65CD3BD}">
      <dgm:prSet/>
      <dgm:spPr/>
      <dgm:t>
        <a:bodyPr/>
        <a:lstStyle/>
        <a:p>
          <a:endParaRPr lang="en-US"/>
        </a:p>
      </dgm:t>
    </dgm:pt>
    <dgm:pt modelId="{33F6D4F0-07C2-9144-899C-AF212DC0E361}">
      <dgm:prSet/>
      <dgm:spPr>
        <a:solidFill>
          <a:schemeClr val="bg1"/>
        </a:solidFill>
        <a:ln>
          <a:solidFill>
            <a:schemeClr val="accent1"/>
          </a:solidFill>
        </a:ln>
      </dgm:spPr>
      <dgm:t>
        <a:bodyPr/>
        <a:lstStyle/>
        <a:p>
          <a:r>
            <a:rPr lang="en-US" dirty="0"/>
            <a:t>a process may hold allocated resources while awaiting assignment of others</a:t>
          </a:r>
        </a:p>
      </dgm:t>
    </dgm:pt>
    <dgm:pt modelId="{A6F1A6C4-1D48-A242-B4D6-B8AB0D00400E}" type="parTrans" cxnId="{125BFD47-6D4C-EE45-A734-44602B3AC7B4}">
      <dgm:prSet/>
      <dgm:spPr/>
      <dgm:t>
        <a:bodyPr/>
        <a:lstStyle/>
        <a:p>
          <a:endParaRPr lang="en-US"/>
        </a:p>
      </dgm:t>
    </dgm:pt>
    <dgm:pt modelId="{79ADCD33-D91A-074A-B772-C0A69F1A8551}" type="sibTrans" cxnId="{125BFD47-6D4C-EE45-A734-44602B3AC7B4}">
      <dgm:prSet/>
      <dgm:spPr/>
      <dgm:t>
        <a:bodyPr/>
        <a:lstStyle/>
        <a:p>
          <a:endParaRPr lang="en-US"/>
        </a:p>
      </dgm:t>
    </dgm:pt>
    <dgm:pt modelId="{6A10E3E3-FA6D-1E4B-BB49-89AF70B7997E}">
      <dgm:prSet/>
      <dgm:spPr/>
      <dgm:t>
        <a:bodyPr/>
        <a:lstStyle/>
        <a:p>
          <a:r>
            <a:rPr lang="en-NZ" dirty="0"/>
            <a:t>No Pre-emption</a:t>
          </a:r>
        </a:p>
      </dgm:t>
    </dgm:pt>
    <dgm:pt modelId="{D92BC7C8-121B-5E4E-B4EA-8EA596186D1A}" type="parTrans" cxnId="{9557A739-C567-4B47-835E-E95D0E455BE2}">
      <dgm:prSet/>
      <dgm:spPr/>
      <dgm:t>
        <a:bodyPr/>
        <a:lstStyle/>
        <a:p>
          <a:endParaRPr lang="en-US"/>
        </a:p>
      </dgm:t>
    </dgm:pt>
    <dgm:pt modelId="{0D7DD324-772D-6D48-8659-E26C3B195677}" type="sibTrans" cxnId="{9557A739-C567-4B47-835E-E95D0E455BE2}">
      <dgm:prSet/>
      <dgm:spPr/>
      <dgm:t>
        <a:bodyPr/>
        <a:lstStyle/>
        <a:p>
          <a:endParaRPr lang="en-US"/>
        </a:p>
      </dgm:t>
    </dgm:pt>
    <dgm:pt modelId="{E95D73AA-1155-2340-AF50-F162A8F43417}">
      <dgm:prSet/>
      <dgm:spPr>
        <a:solidFill>
          <a:schemeClr val="bg1"/>
        </a:solidFill>
        <a:ln>
          <a:solidFill>
            <a:schemeClr val="accent1"/>
          </a:solidFill>
        </a:ln>
      </dgm:spPr>
      <dgm:t>
        <a:bodyPr/>
        <a:lstStyle/>
        <a:p>
          <a:r>
            <a:rPr lang="en-NZ" dirty="0"/>
            <a:t>no resource can be forcibly removed from a process holding it</a:t>
          </a:r>
        </a:p>
      </dgm:t>
    </dgm:pt>
    <dgm:pt modelId="{881C6D5D-13D3-5540-A4EA-3435188C29DC}" type="parTrans" cxnId="{78A4C2CD-62DA-8B49-9DD4-4CE9E5A4EA8D}">
      <dgm:prSet/>
      <dgm:spPr/>
      <dgm:t>
        <a:bodyPr/>
        <a:lstStyle/>
        <a:p>
          <a:endParaRPr lang="en-US"/>
        </a:p>
      </dgm:t>
    </dgm:pt>
    <dgm:pt modelId="{63EDF2B7-6064-844B-AF4D-0F7ED29F70A6}" type="sibTrans" cxnId="{78A4C2CD-62DA-8B49-9DD4-4CE9E5A4EA8D}">
      <dgm:prSet/>
      <dgm:spPr/>
      <dgm:t>
        <a:bodyPr/>
        <a:lstStyle/>
        <a:p>
          <a:endParaRPr lang="en-US"/>
        </a:p>
      </dgm:t>
    </dgm:pt>
    <dgm:pt modelId="{6B6C2A78-FD5F-CE4B-9E66-DD0EF754F5D6}">
      <dgm:prSet/>
      <dgm:spPr/>
      <dgm:t>
        <a:bodyPr/>
        <a:lstStyle/>
        <a:p>
          <a:r>
            <a:rPr lang="en-NZ" dirty="0"/>
            <a:t>Circular Wait</a:t>
          </a:r>
        </a:p>
      </dgm:t>
    </dgm:pt>
    <dgm:pt modelId="{B36329CF-E242-DD43-BA9C-76956EB1A060}" type="parTrans" cxnId="{D8BB821A-3CFE-F849-ABEA-12A2AECC5259}">
      <dgm:prSet/>
      <dgm:spPr/>
      <dgm:t>
        <a:bodyPr/>
        <a:lstStyle/>
        <a:p>
          <a:endParaRPr lang="en-US"/>
        </a:p>
      </dgm:t>
    </dgm:pt>
    <dgm:pt modelId="{6909B805-475A-3A4E-B8F6-1AC694A2E2CA}" type="sibTrans" cxnId="{D8BB821A-3CFE-F849-ABEA-12A2AECC5259}">
      <dgm:prSet/>
      <dgm:spPr/>
      <dgm:t>
        <a:bodyPr/>
        <a:lstStyle/>
        <a:p>
          <a:endParaRPr lang="en-US"/>
        </a:p>
      </dgm:t>
    </dgm:pt>
    <dgm:pt modelId="{67B3BA71-261C-0447-8E65-09D9621C2928}">
      <dgm:prSet/>
      <dgm:spPr>
        <a:solidFill>
          <a:schemeClr val="bg1"/>
        </a:solidFill>
        <a:ln>
          <a:solidFill>
            <a:schemeClr val="accent1"/>
          </a:solidFill>
        </a:ln>
      </dgm:spPr>
      <dgm:t>
        <a:bodyPr/>
        <a:lstStyle/>
        <a:p>
          <a:r>
            <a:rPr lang="en-NZ" dirty="0"/>
            <a:t>a closed chain of processes exists, such that each process holds at least one resource needed by the next process in  the chain</a:t>
          </a:r>
        </a:p>
      </dgm:t>
    </dgm:pt>
    <dgm:pt modelId="{EB73C5F2-38C9-5C48-AC82-1F52FEC517EE}" type="parTrans" cxnId="{27FE7EC4-86B9-7147-9A11-95D7B8115E2C}">
      <dgm:prSet/>
      <dgm:spPr/>
      <dgm:t>
        <a:bodyPr/>
        <a:lstStyle/>
        <a:p>
          <a:endParaRPr lang="en-US"/>
        </a:p>
      </dgm:t>
    </dgm:pt>
    <dgm:pt modelId="{4439AB72-52A8-3A44-A050-74E1F8A8450E}" type="sibTrans" cxnId="{27FE7EC4-86B9-7147-9A11-95D7B8115E2C}">
      <dgm:prSet/>
      <dgm:spPr/>
      <dgm:t>
        <a:bodyPr/>
        <a:lstStyle/>
        <a:p>
          <a:endParaRPr lang="en-US"/>
        </a:p>
      </dgm:t>
    </dgm:pt>
    <dgm:pt modelId="{595A4C02-9C50-5D44-97C1-61C5F1D39956}" type="pres">
      <dgm:prSet presAssocID="{D5F28E27-31E0-B34F-BC9F-4CDE7B8EDC8B}" presName="Name0" presStyleCnt="0">
        <dgm:presLayoutVars>
          <dgm:dir/>
          <dgm:animLvl val="lvl"/>
          <dgm:resizeHandles val="exact"/>
        </dgm:presLayoutVars>
      </dgm:prSet>
      <dgm:spPr/>
    </dgm:pt>
    <dgm:pt modelId="{70B573EF-205F-1842-8CCC-1BBEA43FF364}" type="pres">
      <dgm:prSet presAssocID="{FAADB5D8-2D9B-7A46-8864-3E76632DF242}" presName="composite" presStyleCnt="0"/>
      <dgm:spPr/>
    </dgm:pt>
    <dgm:pt modelId="{910692A2-8C4F-0545-98A7-FD5743A081D9}" type="pres">
      <dgm:prSet presAssocID="{FAADB5D8-2D9B-7A46-8864-3E76632DF242}" presName="parTx" presStyleLbl="alignNode1" presStyleIdx="0" presStyleCnt="4">
        <dgm:presLayoutVars>
          <dgm:chMax val="0"/>
          <dgm:chPref val="0"/>
          <dgm:bulletEnabled val="1"/>
        </dgm:presLayoutVars>
      </dgm:prSet>
      <dgm:spPr/>
    </dgm:pt>
    <dgm:pt modelId="{613BAD88-1300-C64D-8478-28BDFCA247EE}" type="pres">
      <dgm:prSet presAssocID="{FAADB5D8-2D9B-7A46-8864-3E76632DF242}" presName="desTx" presStyleLbl="alignAccFollowNode1" presStyleIdx="0" presStyleCnt="4" custLinFactNeighborX="-78" custLinFactNeighborY="1405">
        <dgm:presLayoutVars>
          <dgm:bulletEnabled val="1"/>
        </dgm:presLayoutVars>
      </dgm:prSet>
      <dgm:spPr/>
    </dgm:pt>
    <dgm:pt modelId="{830B52BF-56C9-0947-9FFF-A0BAF664FCA6}" type="pres">
      <dgm:prSet presAssocID="{1E2D3B4A-6DB0-1A45-A8F9-7D186F04B72A}" presName="space" presStyleCnt="0"/>
      <dgm:spPr/>
    </dgm:pt>
    <dgm:pt modelId="{E46CE980-0576-7746-B52C-14F313BD605A}" type="pres">
      <dgm:prSet presAssocID="{89770E3B-DCA7-3848-9303-28CD4251107C}" presName="composite" presStyleCnt="0"/>
      <dgm:spPr/>
    </dgm:pt>
    <dgm:pt modelId="{F7B771C4-1781-334A-A9CC-6AB6388019C2}" type="pres">
      <dgm:prSet presAssocID="{89770E3B-DCA7-3848-9303-28CD4251107C}" presName="parTx" presStyleLbl="alignNode1" presStyleIdx="1" presStyleCnt="4">
        <dgm:presLayoutVars>
          <dgm:chMax val="0"/>
          <dgm:chPref val="0"/>
          <dgm:bulletEnabled val="1"/>
        </dgm:presLayoutVars>
      </dgm:prSet>
      <dgm:spPr/>
    </dgm:pt>
    <dgm:pt modelId="{CE427A8D-A2CB-E34E-B99B-527B0A4E0DC8}" type="pres">
      <dgm:prSet presAssocID="{89770E3B-DCA7-3848-9303-28CD4251107C}" presName="desTx" presStyleLbl="alignAccFollowNode1" presStyleIdx="1" presStyleCnt="4" custLinFactNeighborX="3" custLinFactNeighborY="1405">
        <dgm:presLayoutVars>
          <dgm:bulletEnabled val="1"/>
        </dgm:presLayoutVars>
      </dgm:prSet>
      <dgm:spPr/>
    </dgm:pt>
    <dgm:pt modelId="{9DD92D25-166F-0B42-A9CE-269E7FD9CEB2}" type="pres">
      <dgm:prSet presAssocID="{A5BA5E1B-CDE3-A64B-8989-CA5B097F5E14}" presName="space" presStyleCnt="0"/>
      <dgm:spPr/>
    </dgm:pt>
    <dgm:pt modelId="{08A86BD8-8382-6244-8E45-BF8DF4211F66}" type="pres">
      <dgm:prSet presAssocID="{6A10E3E3-FA6D-1E4B-BB49-89AF70B7997E}" presName="composite" presStyleCnt="0"/>
      <dgm:spPr/>
    </dgm:pt>
    <dgm:pt modelId="{8AD7747F-C6FB-8D40-8D93-2E53B586D4AB}" type="pres">
      <dgm:prSet presAssocID="{6A10E3E3-FA6D-1E4B-BB49-89AF70B7997E}" presName="parTx" presStyleLbl="alignNode1" presStyleIdx="2" presStyleCnt="4" custScaleX="109942">
        <dgm:presLayoutVars>
          <dgm:chMax val="0"/>
          <dgm:chPref val="0"/>
          <dgm:bulletEnabled val="1"/>
        </dgm:presLayoutVars>
      </dgm:prSet>
      <dgm:spPr/>
    </dgm:pt>
    <dgm:pt modelId="{F1B2B33B-D78F-B548-832F-D31F12C1AEA8}" type="pres">
      <dgm:prSet presAssocID="{6A10E3E3-FA6D-1E4B-BB49-89AF70B7997E}" presName="desTx" presStyleLbl="alignAccFollowNode1" presStyleIdx="2" presStyleCnt="4" custLinFactNeighborX="-662" custLinFactNeighborY="1405">
        <dgm:presLayoutVars>
          <dgm:bulletEnabled val="1"/>
        </dgm:presLayoutVars>
      </dgm:prSet>
      <dgm:spPr/>
    </dgm:pt>
    <dgm:pt modelId="{EC1137E5-1FDC-2E44-80C2-815E763752B0}" type="pres">
      <dgm:prSet presAssocID="{0D7DD324-772D-6D48-8659-E26C3B195677}" presName="space" presStyleCnt="0"/>
      <dgm:spPr/>
    </dgm:pt>
    <dgm:pt modelId="{EDB3DE01-69DE-634E-A1D3-A796506F10FE}" type="pres">
      <dgm:prSet presAssocID="{6B6C2A78-FD5F-CE4B-9E66-DD0EF754F5D6}" presName="composite" presStyleCnt="0"/>
      <dgm:spPr/>
    </dgm:pt>
    <dgm:pt modelId="{92B94131-7DF3-D247-8535-7A1175868520}" type="pres">
      <dgm:prSet presAssocID="{6B6C2A78-FD5F-CE4B-9E66-DD0EF754F5D6}" presName="parTx" presStyleLbl="alignNode1" presStyleIdx="3" presStyleCnt="4">
        <dgm:presLayoutVars>
          <dgm:chMax val="0"/>
          <dgm:chPref val="0"/>
          <dgm:bulletEnabled val="1"/>
        </dgm:presLayoutVars>
      </dgm:prSet>
      <dgm:spPr/>
    </dgm:pt>
    <dgm:pt modelId="{583D7356-1B1B-AD42-925D-161669EB54CA}" type="pres">
      <dgm:prSet presAssocID="{6B6C2A78-FD5F-CE4B-9E66-DD0EF754F5D6}" presName="desTx" presStyleLbl="alignAccFollowNode1" presStyleIdx="3" presStyleCnt="4" custLinFactNeighborX="2898" custLinFactNeighborY="1405">
        <dgm:presLayoutVars>
          <dgm:bulletEnabled val="1"/>
        </dgm:presLayoutVars>
      </dgm:prSet>
      <dgm:spPr/>
    </dgm:pt>
  </dgm:ptLst>
  <dgm:cxnLst>
    <dgm:cxn modelId="{D8BB821A-3CFE-F849-ABEA-12A2AECC5259}" srcId="{D5F28E27-31E0-B34F-BC9F-4CDE7B8EDC8B}" destId="{6B6C2A78-FD5F-CE4B-9E66-DD0EF754F5D6}" srcOrd="3" destOrd="0" parTransId="{B36329CF-E242-DD43-BA9C-76956EB1A060}" sibTransId="{6909B805-475A-3A4E-B8F6-1AC694A2E2CA}"/>
    <dgm:cxn modelId="{9557A739-C567-4B47-835E-E95D0E455BE2}" srcId="{D5F28E27-31E0-B34F-BC9F-4CDE7B8EDC8B}" destId="{6A10E3E3-FA6D-1E4B-BB49-89AF70B7997E}" srcOrd="2" destOrd="0" parTransId="{D92BC7C8-121B-5E4E-B4EA-8EA596186D1A}" sibTransId="{0D7DD324-772D-6D48-8659-E26C3B195677}"/>
    <dgm:cxn modelId="{5CD4395C-D247-034C-875A-2D4F5C2EAC6F}" type="presOf" srcId="{6A10E3E3-FA6D-1E4B-BB49-89AF70B7997E}" destId="{8AD7747F-C6FB-8D40-8D93-2E53B586D4AB}" srcOrd="0" destOrd="0" presId="urn:microsoft.com/office/officeart/2005/8/layout/hList1"/>
    <dgm:cxn modelId="{1AF8B760-9BBC-2340-98DF-255F15D69140}" type="presOf" srcId="{E95D73AA-1155-2340-AF50-F162A8F43417}" destId="{F1B2B33B-D78F-B548-832F-D31F12C1AEA8}" srcOrd="0" destOrd="0" presId="urn:microsoft.com/office/officeart/2005/8/layout/hList1"/>
    <dgm:cxn modelId="{125BFD47-6D4C-EE45-A734-44602B3AC7B4}" srcId="{89770E3B-DCA7-3848-9303-28CD4251107C}" destId="{33F6D4F0-07C2-9144-899C-AF212DC0E361}" srcOrd="0" destOrd="0" parTransId="{A6F1A6C4-1D48-A242-B4D6-B8AB0D00400E}" sibTransId="{79ADCD33-D91A-074A-B772-C0A69F1A8551}"/>
    <dgm:cxn modelId="{54040C74-765E-AF49-B658-ED8C8667CE91}" type="presOf" srcId="{FAADB5D8-2D9B-7A46-8864-3E76632DF242}" destId="{910692A2-8C4F-0545-98A7-FD5743A081D9}" srcOrd="0" destOrd="0" presId="urn:microsoft.com/office/officeart/2005/8/layout/hList1"/>
    <dgm:cxn modelId="{9E98ED75-5928-494D-A8D8-9AC145B367E4}" type="presOf" srcId="{89770E3B-DCA7-3848-9303-28CD4251107C}" destId="{F7B771C4-1781-334A-A9CC-6AB6388019C2}" srcOrd="0" destOrd="0" presId="urn:microsoft.com/office/officeart/2005/8/layout/hList1"/>
    <dgm:cxn modelId="{474D0289-9549-D74C-B3AF-455E916BC5CD}" type="presOf" srcId="{D5F28E27-31E0-B34F-BC9F-4CDE7B8EDC8B}" destId="{595A4C02-9C50-5D44-97C1-61C5F1D39956}" srcOrd="0" destOrd="0" presId="urn:microsoft.com/office/officeart/2005/8/layout/hList1"/>
    <dgm:cxn modelId="{E077D79B-2B93-0643-B81F-566481F49DE9}" type="presOf" srcId="{67B3BA71-261C-0447-8E65-09D9621C2928}" destId="{583D7356-1B1B-AD42-925D-161669EB54CA}" srcOrd="0" destOrd="0" presId="urn:microsoft.com/office/officeart/2005/8/layout/hList1"/>
    <dgm:cxn modelId="{3A46419D-B9F7-8E4D-A096-6C9B9C7E2155}" type="presOf" srcId="{C30027CC-F546-2244-ADC4-F1E1D604EBBF}" destId="{613BAD88-1300-C64D-8478-28BDFCA247EE}" srcOrd="0" destOrd="0" presId="urn:microsoft.com/office/officeart/2005/8/layout/hList1"/>
    <dgm:cxn modelId="{7E36EEB6-8273-DB4E-ABCE-384C7CC38C43}" srcId="{D5F28E27-31E0-B34F-BC9F-4CDE7B8EDC8B}" destId="{FAADB5D8-2D9B-7A46-8864-3E76632DF242}" srcOrd="0" destOrd="0" parTransId="{13107E0E-EAEB-E249-A700-4C5354826476}" sibTransId="{1E2D3B4A-6DB0-1A45-A8F9-7D186F04B72A}"/>
    <dgm:cxn modelId="{123391C1-8758-AA4A-B13D-7307D65CD3BD}" srcId="{D5F28E27-31E0-B34F-BC9F-4CDE7B8EDC8B}" destId="{89770E3B-DCA7-3848-9303-28CD4251107C}" srcOrd="1" destOrd="0" parTransId="{95FE122D-516D-1640-8DB2-434AA9FACA8E}" sibTransId="{A5BA5E1B-CDE3-A64B-8989-CA5B097F5E14}"/>
    <dgm:cxn modelId="{27FE7EC4-86B9-7147-9A11-95D7B8115E2C}" srcId="{6B6C2A78-FD5F-CE4B-9E66-DD0EF754F5D6}" destId="{67B3BA71-261C-0447-8E65-09D9621C2928}" srcOrd="0" destOrd="0" parTransId="{EB73C5F2-38C9-5C48-AC82-1F52FEC517EE}" sibTransId="{4439AB72-52A8-3A44-A050-74E1F8A8450E}"/>
    <dgm:cxn modelId="{590339CD-B15F-A84F-A1B6-7F51111A1A1F}" type="presOf" srcId="{33F6D4F0-07C2-9144-899C-AF212DC0E361}" destId="{CE427A8D-A2CB-E34E-B99B-527B0A4E0DC8}" srcOrd="0" destOrd="0" presId="urn:microsoft.com/office/officeart/2005/8/layout/hList1"/>
    <dgm:cxn modelId="{78A4C2CD-62DA-8B49-9DD4-4CE9E5A4EA8D}" srcId="{6A10E3E3-FA6D-1E4B-BB49-89AF70B7997E}" destId="{E95D73AA-1155-2340-AF50-F162A8F43417}" srcOrd="0" destOrd="0" parTransId="{881C6D5D-13D3-5540-A4EA-3435188C29DC}" sibTransId="{63EDF2B7-6064-844B-AF4D-0F7ED29F70A6}"/>
    <dgm:cxn modelId="{4CE91DD5-DBA7-3848-B2E2-A63BBB97D862}" srcId="{FAADB5D8-2D9B-7A46-8864-3E76632DF242}" destId="{C30027CC-F546-2244-ADC4-F1E1D604EBBF}" srcOrd="0" destOrd="0" parTransId="{66FA7D5D-B901-D048-B7EA-F239C1B39F7D}" sibTransId="{D75C275F-F007-3946-9381-CBA55B14D844}"/>
    <dgm:cxn modelId="{35809AE4-CB61-C14A-8658-C5D858084927}" type="presOf" srcId="{6B6C2A78-FD5F-CE4B-9E66-DD0EF754F5D6}" destId="{92B94131-7DF3-D247-8535-7A1175868520}" srcOrd="0" destOrd="0" presId="urn:microsoft.com/office/officeart/2005/8/layout/hList1"/>
    <dgm:cxn modelId="{2BCB9632-0847-3642-A900-5B8B874F0DCE}" type="presParOf" srcId="{595A4C02-9C50-5D44-97C1-61C5F1D39956}" destId="{70B573EF-205F-1842-8CCC-1BBEA43FF364}" srcOrd="0" destOrd="0" presId="urn:microsoft.com/office/officeart/2005/8/layout/hList1"/>
    <dgm:cxn modelId="{EECAA8DC-EF49-A64C-92EC-A1A81E2F3B03}" type="presParOf" srcId="{70B573EF-205F-1842-8CCC-1BBEA43FF364}" destId="{910692A2-8C4F-0545-98A7-FD5743A081D9}" srcOrd="0" destOrd="0" presId="urn:microsoft.com/office/officeart/2005/8/layout/hList1"/>
    <dgm:cxn modelId="{9EB2D697-F7F0-DE4F-BB68-5D1957079659}" type="presParOf" srcId="{70B573EF-205F-1842-8CCC-1BBEA43FF364}" destId="{613BAD88-1300-C64D-8478-28BDFCA247EE}" srcOrd="1" destOrd="0" presId="urn:microsoft.com/office/officeart/2005/8/layout/hList1"/>
    <dgm:cxn modelId="{A5970AF5-4FEC-7346-9DDD-96353198F167}" type="presParOf" srcId="{595A4C02-9C50-5D44-97C1-61C5F1D39956}" destId="{830B52BF-56C9-0947-9FFF-A0BAF664FCA6}" srcOrd="1" destOrd="0" presId="urn:microsoft.com/office/officeart/2005/8/layout/hList1"/>
    <dgm:cxn modelId="{2FC4215E-2693-C54B-B328-E7C525A7F08D}" type="presParOf" srcId="{595A4C02-9C50-5D44-97C1-61C5F1D39956}" destId="{E46CE980-0576-7746-B52C-14F313BD605A}" srcOrd="2" destOrd="0" presId="urn:microsoft.com/office/officeart/2005/8/layout/hList1"/>
    <dgm:cxn modelId="{AE98F5C7-E9CC-1B4B-BAD6-67A98143B08D}" type="presParOf" srcId="{E46CE980-0576-7746-B52C-14F313BD605A}" destId="{F7B771C4-1781-334A-A9CC-6AB6388019C2}" srcOrd="0" destOrd="0" presId="urn:microsoft.com/office/officeart/2005/8/layout/hList1"/>
    <dgm:cxn modelId="{505B052C-DFFE-934F-8E32-AED6E4EB7473}" type="presParOf" srcId="{E46CE980-0576-7746-B52C-14F313BD605A}" destId="{CE427A8D-A2CB-E34E-B99B-527B0A4E0DC8}" srcOrd="1" destOrd="0" presId="urn:microsoft.com/office/officeart/2005/8/layout/hList1"/>
    <dgm:cxn modelId="{D17E8163-D8A7-604D-B51B-DD3E3779038D}" type="presParOf" srcId="{595A4C02-9C50-5D44-97C1-61C5F1D39956}" destId="{9DD92D25-166F-0B42-A9CE-269E7FD9CEB2}" srcOrd="3" destOrd="0" presId="urn:microsoft.com/office/officeart/2005/8/layout/hList1"/>
    <dgm:cxn modelId="{3E33C355-2AE5-0C4C-A596-D001B38574EB}" type="presParOf" srcId="{595A4C02-9C50-5D44-97C1-61C5F1D39956}" destId="{08A86BD8-8382-6244-8E45-BF8DF4211F66}" srcOrd="4" destOrd="0" presId="urn:microsoft.com/office/officeart/2005/8/layout/hList1"/>
    <dgm:cxn modelId="{00F7FFCC-C20B-E444-B403-850BEAAB1987}" type="presParOf" srcId="{08A86BD8-8382-6244-8E45-BF8DF4211F66}" destId="{8AD7747F-C6FB-8D40-8D93-2E53B586D4AB}" srcOrd="0" destOrd="0" presId="urn:microsoft.com/office/officeart/2005/8/layout/hList1"/>
    <dgm:cxn modelId="{4D40F94D-D19E-164E-81E8-39A5091EEC22}" type="presParOf" srcId="{08A86BD8-8382-6244-8E45-BF8DF4211F66}" destId="{F1B2B33B-D78F-B548-832F-D31F12C1AEA8}" srcOrd="1" destOrd="0" presId="urn:microsoft.com/office/officeart/2005/8/layout/hList1"/>
    <dgm:cxn modelId="{D16C06C4-DE6E-F442-AD97-7D25A6949088}" type="presParOf" srcId="{595A4C02-9C50-5D44-97C1-61C5F1D39956}" destId="{EC1137E5-1FDC-2E44-80C2-815E763752B0}" srcOrd="5" destOrd="0" presId="urn:microsoft.com/office/officeart/2005/8/layout/hList1"/>
    <dgm:cxn modelId="{0B7A03DA-456E-C744-A6CF-DA9856D8BBF5}" type="presParOf" srcId="{595A4C02-9C50-5D44-97C1-61C5F1D39956}" destId="{EDB3DE01-69DE-634E-A1D3-A796506F10FE}" srcOrd="6" destOrd="0" presId="urn:microsoft.com/office/officeart/2005/8/layout/hList1"/>
    <dgm:cxn modelId="{55667A7A-9E56-C64A-BEE2-7A5B74066E52}" type="presParOf" srcId="{EDB3DE01-69DE-634E-A1D3-A796506F10FE}" destId="{92B94131-7DF3-D247-8535-7A1175868520}" srcOrd="0" destOrd="0" presId="urn:microsoft.com/office/officeart/2005/8/layout/hList1"/>
    <dgm:cxn modelId="{B5B6C98B-55D7-8F46-80D2-7B9C68BCCFAA}" type="presParOf" srcId="{EDB3DE01-69DE-634E-A1D3-A796506F10FE}" destId="{583D7356-1B1B-AD42-925D-161669EB54CA}"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D7AD9D7-3B0E-AD4A-A751-1A9ABE56CAD3}"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B3519E38-63D0-C745-ACC8-EE804C95AC35}">
      <dgm:prSet phldrT="[Text]" custT="1"/>
      <dgm:spPr/>
      <dgm:t>
        <a:bodyPr/>
        <a:lstStyle/>
        <a:p>
          <a:r>
            <a:rPr lang="en-NZ" sz="2200" dirty="0"/>
            <a:t>Prevent Deadlock</a:t>
          </a:r>
          <a:endParaRPr lang="en-US" sz="2200" dirty="0"/>
        </a:p>
      </dgm:t>
    </dgm:pt>
    <dgm:pt modelId="{933BC3E5-7FBF-0D4A-A1CE-FBE646AA3425}" type="parTrans" cxnId="{C39E5184-A606-5B4B-A14A-22FF9454D929}">
      <dgm:prSet/>
      <dgm:spPr/>
      <dgm:t>
        <a:bodyPr/>
        <a:lstStyle/>
        <a:p>
          <a:endParaRPr lang="en-US"/>
        </a:p>
      </dgm:t>
    </dgm:pt>
    <dgm:pt modelId="{417CA3AF-5615-374B-A7CE-4199B5CAF923}" type="sibTrans" cxnId="{C39E5184-A606-5B4B-A14A-22FF9454D929}">
      <dgm:prSet/>
      <dgm:spPr/>
      <dgm:t>
        <a:bodyPr/>
        <a:lstStyle/>
        <a:p>
          <a:endParaRPr lang="en-US"/>
        </a:p>
      </dgm:t>
    </dgm:pt>
    <dgm:pt modelId="{0303975F-41A2-CD4A-95C6-B90AE9CCD0E8}">
      <dgm:prSet custT="1"/>
      <dgm:spPr/>
      <dgm:t>
        <a:bodyPr/>
        <a:lstStyle/>
        <a:p>
          <a:r>
            <a:rPr lang="en-NZ" sz="2000" dirty="0"/>
            <a:t>adopt a policy that eliminates one of the conditions</a:t>
          </a:r>
        </a:p>
      </dgm:t>
    </dgm:pt>
    <dgm:pt modelId="{36689625-B2F0-374D-B85C-B44134124316}" type="parTrans" cxnId="{9F189987-02CC-9B44-965E-29F038D88E14}">
      <dgm:prSet/>
      <dgm:spPr/>
      <dgm:t>
        <a:bodyPr/>
        <a:lstStyle/>
        <a:p>
          <a:endParaRPr lang="en-US"/>
        </a:p>
      </dgm:t>
    </dgm:pt>
    <dgm:pt modelId="{7039640A-098D-A140-AB94-48D72F4A0B7D}" type="sibTrans" cxnId="{9F189987-02CC-9B44-965E-29F038D88E14}">
      <dgm:prSet/>
      <dgm:spPr/>
      <dgm:t>
        <a:bodyPr/>
        <a:lstStyle/>
        <a:p>
          <a:endParaRPr lang="en-US"/>
        </a:p>
      </dgm:t>
    </dgm:pt>
    <dgm:pt modelId="{3631D0E9-8757-2143-A3AB-7D38666D66FE}">
      <dgm:prSet custT="1"/>
      <dgm:spPr/>
      <dgm:t>
        <a:bodyPr/>
        <a:lstStyle/>
        <a:p>
          <a:r>
            <a:rPr lang="en-NZ" sz="2200" dirty="0"/>
            <a:t>Avoid Deadlock</a:t>
          </a:r>
        </a:p>
      </dgm:t>
    </dgm:pt>
    <dgm:pt modelId="{A5F12154-15B7-BB4B-8432-98F256618CAF}" type="parTrans" cxnId="{D09E20C3-9620-2F4F-AD87-9F8C1EE6EA9A}">
      <dgm:prSet/>
      <dgm:spPr/>
      <dgm:t>
        <a:bodyPr/>
        <a:lstStyle/>
        <a:p>
          <a:endParaRPr lang="en-US"/>
        </a:p>
      </dgm:t>
    </dgm:pt>
    <dgm:pt modelId="{6FF3EE00-77BF-A44F-B2A8-0322AA87447F}" type="sibTrans" cxnId="{D09E20C3-9620-2F4F-AD87-9F8C1EE6EA9A}">
      <dgm:prSet/>
      <dgm:spPr/>
      <dgm:t>
        <a:bodyPr/>
        <a:lstStyle/>
        <a:p>
          <a:endParaRPr lang="en-US"/>
        </a:p>
      </dgm:t>
    </dgm:pt>
    <dgm:pt modelId="{E6054D81-C03C-0B42-885D-3F2A40AA5768}">
      <dgm:prSet custT="1"/>
      <dgm:spPr/>
      <dgm:t>
        <a:bodyPr/>
        <a:lstStyle/>
        <a:p>
          <a:r>
            <a:rPr lang="en-NZ" sz="2000" dirty="0"/>
            <a:t>make the appropriate dynamic choices based on the current state of resource allocation</a:t>
          </a:r>
        </a:p>
      </dgm:t>
    </dgm:pt>
    <dgm:pt modelId="{65684EB3-4483-874F-88F1-578F58EB676B}" type="parTrans" cxnId="{0CB6EC33-C134-B64C-98AB-FD79373F42CD}">
      <dgm:prSet/>
      <dgm:spPr/>
      <dgm:t>
        <a:bodyPr/>
        <a:lstStyle/>
        <a:p>
          <a:endParaRPr lang="en-US"/>
        </a:p>
      </dgm:t>
    </dgm:pt>
    <dgm:pt modelId="{2932F96E-393F-384A-BDA9-7EDC15706371}" type="sibTrans" cxnId="{0CB6EC33-C134-B64C-98AB-FD79373F42CD}">
      <dgm:prSet/>
      <dgm:spPr/>
      <dgm:t>
        <a:bodyPr/>
        <a:lstStyle/>
        <a:p>
          <a:endParaRPr lang="en-US"/>
        </a:p>
      </dgm:t>
    </dgm:pt>
    <dgm:pt modelId="{33A697D3-29B7-B746-8116-2FD7AD65033F}">
      <dgm:prSet custT="1"/>
      <dgm:spPr/>
      <dgm:t>
        <a:bodyPr/>
        <a:lstStyle/>
        <a:p>
          <a:r>
            <a:rPr lang="en-NZ" sz="2200" dirty="0"/>
            <a:t>Detect Deadlock</a:t>
          </a:r>
        </a:p>
      </dgm:t>
    </dgm:pt>
    <dgm:pt modelId="{0C0A163C-42D1-D04D-A3B4-9F5591432C99}" type="parTrans" cxnId="{A43B19B7-A505-334E-B2D6-8DA0AA07DEDF}">
      <dgm:prSet/>
      <dgm:spPr/>
      <dgm:t>
        <a:bodyPr/>
        <a:lstStyle/>
        <a:p>
          <a:endParaRPr lang="en-US"/>
        </a:p>
      </dgm:t>
    </dgm:pt>
    <dgm:pt modelId="{5D6161F5-E354-9D41-8B60-FF7FDFDF880D}" type="sibTrans" cxnId="{A43B19B7-A505-334E-B2D6-8DA0AA07DEDF}">
      <dgm:prSet/>
      <dgm:spPr/>
      <dgm:t>
        <a:bodyPr/>
        <a:lstStyle/>
        <a:p>
          <a:endParaRPr lang="en-US"/>
        </a:p>
      </dgm:t>
    </dgm:pt>
    <dgm:pt modelId="{1952EA18-C951-384E-BF02-1843609FED6D}">
      <dgm:prSet custT="1"/>
      <dgm:spPr/>
      <dgm:t>
        <a:bodyPr/>
        <a:lstStyle/>
        <a:p>
          <a:r>
            <a:rPr lang="en-NZ" sz="2000" dirty="0"/>
            <a:t>attempt to detect the presence of deadlock and take action to recover</a:t>
          </a:r>
        </a:p>
      </dgm:t>
    </dgm:pt>
    <dgm:pt modelId="{D56DE5A7-A57C-4442-A7FC-59B2E67ACA63}" type="parTrans" cxnId="{2ADE9E4D-385D-9C47-A2C1-3AC97DD06467}">
      <dgm:prSet/>
      <dgm:spPr/>
      <dgm:t>
        <a:bodyPr/>
        <a:lstStyle/>
        <a:p>
          <a:endParaRPr lang="en-US"/>
        </a:p>
      </dgm:t>
    </dgm:pt>
    <dgm:pt modelId="{6CD3FB62-6370-5C44-B004-FC80CC15B04D}" type="sibTrans" cxnId="{2ADE9E4D-385D-9C47-A2C1-3AC97DD06467}">
      <dgm:prSet/>
      <dgm:spPr/>
      <dgm:t>
        <a:bodyPr/>
        <a:lstStyle/>
        <a:p>
          <a:endParaRPr lang="en-US"/>
        </a:p>
      </dgm:t>
    </dgm:pt>
    <dgm:pt modelId="{369495E0-661A-D54E-9903-279BA6D5B61A}" type="pres">
      <dgm:prSet presAssocID="{ED7AD9D7-3B0E-AD4A-A751-1A9ABE56CAD3}" presName="linear" presStyleCnt="0">
        <dgm:presLayoutVars>
          <dgm:dir/>
          <dgm:animLvl val="lvl"/>
          <dgm:resizeHandles val="exact"/>
        </dgm:presLayoutVars>
      </dgm:prSet>
      <dgm:spPr/>
    </dgm:pt>
    <dgm:pt modelId="{222544F3-9B75-9A4C-BDF2-15649982E6B2}" type="pres">
      <dgm:prSet presAssocID="{B3519E38-63D0-C745-ACC8-EE804C95AC35}" presName="parentLin" presStyleCnt="0"/>
      <dgm:spPr/>
    </dgm:pt>
    <dgm:pt modelId="{004EC6A0-F9A7-2B40-8F10-9B1A82403FEC}" type="pres">
      <dgm:prSet presAssocID="{B3519E38-63D0-C745-ACC8-EE804C95AC35}" presName="parentLeftMargin" presStyleLbl="node1" presStyleIdx="0" presStyleCnt="3"/>
      <dgm:spPr/>
    </dgm:pt>
    <dgm:pt modelId="{C76E62B7-E6F6-F44C-BFF3-94CA42A82033}" type="pres">
      <dgm:prSet presAssocID="{B3519E38-63D0-C745-ACC8-EE804C95AC35}" presName="parentText" presStyleLbl="node1" presStyleIdx="0" presStyleCnt="3">
        <dgm:presLayoutVars>
          <dgm:chMax val="0"/>
          <dgm:bulletEnabled val="1"/>
        </dgm:presLayoutVars>
      </dgm:prSet>
      <dgm:spPr/>
    </dgm:pt>
    <dgm:pt modelId="{9CAA6DB2-947F-A446-A29D-6B64E75E96AE}" type="pres">
      <dgm:prSet presAssocID="{B3519E38-63D0-C745-ACC8-EE804C95AC35}" presName="negativeSpace" presStyleCnt="0"/>
      <dgm:spPr/>
    </dgm:pt>
    <dgm:pt modelId="{F2EF543C-883A-3143-B8FF-3427F8EB3AC7}" type="pres">
      <dgm:prSet presAssocID="{B3519E38-63D0-C745-ACC8-EE804C95AC35}" presName="childText" presStyleLbl="conFgAcc1" presStyleIdx="0" presStyleCnt="3">
        <dgm:presLayoutVars>
          <dgm:bulletEnabled val="1"/>
        </dgm:presLayoutVars>
      </dgm:prSet>
      <dgm:spPr/>
    </dgm:pt>
    <dgm:pt modelId="{433FAB19-4D8F-E14A-AA3C-2126FF391E3C}" type="pres">
      <dgm:prSet presAssocID="{417CA3AF-5615-374B-A7CE-4199B5CAF923}" presName="spaceBetweenRectangles" presStyleCnt="0"/>
      <dgm:spPr/>
    </dgm:pt>
    <dgm:pt modelId="{61DB5EC3-F57B-734B-BD88-C465051E0148}" type="pres">
      <dgm:prSet presAssocID="{3631D0E9-8757-2143-A3AB-7D38666D66FE}" presName="parentLin" presStyleCnt="0"/>
      <dgm:spPr/>
    </dgm:pt>
    <dgm:pt modelId="{1E1A844A-30CB-3D47-B18C-D310F061AFD1}" type="pres">
      <dgm:prSet presAssocID="{3631D0E9-8757-2143-A3AB-7D38666D66FE}" presName="parentLeftMargin" presStyleLbl="node1" presStyleIdx="0" presStyleCnt="3"/>
      <dgm:spPr/>
    </dgm:pt>
    <dgm:pt modelId="{9CC9D5C0-7055-5F44-9C06-CD7F32234211}" type="pres">
      <dgm:prSet presAssocID="{3631D0E9-8757-2143-A3AB-7D38666D66FE}" presName="parentText" presStyleLbl="node1" presStyleIdx="1" presStyleCnt="3">
        <dgm:presLayoutVars>
          <dgm:chMax val="0"/>
          <dgm:bulletEnabled val="1"/>
        </dgm:presLayoutVars>
      </dgm:prSet>
      <dgm:spPr/>
    </dgm:pt>
    <dgm:pt modelId="{E4515CF9-119D-C247-9B13-7F001A077510}" type="pres">
      <dgm:prSet presAssocID="{3631D0E9-8757-2143-A3AB-7D38666D66FE}" presName="negativeSpace" presStyleCnt="0"/>
      <dgm:spPr/>
    </dgm:pt>
    <dgm:pt modelId="{CA916DCC-847C-7B4D-8447-2804E95D8344}" type="pres">
      <dgm:prSet presAssocID="{3631D0E9-8757-2143-A3AB-7D38666D66FE}" presName="childText" presStyleLbl="conFgAcc1" presStyleIdx="1" presStyleCnt="3">
        <dgm:presLayoutVars>
          <dgm:bulletEnabled val="1"/>
        </dgm:presLayoutVars>
      </dgm:prSet>
      <dgm:spPr/>
    </dgm:pt>
    <dgm:pt modelId="{D8B4CE58-EFAD-6248-A9B4-1F5EB1C12E74}" type="pres">
      <dgm:prSet presAssocID="{6FF3EE00-77BF-A44F-B2A8-0322AA87447F}" presName="spaceBetweenRectangles" presStyleCnt="0"/>
      <dgm:spPr/>
    </dgm:pt>
    <dgm:pt modelId="{2C5335F6-4159-0949-A37D-6FBA3FC7FF55}" type="pres">
      <dgm:prSet presAssocID="{33A697D3-29B7-B746-8116-2FD7AD65033F}" presName="parentLin" presStyleCnt="0"/>
      <dgm:spPr/>
    </dgm:pt>
    <dgm:pt modelId="{BAC87AA5-5913-7B49-BD6C-DD4C287E9944}" type="pres">
      <dgm:prSet presAssocID="{33A697D3-29B7-B746-8116-2FD7AD65033F}" presName="parentLeftMargin" presStyleLbl="node1" presStyleIdx="1" presStyleCnt="3"/>
      <dgm:spPr/>
    </dgm:pt>
    <dgm:pt modelId="{B6B6CCBA-6755-1B42-93ED-C3B536073808}" type="pres">
      <dgm:prSet presAssocID="{33A697D3-29B7-B746-8116-2FD7AD65033F}" presName="parentText" presStyleLbl="node1" presStyleIdx="2" presStyleCnt="3">
        <dgm:presLayoutVars>
          <dgm:chMax val="0"/>
          <dgm:bulletEnabled val="1"/>
        </dgm:presLayoutVars>
      </dgm:prSet>
      <dgm:spPr/>
    </dgm:pt>
    <dgm:pt modelId="{6B261F5C-683B-AC47-A41E-0CD037E423BC}" type="pres">
      <dgm:prSet presAssocID="{33A697D3-29B7-B746-8116-2FD7AD65033F}" presName="negativeSpace" presStyleCnt="0"/>
      <dgm:spPr/>
    </dgm:pt>
    <dgm:pt modelId="{57643F7F-6EBC-A944-A76A-1EA714F7B29A}" type="pres">
      <dgm:prSet presAssocID="{33A697D3-29B7-B746-8116-2FD7AD65033F}" presName="childText" presStyleLbl="conFgAcc1" presStyleIdx="2" presStyleCnt="3">
        <dgm:presLayoutVars>
          <dgm:bulletEnabled val="1"/>
        </dgm:presLayoutVars>
      </dgm:prSet>
      <dgm:spPr/>
    </dgm:pt>
  </dgm:ptLst>
  <dgm:cxnLst>
    <dgm:cxn modelId="{9DF69D25-686A-EF46-BAE2-8F3554D650CF}" type="presOf" srcId="{0303975F-41A2-CD4A-95C6-B90AE9CCD0E8}" destId="{F2EF543C-883A-3143-B8FF-3427F8EB3AC7}" srcOrd="0" destOrd="0" presId="urn:microsoft.com/office/officeart/2005/8/layout/list1"/>
    <dgm:cxn modelId="{B080592E-A450-0F4D-B17A-FF45E715F2A5}" type="presOf" srcId="{B3519E38-63D0-C745-ACC8-EE804C95AC35}" destId="{004EC6A0-F9A7-2B40-8F10-9B1A82403FEC}" srcOrd="0" destOrd="0" presId="urn:microsoft.com/office/officeart/2005/8/layout/list1"/>
    <dgm:cxn modelId="{C4CA2230-3E58-ED4B-A07E-53FFD2CACD85}" type="presOf" srcId="{E6054D81-C03C-0B42-885D-3F2A40AA5768}" destId="{CA916DCC-847C-7B4D-8447-2804E95D8344}" srcOrd="0" destOrd="0" presId="urn:microsoft.com/office/officeart/2005/8/layout/list1"/>
    <dgm:cxn modelId="{0CB6EC33-C134-B64C-98AB-FD79373F42CD}" srcId="{3631D0E9-8757-2143-A3AB-7D38666D66FE}" destId="{E6054D81-C03C-0B42-885D-3F2A40AA5768}" srcOrd="0" destOrd="0" parTransId="{65684EB3-4483-874F-88F1-578F58EB676B}" sibTransId="{2932F96E-393F-384A-BDA9-7EDC15706371}"/>
    <dgm:cxn modelId="{323D4443-BC85-2B4D-8185-00BB68A7901E}" type="presOf" srcId="{33A697D3-29B7-B746-8116-2FD7AD65033F}" destId="{B6B6CCBA-6755-1B42-93ED-C3B536073808}" srcOrd="1" destOrd="0" presId="urn:microsoft.com/office/officeart/2005/8/layout/list1"/>
    <dgm:cxn modelId="{6D1F084C-7196-9849-82AA-E8C272CF2DA9}" type="presOf" srcId="{ED7AD9D7-3B0E-AD4A-A751-1A9ABE56CAD3}" destId="{369495E0-661A-D54E-9903-279BA6D5B61A}" srcOrd="0" destOrd="0" presId="urn:microsoft.com/office/officeart/2005/8/layout/list1"/>
    <dgm:cxn modelId="{2ADE9E4D-385D-9C47-A2C1-3AC97DD06467}" srcId="{33A697D3-29B7-B746-8116-2FD7AD65033F}" destId="{1952EA18-C951-384E-BF02-1843609FED6D}" srcOrd="0" destOrd="0" parTransId="{D56DE5A7-A57C-4442-A7FC-59B2E67ACA63}" sibTransId="{6CD3FB62-6370-5C44-B004-FC80CC15B04D}"/>
    <dgm:cxn modelId="{B1352B72-FC01-8A42-B90E-4579E20AFEC8}" type="presOf" srcId="{3631D0E9-8757-2143-A3AB-7D38666D66FE}" destId="{1E1A844A-30CB-3D47-B18C-D310F061AFD1}" srcOrd="0" destOrd="0" presId="urn:microsoft.com/office/officeart/2005/8/layout/list1"/>
    <dgm:cxn modelId="{C39E5184-A606-5B4B-A14A-22FF9454D929}" srcId="{ED7AD9D7-3B0E-AD4A-A751-1A9ABE56CAD3}" destId="{B3519E38-63D0-C745-ACC8-EE804C95AC35}" srcOrd="0" destOrd="0" parTransId="{933BC3E5-7FBF-0D4A-A1CE-FBE646AA3425}" sibTransId="{417CA3AF-5615-374B-A7CE-4199B5CAF923}"/>
    <dgm:cxn modelId="{9F189987-02CC-9B44-965E-29F038D88E14}" srcId="{B3519E38-63D0-C745-ACC8-EE804C95AC35}" destId="{0303975F-41A2-CD4A-95C6-B90AE9CCD0E8}" srcOrd="0" destOrd="0" parTransId="{36689625-B2F0-374D-B85C-B44134124316}" sibTransId="{7039640A-098D-A140-AB94-48D72F4A0B7D}"/>
    <dgm:cxn modelId="{F2DF239E-7974-9346-9044-9477AABF7378}" type="presOf" srcId="{3631D0E9-8757-2143-A3AB-7D38666D66FE}" destId="{9CC9D5C0-7055-5F44-9C06-CD7F32234211}" srcOrd="1" destOrd="0" presId="urn:microsoft.com/office/officeart/2005/8/layout/list1"/>
    <dgm:cxn modelId="{79400DAE-76C1-744C-B182-29C6564F5FBE}" type="presOf" srcId="{1952EA18-C951-384E-BF02-1843609FED6D}" destId="{57643F7F-6EBC-A944-A76A-1EA714F7B29A}" srcOrd="0" destOrd="0" presId="urn:microsoft.com/office/officeart/2005/8/layout/list1"/>
    <dgm:cxn modelId="{A43B19B7-A505-334E-B2D6-8DA0AA07DEDF}" srcId="{ED7AD9D7-3B0E-AD4A-A751-1A9ABE56CAD3}" destId="{33A697D3-29B7-B746-8116-2FD7AD65033F}" srcOrd="2" destOrd="0" parTransId="{0C0A163C-42D1-D04D-A3B4-9F5591432C99}" sibTransId="{5D6161F5-E354-9D41-8B60-FF7FDFDF880D}"/>
    <dgm:cxn modelId="{6F3E9FBC-B3A4-C54F-AE7D-F469B23297A5}" type="presOf" srcId="{B3519E38-63D0-C745-ACC8-EE804C95AC35}" destId="{C76E62B7-E6F6-F44C-BFF3-94CA42A82033}" srcOrd="1" destOrd="0" presId="urn:microsoft.com/office/officeart/2005/8/layout/list1"/>
    <dgm:cxn modelId="{D09E20C3-9620-2F4F-AD87-9F8C1EE6EA9A}" srcId="{ED7AD9D7-3B0E-AD4A-A751-1A9ABE56CAD3}" destId="{3631D0E9-8757-2143-A3AB-7D38666D66FE}" srcOrd="1" destOrd="0" parTransId="{A5F12154-15B7-BB4B-8432-98F256618CAF}" sibTransId="{6FF3EE00-77BF-A44F-B2A8-0322AA87447F}"/>
    <dgm:cxn modelId="{21F312F8-B22A-0342-A590-8BB77E186959}" type="presOf" srcId="{33A697D3-29B7-B746-8116-2FD7AD65033F}" destId="{BAC87AA5-5913-7B49-BD6C-DD4C287E9944}" srcOrd="0" destOrd="0" presId="urn:microsoft.com/office/officeart/2005/8/layout/list1"/>
    <dgm:cxn modelId="{9D30093A-49FD-EE40-995C-118BF7592BEC}" type="presParOf" srcId="{369495E0-661A-D54E-9903-279BA6D5B61A}" destId="{222544F3-9B75-9A4C-BDF2-15649982E6B2}" srcOrd="0" destOrd="0" presId="urn:microsoft.com/office/officeart/2005/8/layout/list1"/>
    <dgm:cxn modelId="{4A0B0C3F-8DB2-5847-AE7F-BB3752E445DA}" type="presParOf" srcId="{222544F3-9B75-9A4C-BDF2-15649982E6B2}" destId="{004EC6A0-F9A7-2B40-8F10-9B1A82403FEC}" srcOrd="0" destOrd="0" presId="urn:microsoft.com/office/officeart/2005/8/layout/list1"/>
    <dgm:cxn modelId="{A4049CF2-9A55-F449-BE3D-AD699D16F3C5}" type="presParOf" srcId="{222544F3-9B75-9A4C-BDF2-15649982E6B2}" destId="{C76E62B7-E6F6-F44C-BFF3-94CA42A82033}" srcOrd="1" destOrd="0" presId="urn:microsoft.com/office/officeart/2005/8/layout/list1"/>
    <dgm:cxn modelId="{6E40AE29-9449-D542-903D-5C36FC38752F}" type="presParOf" srcId="{369495E0-661A-D54E-9903-279BA6D5B61A}" destId="{9CAA6DB2-947F-A446-A29D-6B64E75E96AE}" srcOrd="1" destOrd="0" presId="urn:microsoft.com/office/officeart/2005/8/layout/list1"/>
    <dgm:cxn modelId="{489BEC54-F20F-5748-A2AC-F43D83B53CA5}" type="presParOf" srcId="{369495E0-661A-D54E-9903-279BA6D5B61A}" destId="{F2EF543C-883A-3143-B8FF-3427F8EB3AC7}" srcOrd="2" destOrd="0" presId="urn:microsoft.com/office/officeart/2005/8/layout/list1"/>
    <dgm:cxn modelId="{B31E3337-DCF4-C447-B230-F68F10FD4B3A}" type="presParOf" srcId="{369495E0-661A-D54E-9903-279BA6D5B61A}" destId="{433FAB19-4D8F-E14A-AA3C-2126FF391E3C}" srcOrd="3" destOrd="0" presId="urn:microsoft.com/office/officeart/2005/8/layout/list1"/>
    <dgm:cxn modelId="{5B1BEEC1-4ED7-1A4D-ABA0-374D6CAAA3FD}" type="presParOf" srcId="{369495E0-661A-D54E-9903-279BA6D5B61A}" destId="{61DB5EC3-F57B-734B-BD88-C465051E0148}" srcOrd="4" destOrd="0" presId="urn:microsoft.com/office/officeart/2005/8/layout/list1"/>
    <dgm:cxn modelId="{742BC711-858E-B44A-BCF0-F73EE39FD926}" type="presParOf" srcId="{61DB5EC3-F57B-734B-BD88-C465051E0148}" destId="{1E1A844A-30CB-3D47-B18C-D310F061AFD1}" srcOrd="0" destOrd="0" presId="urn:microsoft.com/office/officeart/2005/8/layout/list1"/>
    <dgm:cxn modelId="{C1AEEFF5-616E-9C4C-9B2B-B8C02D750512}" type="presParOf" srcId="{61DB5EC3-F57B-734B-BD88-C465051E0148}" destId="{9CC9D5C0-7055-5F44-9C06-CD7F32234211}" srcOrd="1" destOrd="0" presId="urn:microsoft.com/office/officeart/2005/8/layout/list1"/>
    <dgm:cxn modelId="{C4FA89A6-A181-DF4A-A760-BB3FA269555F}" type="presParOf" srcId="{369495E0-661A-D54E-9903-279BA6D5B61A}" destId="{E4515CF9-119D-C247-9B13-7F001A077510}" srcOrd="5" destOrd="0" presId="urn:microsoft.com/office/officeart/2005/8/layout/list1"/>
    <dgm:cxn modelId="{4E85D950-5104-1447-BC70-2CA3FE33A699}" type="presParOf" srcId="{369495E0-661A-D54E-9903-279BA6D5B61A}" destId="{CA916DCC-847C-7B4D-8447-2804E95D8344}" srcOrd="6" destOrd="0" presId="urn:microsoft.com/office/officeart/2005/8/layout/list1"/>
    <dgm:cxn modelId="{85A350D0-38EB-5347-AEC8-8390F6C4F0FB}" type="presParOf" srcId="{369495E0-661A-D54E-9903-279BA6D5B61A}" destId="{D8B4CE58-EFAD-6248-A9B4-1F5EB1C12E74}" srcOrd="7" destOrd="0" presId="urn:microsoft.com/office/officeart/2005/8/layout/list1"/>
    <dgm:cxn modelId="{E8B62E37-F4AF-2141-9691-4C353A651C2B}" type="presParOf" srcId="{369495E0-661A-D54E-9903-279BA6D5B61A}" destId="{2C5335F6-4159-0949-A37D-6FBA3FC7FF55}" srcOrd="8" destOrd="0" presId="urn:microsoft.com/office/officeart/2005/8/layout/list1"/>
    <dgm:cxn modelId="{B5C5370B-E4C5-714C-9E85-299F77B79EC2}" type="presParOf" srcId="{2C5335F6-4159-0949-A37D-6FBA3FC7FF55}" destId="{BAC87AA5-5913-7B49-BD6C-DD4C287E9944}" srcOrd="0" destOrd="0" presId="urn:microsoft.com/office/officeart/2005/8/layout/list1"/>
    <dgm:cxn modelId="{FFDCA9A0-0371-644E-AFE5-996949541B34}" type="presParOf" srcId="{2C5335F6-4159-0949-A37D-6FBA3FC7FF55}" destId="{B6B6CCBA-6755-1B42-93ED-C3B536073808}" srcOrd="1" destOrd="0" presId="urn:microsoft.com/office/officeart/2005/8/layout/list1"/>
    <dgm:cxn modelId="{3E8C0C62-5095-4340-816E-3B79D77B0022}" type="presParOf" srcId="{369495E0-661A-D54E-9903-279BA6D5B61A}" destId="{6B261F5C-683B-AC47-A41E-0CD037E423BC}" srcOrd="9" destOrd="0" presId="urn:microsoft.com/office/officeart/2005/8/layout/list1"/>
    <dgm:cxn modelId="{34D25125-A8F9-134D-A8D6-76A19670A091}" type="presParOf" srcId="{369495E0-661A-D54E-9903-279BA6D5B61A}" destId="{57643F7F-6EBC-A944-A76A-1EA714F7B29A}"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119A291-1BBB-E142-A03E-1CF14D632E82}"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59FD4889-A857-9E49-BCCD-5C20CF4360D3}">
      <dgm:prSet phldrT="[Text]" custT="1"/>
      <dgm:spPr/>
      <dgm:t>
        <a:bodyPr/>
        <a:lstStyle/>
        <a:p>
          <a:r>
            <a:rPr lang="en-US" sz="3000" dirty="0"/>
            <a:t>Mutual Exclusion</a:t>
          </a:r>
        </a:p>
      </dgm:t>
    </dgm:pt>
    <dgm:pt modelId="{CA8C50E9-0D70-F94D-9284-5512391A9705}" type="parTrans" cxnId="{1389595F-9927-F140-B883-CBED9313F782}">
      <dgm:prSet/>
      <dgm:spPr/>
      <dgm:t>
        <a:bodyPr/>
        <a:lstStyle/>
        <a:p>
          <a:endParaRPr lang="en-US"/>
        </a:p>
      </dgm:t>
    </dgm:pt>
    <dgm:pt modelId="{CB15B6DE-EBE2-6E4D-92CC-C792A3BF5F11}" type="sibTrans" cxnId="{1389595F-9927-F140-B883-CBED9313F782}">
      <dgm:prSet/>
      <dgm:spPr/>
      <dgm:t>
        <a:bodyPr/>
        <a:lstStyle/>
        <a:p>
          <a:endParaRPr lang="en-US"/>
        </a:p>
      </dgm:t>
    </dgm:pt>
    <dgm:pt modelId="{0E3BFD0E-CA45-2B4D-AF18-959345078E41}">
      <dgm:prSet custT="1"/>
      <dgm:spPr/>
      <dgm:t>
        <a:bodyPr/>
        <a:lstStyle/>
        <a:p>
          <a:r>
            <a:rPr lang="en-US" sz="2000" dirty="0"/>
            <a:t>if access to a resource requires mutual exclusion then it must be supported by the OS</a:t>
          </a:r>
        </a:p>
      </dgm:t>
    </dgm:pt>
    <dgm:pt modelId="{1D477BAD-E25D-E045-9F4B-D148C5A3AF18}" type="parTrans" cxnId="{15697879-4AE8-E642-A677-251D8A74442E}">
      <dgm:prSet/>
      <dgm:spPr/>
      <dgm:t>
        <a:bodyPr/>
        <a:lstStyle/>
        <a:p>
          <a:endParaRPr lang="en-US" dirty="0"/>
        </a:p>
      </dgm:t>
    </dgm:pt>
    <dgm:pt modelId="{8BD52DFB-B64E-DF4B-897C-35DF474845E6}" type="sibTrans" cxnId="{15697879-4AE8-E642-A677-251D8A74442E}">
      <dgm:prSet/>
      <dgm:spPr/>
      <dgm:t>
        <a:bodyPr/>
        <a:lstStyle/>
        <a:p>
          <a:endParaRPr lang="en-US"/>
        </a:p>
      </dgm:t>
    </dgm:pt>
    <dgm:pt modelId="{DDA4127B-9362-6D4C-ACCC-00F7DD8B845D}">
      <dgm:prSet custT="1"/>
      <dgm:spPr/>
      <dgm:t>
        <a:bodyPr/>
        <a:lstStyle/>
        <a:p>
          <a:r>
            <a:rPr lang="en-US" sz="3000" dirty="0"/>
            <a:t>Hold and Wait</a:t>
          </a:r>
        </a:p>
      </dgm:t>
    </dgm:pt>
    <dgm:pt modelId="{C227E93E-7936-1B4B-BAB8-7B23A17C6507}" type="parTrans" cxnId="{E74054D5-3068-684A-A8CA-5F77D1646DD1}">
      <dgm:prSet/>
      <dgm:spPr/>
      <dgm:t>
        <a:bodyPr/>
        <a:lstStyle/>
        <a:p>
          <a:endParaRPr lang="en-US"/>
        </a:p>
      </dgm:t>
    </dgm:pt>
    <dgm:pt modelId="{38B749B8-B0C5-6B4E-B6CC-B9BF7F843024}" type="sibTrans" cxnId="{E74054D5-3068-684A-A8CA-5F77D1646DD1}">
      <dgm:prSet/>
      <dgm:spPr/>
      <dgm:t>
        <a:bodyPr/>
        <a:lstStyle/>
        <a:p>
          <a:endParaRPr lang="en-US"/>
        </a:p>
      </dgm:t>
    </dgm:pt>
    <dgm:pt modelId="{B84F91DA-5307-B845-8836-509C6A2AEFB2}">
      <dgm:prSet custT="1"/>
      <dgm:spPr/>
      <dgm:t>
        <a:bodyPr/>
        <a:lstStyle/>
        <a:p>
          <a:r>
            <a:rPr lang="en-US" sz="2000" dirty="0"/>
            <a:t>require that a process requests all of its required resources at </a:t>
          </a:r>
          <a:r>
            <a:rPr lang="en-US" sz="2000" u="sng" dirty="0"/>
            <a:t>one time </a:t>
          </a:r>
          <a:r>
            <a:rPr lang="en-US" sz="2000" dirty="0"/>
            <a:t>and </a:t>
          </a:r>
          <a:r>
            <a:rPr lang="en-US" sz="2000" u="sng" dirty="0"/>
            <a:t>blocking</a:t>
          </a:r>
          <a:r>
            <a:rPr lang="en-US" sz="2000" dirty="0"/>
            <a:t> the process until all requests can be granted simultaneously</a:t>
          </a:r>
        </a:p>
      </dgm:t>
    </dgm:pt>
    <dgm:pt modelId="{235DB11C-76D5-FB49-8ECA-14FACE1EB926}" type="parTrans" cxnId="{E0F65E9E-7115-F646-9AE6-48DD925A505D}">
      <dgm:prSet/>
      <dgm:spPr/>
      <dgm:t>
        <a:bodyPr/>
        <a:lstStyle/>
        <a:p>
          <a:endParaRPr lang="en-US" dirty="0"/>
        </a:p>
      </dgm:t>
    </dgm:pt>
    <dgm:pt modelId="{62301719-FDD7-2B46-9C1E-86DE9BCAF484}" type="sibTrans" cxnId="{E0F65E9E-7115-F646-9AE6-48DD925A505D}">
      <dgm:prSet/>
      <dgm:spPr/>
      <dgm:t>
        <a:bodyPr/>
        <a:lstStyle/>
        <a:p>
          <a:endParaRPr lang="en-US"/>
        </a:p>
      </dgm:t>
    </dgm:pt>
    <dgm:pt modelId="{9E20200B-BDEC-584A-AE68-9E2949419DE0}" type="pres">
      <dgm:prSet presAssocID="{A119A291-1BBB-E142-A03E-1CF14D632E82}" presName="diagram" presStyleCnt="0">
        <dgm:presLayoutVars>
          <dgm:chPref val="1"/>
          <dgm:dir/>
          <dgm:animOne val="branch"/>
          <dgm:animLvl val="lvl"/>
          <dgm:resizeHandles/>
        </dgm:presLayoutVars>
      </dgm:prSet>
      <dgm:spPr/>
    </dgm:pt>
    <dgm:pt modelId="{F4C5D177-745F-1A40-9B41-8744921058B6}" type="pres">
      <dgm:prSet presAssocID="{59FD4889-A857-9E49-BCCD-5C20CF4360D3}" presName="root" presStyleCnt="0"/>
      <dgm:spPr/>
    </dgm:pt>
    <dgm:pt modelId="{3A905F58-43A6-B142-A6A3-7CAD0FF59C4C}" type="pres">
      <dgm:prSet presAssocID="{59FD4889-A857-9E49-BCCD-5C20CF4360D3}" presName="rootComposite" presStyleCnt="0"/>
      <dgm:spPr/>
    </dgm:pt>
    <dgm:pt modelId="{12FF2B9D-26D2-A44F-9E18-FDC677BD1D09}" type="pres">
      <dgm:prSet presAssocID="{59FD4889-A857-9E49-BCCD-5C20CF4360D3}" presName="rootText" presStyleLbl="node1" presStyleIdx="0" presStyleCnt="2"/>
      <dgm:spPr/>
    </dgm:pt>
    <dgm:pt modelId="{C53B0DB4-A3BE-834A-AD14-3FA89BAF9B6A}" type="pres">
      <dgm:prSet presAssocID="{59FD4889-A857-9E49-BCCD-5C20CF4360D3}" presName="rootConnector" presStyleLbl="node1" presStyleIdx="0" presStyleCnt="2"/>
      <dgm:spPr/>
    </dgm:pt>
    <dgm:pt modelId="{ED7ED8AD-8D49-794D-802A-0F87DEE2DA81}" type="pres">
      <dgm:prSet presAssocID="{59FD4889-A857-9E49-BCCD-5C20CF4360D3}" presName="childShape" presStyleCnt="0"/>
      <dgm:spPr/>
    </dgm:pt>
    <dgm:pt modelId="{60F002DE-5B92-314F-B8EB-59BEC6FCAD53}" type="pres">
      <dgm:prSet presAssocID="{1D477BAD-E25D-E045-9F4B-D148C5A3AF18}" presName="Name13" presStyleLbl="parChTrans1D2" presStyleIdx="0" presStyleCnt="2"/>
      <dgm:spPr/>
    </dgm:pt>
    <dgm:pt modelId="{37630BD2-C147-434D-9AE2-A781C2BD8B3D}" type="pres">
      <dgm:prSet presAssocID="{0E3BFD0E-CA45-2B4D-AF18-959345078E41}" presName="childText" presStyleLbl="bgAcc1" presStyleIdx="0" presStyleCnt="2">
        <dgm:presLayoutVars>
          <dgm:bulletEnabled val="1"/>
        </dgm:presLayoutVars>
      </dgm:prSet>
      <dgm:spPr/>
    </dgm:pt>
    <dgm:pt modelId="{DE815D5E-F14E-A04B-A578-B509F8B7EE08}" type="pres">
      <dgm:prSet presAssocID="{DDA4127B-9362-6D4C-ACCC-00F7DD8B845D}" presName="root" presStyleCnt="0"/>
      <dgm:spPr/>
    </dgm:pt>
    <dgm:pt modelId="{2E48A3B0-5CE4-A440-B011-2DFAC4B3D4FC}" type="pres">
      <dgm:prSet presAssocID="{DDA4127B-9362-6D4C-ACCC-00F7DD8B845D}" presName="rootComposite" presStyleCnt="0"/>
      <dgm:spPr/>
    </dgm:pt>
    <dgm:pt modelId="{F0B0B8F8-69E5-5349-82BB-435D76CEDD77}" type="pres">
      <dgm:prSet presAssocID="{DDA4127B-9362-6D4C-ACCC-00F7DD8B845D}" presName="rootText" presStyleLbl="node1" presStyleIdx="1" presStyleCnt="2"/>
      <dgm:spPr/>
    </dgm:pt>
    <dgm:pt modelId="{281B9D59-CF02-654A-AF7E-03E996300BBC}" type="pres">
      <dgm:prSet presAssocID="{DDA4127B-9362-6D4C-ACCC-00F7DD8B845D}" presName="rootConnector" presStyleLbl="node1" presStyleIdx="1" presStyleCnt="2"/>
      <dgm:spPr/>
    </dgm:pt>
    <dgm:pt modelId="{11860993-9DFE-464F-AC3E-D4DFFA9EA3C6}" type="pres">
      <dgm:prSet presAssocID="{DDA4127B-9362-6D4C-ACCC-00F7DD8B845D}" presName="childShape" presStyleCnt="0"/>
      <dgm:spPr/>
    </dgm:pt>
    <dgm:pt modelId="{5E003098-C1CA-7547-973E-268F1C53ECA3}" type="pres">
      <dgm:prSet presAssocID="{235DB11C-76D5-FB49-8ECA-14FACE1EB926}" presName="Name13" presStyleLbl="parChTrans1D2" presStyleIdx="1" presStyleCnt="2"/>
      <dgm:spPr/>
    </dgm:pt>
    <dgm:pt modelId="{A4ACE6A4-5292-684B-BADA-4484BB0C4C6D}" type="pres">
      <dgm:prSet presAssocID="{B84F91DA-5307-B845-8836-509C6A2AEFB2}" presName="childText" presStyleLbl="bgAcc1" presStyleIdx="1" presStyleCnt="2" custScaleX="108745" custScaleY="158059">
        <dgm:presLayoutVars>
          <dgm:bulletEnabled val="1"/>
        </dgm:presLayoutVars>
      </dgm:prSet>
      <dgm:spPr/>
    </dgm:pt>
  </dgm:ptLst>
  <dgm:cxnLst>
    <dgm:cxn modelId="{7DA5220F-8A58-1D4C-AD96-39DC1A8393B4}" type="presOf" srcId="{59FD4889-A857-9E49-BCCD-5C20CF4360D3}" destId="{C53B0DB4-A3BE-834A-AD14-3FA89BAF9B6A}" srcOrd="1" destOrd="0" presId="urn:microsoft.com/office/officeart/2005/8/layout/hierarchy3"/>
    <dgm:cxn modelId="{75DD0C1D-FC41-8741-8081-05860B99CA7A}" type="presOf" srcId="{0E3BFD0E-CA45-2B4D-AF18-959345078E41}" destId="{37630BD2-C147-434D-9AE2-A781C2BD8B3D}" srcOrd="0" destOrd="0" presId="urn:microsoft.com/office/officeart/2005/8/layout/hierarchy3"/>
    <dgm:cxn modelId="{949DC736-CD59-E445-918A-47D559EB25FD}" type="presOf" srcId="{59FD4889-A857-9E49-BCCD-5C20CF4360D3}" destId="{12FF2B9D-26D2-A44F-9E18-FDC677BD1D09}" srcOrd="0" destOrd="0" presId="urn:microsoft.com/office/officeart/2005/8/layout/hierarchy3"/>
    <dgm:cxn modelId="{1389595F-9927-F140-B883-CBED9313F782}" srcId="{A119A291-1BBB-E142-A03E-1CF14D632E82}" destId="{59FD4889-A857-9E49-BCCD-5C20CF4360D3}" srcOrd="0" destOrd="0" parTransId="{CA8C50E9-0D70-F94D-9284-5512391A9705}" sibTransId="{CB15B6DE-EBE2-6E4D-92CC-C792A3BF5F11}"/>
    <dgm:cxn modelId="{312D5343-51C1-944B-B789-7569E7F580A0}" type="presOf" srcId="{1D477BAD-E25D-E045-9F4B-D148C5A3AF18}" destId="{60F002DE-5B92-314F-B8EB-59BEC6FCAD53}" srcOrd="0" destOrd="0" presId="urn:microsoft.com/office/officeart/2005/8/layout/hierarchy3"/>
    <dgm:cxn modelId="{15697879-4AE8-E642-A677-251D8A74442E}" srcId="{59FD4889-A857-9E49-BCCD-5C20CF4360D3}" destId="{0E3BFD0E-CA45-2B4D-AF18-959345078E41}" srcOrd="0" destOrd="0" parTransId="{1D477BAD-E25D-E045-9F4B-D148C5A3AF18}" sibTransId="{8BD52DFB-B64E-DF4B-897C-35DF474845E6}"/>
    <dgm:cxn modelId="{7C82697B-C123-D844-BB26-F05E14DB5C1B}" type="presOf" srcId="{DDA4127B-9362-6D4C-ACCC-00F7DD8B845D}" destId="{281B9D59-CF02-654A-AF7E-03E996300BBC}" srcOrd="1" destOrd="0" presId="urn:microsoft.com/office/officeart/2005/8/layout/hierarchy3"/>
    <dgm:cxn modelId="{E0F65E9E-7115-F646-9AE6-48DD925A505D}" srcId="{DDA4127B-9362-6D4C-ACCC-00F7DD8B845D}" destId="{B84F91DA-5307-B845-8836-509C6A2AEFB2}" srcOrd="0" destOrd="0" parTransId="{235DB11C-76D5-FB49-8ECA-14FACE1EB926}" sibTransId="{62301719-FDD7-2B46-9C1E-86DE9BCAF484}"/>
    <dgm:cxn modelId="{E2A04AA0-340C-B147-903F-6AAC767F25E6}" type="presOf" srcId="{DDA4127B-9362-6D4C-ACCC-00F7DD8B845D}" destId="{F0B0B8F8-69E5-5349-82BB-435D76CEDD77}" srcOrd="0" destOrd="0" presId="urn:microsoft.com/office/officeart/2005/8/layout/hierarchy3"/>
    <dgm:cxn modelId="{FACC5AB7-3A72-BE41-A1A5-1722C13F648B}" type="presOf" srcId="{A119A291-1BBB-E142-A03E-1CF14D632E82}" destId="{9E20200B-BDEC-584A-AE68-9E2949419DE0}" srcOrd="0" destOrd="0" presId="urn:microsoft.com/office/officeart/2005/8/layout/hierarchy3"/>
    <dgm:cxn modelId="{E74054D5-3068-684A-A8CA-5F77D1646DD1}" srcId="{A119A291-1BBB-E142-A03E-1CF14D632E82}" destId="{DDA4127B-9362-6D4C-ACCC-00F7DD8B845D}" srcOrd="1" destOrd="0" parTransId="{C227E93E-7936-1B4B-BAB8-7B23A17C6507}" sibTransId="{38B749B8-B0C5-6B4E-B6CC-B9BF7F843024}"/>
    <dgm:cxn modelId="{E9FF2DF0-4D99-C748-9A94-D0A2DF567EB5}" type="presOf" srcId="{B84F91DA-5307-B845-8836-509C6A2AEFB2}" destId="{A4ACE6A4-5292-684B-BADA-4484BB0C4C6D}" srcOrd="0" destOrd="0" presId="urn:microsoft.com/office/officeart/2005/8/layout/hierarchy3"/>
    <dgm:cxn modelId="{85B5BFF0-30B2-EA4E-8256-686E7750A64D}" type="presOf" srcId="{235DB11C-76D5-FB49-8ECA-14FACE1EB926}" destId="{5E003098-C1CA-7547-973E-268F1C53ECA3}" srcOrd="0" destOrd="0" presId="urn:microsoft.com/office/officeart/2005/8/layout/hierarchy3"/>
    <dgm:cxn modelId="{90B5603F-E6E4-5F48-B8AC-C05DB1866690}" type="presParOf" srcId="{9E20200B-BDEC-584A-AE68-9E2949419DE0}" destId="{F4C5D177-745F-1A40-9B41-8744921058B6}" srcOrd="0" destOrd="0" presId="urn:microsoft.com/office/officeart/2005/8/layout/hierarchy3"/>
    <dgm:cxn modelId="{C97F5258-9D63-B145-A46F-113213180198}" type="presParOf" srcId="{F4C5D177-745F-1A40-9B41-8744921058B6}" destId="{3A905F58-43A6-B142-A6A3-7CAD0FF59C4C}" srcOrd="0" destOrd="0" presId="urn:microsoft.com/office/officeart/2005/8/layout/hierarchy3"/>
    <dgm:cxn modelId="{9B416D6C-7F34-9645-8AE5-242162C2EC9B}" type="presParOf" srcId="{3A905F58-43A6-B142-A6A3-7CAD0FF59C4C}" destId="{12FF2B9D-26D2-A44F-9E18-FDC677BD1D09}" srcOrd="0" destOrd="0" presId="urn:microsoft.com/office/officeart/2005/8/layout/hierarchy3"/>
    <dgm:cxn modelId="{A8BDE643-E1A2-A842-9DE6-7FBC46405AE4}" type="presParOf" srcId="{3A905F58-43A6-B142-A6A3-7CAD0FF59C4C}" destId="{C53B0DB4-A3BE-834A-AD14-3FA89BAF9B6A}" srcOrd="1" destOrd="0" presId="urn:microsoft.com/office/officeart/2005/8/layout/hierarchy3"/>
    <dgm:cxn modelId="{89865BD1-0471-2B4C-9421-0228AE02F91B}" type="presParOf" srcId="{F4C5D177-745F-1A40-9B41-8744921058B6}" destId="{ED7ED8AD-8D49-794D-802A-0F87DEE2DA81}" srcOrd="1" destOrd="0" presId="urn:microsoft.com/office/officeart/2005/8/layout/hierarchy3"/>
    <dgm:cxn modelId="{51FB8813-EA20-444D-9A43-010643ADF9A3}" type="presParOf" srcId="{ED7ED8AD-8D49-794D-802A-0F87DEE2DA81}" destId="{60F002DE-5B92-314F-B8EB-59BEC6FCAD53}" srcOrd="0" destOrd="0" presId="urn:microsoft.com/office/officeart/2005/8/layout/hierarchy3"/>
    <dgm:cxn modelId="{4ACC95A3-058E-C844-9CBB-3E6449A28CA6}" type="presParOf" srcId="{ED7ED8AD-8D49-794D-802A-0F87DEE2DA81}" destId="{37630BD2-C147-434D-9AE2-A781C2BD8B3D}" srcOrd="1" destOrd="0" presId="urn:microsoft.com/office/officeart/2005/8/layout/hierarchy3"/>
    <dgm:cxn modelId="{A140C082-42B7-BE4D-8445-3F02714D185E}" type="presParOf" srcId="{9E20200B-BDEC-584A-AE68-9E2949419DE0}" destId="{DE815D5E-F14E-A04B-A578-B509F8B7EE08}" srcOrd="1" destOrd="0" presId="urn:microsoft.com/office/officeart/2005/8/layout/hierarchy3"/>
    <dgm:cxn modelId="{1CDCF394-64E6-6949-B72D-CD1BCE64A5B5}" type="presParOf" srcId="{DE815D5E-F14E-A04B-A578-B509F8B7EE08}" destId="{2E48A3B0-5CE4-A440-B011-2DFAC4B3D4FC}" srcOrd="0" destOrd="0" presId="urn:microsoft.com/office/officeart/2005/8/layout/hierarchy3"/>
    <dgm:cxn modelId="{9502E679-0F04-2947-91F9-F5D58127AFAE}" type="presParOf" srcId="{2E48A3B0-5CE4-A440-B011-2DFAC4B3D4FC}" destId="{F0B0B8F8-69E5-5349-82BB-435D76CEDD77}" srcOrd="0" destOrd="0" presId="urn:microsoft.com/office/officeart/2005/8/layout/hierarchy3"/>
    <dgm:cxn modelId="{58626D98-D12C-DA49-AE63-2AF9D587862F}" type="presParOf" srcId="{2E48A3B0-5CE4-A440-B011-2DFAC4B3D4FC}" destId="{281B9D59-CF02-654A-AF7E-03E996300BBC}" srcOrd="1" destOrd="0" presId="urn:microsoft.com/office/officeart/2005/8/layout/hierarchy3"/>
    <dgm:cxn modelId="{F21EEBCD-4121-E349-B4DD-4B1FA9931D9A}" type="presParOf" srcId="{DE815D5E-F14E-A04B-A578-B509F8B7EE08}" destId="{11860993-9DFE-464F-AC3E-D4DFFA9EA3C6}" srcOrd="1" destOrd="0" presId="urn:microsoft.com/office/officeart/2005/8/layout/hierarchy3"/>
    <dgm:cxn modelId="{F014F57A-F536-F648-8539-11CB17868DA5}" type="presParOf" srcId="{11860993-9DFE-464F-AC3E-D4DFFA9EA3C6}" destId="{5E003098-C1CA-7547-973E-268F1C53ECA3}" srcOrd="0" destOrd="0" presId="urn:microsoft.com/office/officeart/2005/8/layout/hierarchy3"/>
    <dgm:cxn modelId="{331BE923-687A-B647-B7DD-14CFE41C82D9}" type="presParOf" srcId="{11860993-9DFE-464F-AC3E-D4DFFA9EA3C6}" destId="{A4ACE6A4-5292-684B-BADA-4484BB0C4C6D}"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157F3D1-00E5-A844-9B9B-E8949A19C561}" type="doc">
      <dgm:prSet loTypeId="urn:microsoft.com/office/officeart/2005/8/layout/radial1" loCatId="relationship" qsTypeId="urn:microsoft.com/office/officeart/2005/8/quickstyle/simple4" qsCatId="simple" csTypeId="urn:microsoft.com/office/officeart/2005/8/colors/accent1_2" csCatId="accent1" phldr="1"/>
      <dgm:spPr/>
      <dgm:t>
        <a:bodyPr/>
        <a:lstStyle/>
        <a:p>
          <a:endParaRPr lang="en-US"/>
        </a:p>
      </dgm:t>
    </dgm:pt>
    <dgm:pt modelId="{3729A948-E60F-B544-8E88-22E92FB36AFB}">
      <dgm:prSet phldrT="[Text]" custT="1"/>
      <dgm:spPr>
        <a:solidFill>
          <a:schemeClr val="accent6">
            <a:alpha val="76000"/>
          </a:schemeClr>
        </a:solidFill>
      </dgm:spPr>
      <dgm:t>
        <a:bodyPr/>
        <a:lstStyle/>
        <a:p>
          <a:r>
            <a:rPr lang="en-US" sz="2600" dirty="0"/>
            <a:t>Deadlock Avoidance</a:t>
          </a:r>
        </a:p>
      </dgm:t>
    </dgm:pt>
    <dgm:pt modelId="{1C56D178-35F1-AA4C-AB32-A81B70A68A80}" type="parTrans" cxnId="{95A57133-729E-6449-AE42-9094B8E404E8}">
      <dgm:prSet/>
      <dgm:spPr/>
      <dgm:t>
        <a:bodyPr/>
        <a:lstStyle/>
        <a:p>
          <a:endParaRPr lang="en-US"/>
        </a:p>
      </dgm:t>
    </dgm:pt>
    <dgm:pt modelId="{D4B67213-9F0E-A149-9486-D0161B0E714B}" type="sibTrans" cxnId="{95A57133-729E-6449-AE42-9094B8E404E8}">
      <dgm:prSet/>
      <dgm:spPr/>
      <dgm:t>
        <a:bodyPr/>
        <a:lstStyle/>
        <a:p>
          <a:endParaRPr lang="en-US"/>
        </a:p>
      </dgm:t>
    </dgm:pt>
    <dgm:pt modelId="{F062EC3C-6EFC-E549-B0A6-36A5EF2F31B8}">
      <dgm:prSet phldrT="[Text]" custT="1"/>
      <dgm:spPr/>
      <dgm:t>
        <a:bodyPr/>
        <a:lstStyle/>
        <a:p>
          <a:r>
            <a:rPr lang="en-US" sz="2200" b="1" dirty="0"/>
            <a:t>Process Initiation Denial</a:t>
          </a:r>
        </a:p>
      </dgm:t>
    </dgm:pt>
    <dgm:pt modelId="{C3196ED2-479E-7141-93AC-F6A89FA2C6ED}" type="parTrans" cxnId="{365D9A90-0310-664C-957B-92412EC2F4DE}">
      <dgm:prSet/>
      <dgm:spPr/>
      <dgm:t>
        <a:bodyPr/>
        <a:lstStyle/>
        <a:p>
          <a:endParaRPr lang="en-US"/>
        </a:p>
      </dgm:t>
    </dgm:pt>
    <dgm:pt modelId="{E2889486-61D9-7E4B-AF3C-E41B87D58131}" type="sibTrans" cxnId="{365D9A90-0310-664C-957B-92412EC2F4DE}">
      <dgm:prSet/>
      <dgm:spPr/>
      <dgm:t>
        <a:bodyPr/>
        <a:lstStyle/>
        <a:p>
          <a:endParaRPr lang="en-US"/>
        </a:p>
      </dgm:t>
    </dgm:pt>
    <dgm:pt modelId="{58D67F14-4061-DE48-85BD-34BBC8A13C18}">
      <dgm:prSet phldrT="[Text]" custT="1"/>
      <dgm:spPr/>
      <dgm:t>
        <a:bodyPr/>
        <a:lstStyle/>
        <a:p>
          <a:r>
            <a:rPr lang="en-US" sz="2200" b="1" dirty="0"/>
            <a:t>Resource Allocation Denial</a:t>
          </a:r>
        </a:p>
      </dgm:t>
    </dgm:pt>
    <dgm:pt modelId="{B5FA1B05-BE5A-B048-B56B-8D581D15F0E3}" type="parTrans" cxnId="{F29EA5CE-4F67-0241-9A91-EFEEDE3432A4}">
      <dgm:prSet/>
      <dgm:spPr/>
      <dgm:t>
        <a:bodyPr/>
        <a:lstStyle/>
        <a:p>
          <a:endParaRPr lang="en-US"/>
        </a:p>
      </dgm:t>
    </dgm:pt>
    <dgm:pt modelId="{5747ED66-9B3C-4145-936F-DB7D4A95957F}" type="sibTrans" cxnId="{F29EA5CE-4F67-0241-9A91-EFEEDE3432A4}">
      <dgm:prSet/>
      <dgm:spPr/>
      <dgm:t>
        <a:bodyPr/>
        <a:lstStyle/>
        <a:p>
          <a:endParaRPr lang="en-US"/>
        </a:p>
      </dgm:t>
    </dgm:pt>
    <dgm:pt modelId="{F6D919FA-8043-1648-9435-3B044C874DF4}">
      <dgm:prSet custT="1"/>
      <dgm:spPr/>
      <dgm:t>
        <a:bodyPr/>
        <a:lstStyle/>
        <a:p>
          <a:r>
            <a:rPr lang="en-US" sz="1800" dirty="0"/>
            <a:t>do not start a process if its demands might lead to deadlock</a:t>
          </a:r>
        </a:p>
      </dgm:t>
    </dgm:pt>
    <dgm:pt modelId="{34BBCD0B-09C0-5C40-985D-722C6A8B8D4A}" type="parTrans" cxnId="{12064706-20F2-D544-AD8A-354D74175A74}">
      <dgm:prSet/>
      <dgm:spPr/>
      <dgm:t>
        <a:bodyPr/>
        <a:lstStyle/>
        <a:p>
          <a:endParaRPr lang="en-US"/>
        </a:p>
      </dgm:t>
    </dgm:pt>
    <dgm:pt modelId="{1BEA73A2-B2F5-744E-A0A4-92D6B3CBFC0C}" type="sibTrans" cxnId="{12064706-20F2-D544-AD8A-354D74175A74}">
      <dgm:prSet/>
      <dgm:spPr/>
      <dgm:t>
        <a:bodyPr/>
        <a:lstStyle/>
        <a:p>
          <a:endParaRPr lang="en-US"/>
        </a:p>
      </dgm:t>
    </dgm:pt>
    <dgm:pt modelId="{7DCF3586-AFD8-8F4A-B7BD-6F0866B52735}">
      <dgm:prSet custT="1"/>
      <dgm:spPr/>
      <dgm:t>
        <a:bodyPr/>
        <a:lstStyle/>
        <a:p>
          <a:r>
            <a:rPr lang="en-US" sz="1800" dirty="0"/>
            <a:t>do not grant an incremental resource request to a process if this allocation might lead to deadlock</a:t>
          </a:r>
        </a:p>
      </dgm:t>
    </dgm:pt>
    <dgm:pt modelId="{B7BE8777-84B3-E143-A280-3211AF91B6DD}" type="parTrans" cxnId="{7D626A3E-19C6-2A40-A03A-A04A860F1287}">
      <dgm:prSet/>
      <dgm:spPr/>
      <dgm:t>
        <a:bodyPr/>
        <a:lstStyle/>
        <a:p>
          <a:endParaRPr lang="en-US"/>
        </a:p>
      </dgm:t>
    </dgm:pt>
    <dgm:pt modelId="{5C6E8599-4CCA-8A4F-B7DB-D7B260D92DE7}" type="sibTrans" cxnId="{7D626A3E-19C6-2A40-A03A-A04A860F1287}">
      <dgm:prSet/>
      <dgm:spPr/>
      <dgm:t>
        <a:bodyPr/>
        <a:lstStyle/>
        <a:p>
          <a:endParaRPr lang="en-US"/>
        </a:p>
      </dgm:t>
    </dgm:pt>
    <dgm:pt modelId="{BD37C29E-7B23-4A4E-A1DC-E66BDFE0426D}" type="pres">
      <dgm:prSet presAssocID="{8157F3D1-00E5-A844-9B9B-E8949A19C561}" presName="cycle" presStyleCnt="0">
        <dgm:presLayoutVars>
          <dgm:chMax val="1"/>
          <dgm:dir/>
          <dgm:animLvl val="ctr"/>
          <dgm:resizeHandles val="exact"/>
        </dgm:presLayoutVars>
      </dgm:prSet>
      <dgm:spPr/>
    </dgm:pt>
    <dgm:pt modelId="{33750716-0DAC-BC40-8E79-75B3BD9B9C84}" type="pres">
      <dgm:prSet presAssocID="{3729A948-E60F-B544-8E88-22E92FB36AFB}" presName="centerShape" presStyleLbl="node0" presStyleIdx="0" presStyleCnt="1" custScaleX="176560" custScaleY="139158" custLinFactNeighborX="3522" custLinFactNeighborY="-28132"/>
      <dgm:spPr/>
    </dgm:pt>
    <dgm:pt modelId="{4E01D2EE-6258-AD44-9D8B-05B084D8A730}" type="pres">
      <dgm:prSet presAssocID="{C3196ED2-479E-7141-93AC-F6A89FA2C6ED}" presName="Name9" presStyleLbl="parChTrans1D2" presStyleIdx="0" presStyleCnt="2"/>
      <dgm:spPr/>
    </dgm:pt>
    <dgm:pt modelId="{B6E620A8-3870-184F-A4DF-FE9D56D0980F}" type="pres">
      <dgm:prSet presAssocID="{C3196ED2-479E-7141-93AC-F6A89FA2C6ED}" presName="connTx" presStyleLbl="parChTrans1D2" presStyleIdx="0" presStyleCnt="2"/>
      <dgm:spPr/>
    </dgm:pt>
    <dgm:pt modelId="{79B14E63-805C-DE41-B89C-2B3688158754}" type="pres">
      <dgm:prSet presAssocID="{F062EC3C-6EFC-E549-B0A6-36A5EF2F31B8}" presName="node" presStyleLbl="node1" presStyleIdx="0" presStyleCnt="2" custScaleX="239476" custScaleY="210379" custRadScaleRad="153984" custRadScaleInc="117555">
        <dgm:presLayoutVars>
          <dgm:bulletEnabled val="1"/>
        </dgm:presLayoutVars>
      </dgm:prSet>
      <dgm:spPr/>
    </dgm:pt>
    <dgm:pt modelId="{9B94989B-A7B3-AC47-8930-E2D0EEEB1BF1}" type="pres">
      <dgm:prSet presAssocID="{B5FA1B05-BE5A-B048-B56B-8D581D15F0E3}" presName="Name9" presStyleLbl="parChTrans1D2" presStyleIdx="1" presStyleCnt="2"/>
      <dgm:spPr/>
    </dgm:pt>
    <dgm:pt modelId="{37EF3EA1-0525-9443-B14B-E7519F79A5FD}" type="pres">
      <dgm:prSet presAssocID="{B5FA1B05-BE5A-B048-B56B-8D581D15F0E3}" presName="connTx" presStyleLbl="parChTrans1D2" presStyleIdx="1" presStyleCnt="2"/>
      <dgm:spPr/>
    </dgm:pt>
    <dgm:pt modelId="{215F23CF-03EA-F24E-BC55-33B92E2BE58F}" type="pres">
      <dgm:prSet presAssocID="{58D67F14-4061-DE48-85BD-34BBC8A13C18}" presName="node" presStyleLbl="node1" presStyleIdx="1" presStyleCnt="2" custScaleX="266803" custScaleY="219002" custRadScaleRad="128497" custRadScaleInc="77098">
        <dgm:presLayoutVars>
          <dgm:bulletEnabled val="1"/>
        </dgm:presLayoutVars>
      </dgm:prSet>
      <dgm:spPr/>
    </dgm:pt>
  </dgm:ptLst>
  <dgm:cxnLst>
    <dgm:cxn modelId="{12064706-20F2-D544-AD8A-354D74175A74}" srcId="{F062EC3C-6EFC-E549-B0A6-36A5EF2F31B8}" destId="{F6D919FA-8043-1648-9435-3B044C874DF4}" srcOrd="0" destOrd="0" parTransId="{34BBCD0B-09C0-5C40-985D-722C6A8B8D4A}" sibTransId="{1BEA73A2-B2F5-744E-A0A4-92D6B3CBFC0C}"/>
    <dgm:cxn modelId="{95A57133-729E-6449-AE42-9094B8E404E8}" srcId="{8157F3D1-00E5-A844-9B9B-E8949A19C561}" destId="{3729A948-E60F-B544-8E88-22E92FB36AFB}" srcOrd="0" destOrd="0" parTransId="{1C56D178-35F1-AA4C-AB32-A81B70A68A80}" sibTransId="{D4B67213-9F0E-A149-9486-D0161B0E714B}"/>
    <dgm:cxn modelId="{9053543A-13DB-E14F-849E-166660EADE3B}" type="presOf" srcId="{C3196ED2-479E-7141-93AC-F6A89FA2C6ED}" destId="{B6E620A8-3870-184F-A4DF-FE9D56D0980F}" srcOrd="1" destOrd="0" presId="urn:microsoft.com/office/officeart/2005/8/layout/radial1"/>
    <dgm:cxn modelId="{7D626A3E-19C6-2A40-A03A-A04A860F1287}" srcId="{58D67F14-4061-DE48-85BD-34BBC8A13C18}" destId="{7DCF3586-AFD8-8F4A-B7BD-6F0866B52735}" srcOrd="0" destOrd="0" parTransId="{B7BE8777-84B3-E143-A280-3211AF91B6DD}" sibTransId="{5C6E8599-4CCA-8A4F-B7DB-D7B260D92DE7}"/>
    <dgm:cxn modelId="{34F2E961-D244-4D43-A4A1-955F3C2DA5A2}" type="presOf" srcId="{F6D919FA-8043-1648-9435-3B044C874DF4}" destId="{79B14E63-805C-DE41-B89C-2B3688158754}" srcOrd="0" destOrd="1" presId="urn:microsoft.com/office/officeart/2005/8/layout/radial1"/>
    <dgm:cxn modelId="{8944B358-411D-EC4D-97D8-D76732BADC3F}" type="presOf" srcId="{3729A948-E60F-B544-8E88-22E92FB36AFB}" destId="{33750716-0DAC-BC40-8E79-75B3BD9B9C84}" srcOrd="0" destOrd="0" presId="urn:microsoft.com/office/officeart/2005/8/layout/radial1"/>
    <dgm:cxn modelId="{B95D468E-E127-104C-B7FB-9918187EC789}" type="presOf" srcId="{B5FA1B05-BE5A-B048-B56B-8D581D15F0E3}" destId="{9B94989B-A7B3-AC47-8930-E2D0EEEB1BF1}" srcOrd="0" destOrd="0" presId="urn:microsoft.com/office/officeart/2005/8/layout/radial1"/>
    <dgm:cxn modelId="{365D9A90-0310-664C-957B-92412EC2F4DE}" srcId="{3729A948-E60F-B544-8E88-22E92FB36AFB}" destId="{F062EC3C-6EFC-E549-B0A6-36A5EF2F31B8}" srcOrd="0" destOrd="0" parTransId="{C3196ED2-479E-7141-93AC-F6A89FA2C6ED}" sibTransId="{E2889486-61D9-7E4B-AF3C-E41B87D58131}"/>
    <dgm:cxn modelId="{12DBE0A5-CA25-6345-99B4-C024AAA3A7FB}" type="presOf" srcId="{F062EC3C-6EFC-E549-B0A6-36A5EF2F31B8}" destId="{79B14E63-805C-DE41-B89C-2B3688158754}" srcOrd="0" destOrd="0" presId="urn:microsoft.com/office/officeart/2005/8/layout/radial1"/>
    <dgm:cxn modelId="{438D10AD-8023-E64F-AA11-9AB2327729EB}" type="presOf" srcId="{8157F3D1-00E5-A844-9B9B-E8949A19C561}" destId="{BD37C29E-7B23-4A4E-A1DC-E66BDFE0426D}" srcOrd="0" destOrd="0" presId="urn:microsoft.com/office/officeart/2005/8/layout/radial1"/>
    <dgm:cxn modelId="{735A05B4-98F6-1149-87CC-CA4D12C14BA7}" type="presOf" srcId="{7DCF3586-AFD8-8F4A-B7BD-6F0866B52735}" destId="{215F23CF-03EA-F24E-BC55-33B92E2BE58F}" srcOrd="0" destOrd="1" presId="urn:microsoft.com/office/officeart/2005/8/layout/radial1"/>
    <dgm:cxn modelId="{770E0DB4-776E-E34E-8F13-3455B0864DA4}" type="presOf" srcId="{58D67F14-4061-DE48-85BD-34BBC8A13C18}" destId="{215F23CF-03EA-F24E-BC55-33B92E2BE58F}" srcOrd="0" destOrd="0" presId="urn:microsoft.com/office/officeart/2005/8/layout/radial1"/>
    <dgm:cxn modelId="{7DBD08C9-3C5A-FB40-B495-DBC06EFAA4BB}" type="presOf" srcId="{C3196ED2-479E-7141-93AC-F6A89FA2C6ED}" destId="{4E01D2EE-6258-AD44-9D8B-05B084D8A730}" srcOrd="0" destOrd="0" presId="urn:microsoft.com/office/officeart/2005/8/layout/radial1"/>
    <dgm:cxn modelId="{F29EA5CE-4F67-0241-9A91-EFEEDE3432A4}" srcId="{3729A948-E60F-B544-8E88-22E92FB36AFB}" destId="{58D67F14-4061-DE48-85BD-34BBC8A13C18}" srcOrd="1" destOrd="0" parTransId="{B5FA1B05-BE5A-B048-B56B-8D581D15F0E3}" sibTransId="{5747ED66-9B3C-4145-936F-DB7D4A95957F}"/>
    <dgm:cxn modelId="{79EA00EA-254F-C643-AF1F-A0C9D5C06EFD}" type="presOf" srcId="{B5FA1B05-BE5A-B048-B56B-8D581D15F0E3}" destId="{37EF3EA1-0525-9443-B14B-E7519F79A5FD}" srcOrd="1" destOrd="0" presId="urn:microsoft.com/office/officeart/2005/8/layout/radial1"/>
    <dgm:cxn modelId="{8E5ABC4F-015A-5A45-8AC7-48E2219A4A6F}" type="presParOf" srcId="{BD37C29E-7B23-4A4E-A1DC-E66BDFE0426D}" destId="{33750716-0DAC-BC40-8E79-75B3BD9B9C84}" srcOrd="0" destOrd="0" presId="urn:microsoft.com/office/officeart/2005/8/layout/radial1"/>
    <dgm:cxn modelId="{6F453491-A51B-704B-A6BD-F652817E283D}" type="presParOf" srcId="{BD37C29E-7B23-4A4E-A1DC-E66BDFE0426D}" destId="{4E01D2EE-6258-AD44-9D8B-05B084D8A730}" srcOrd="1" destOrd="0" presId="urn:microsoft.com/office/officeart/2005/8/layout/radial1"/>
    <dgm:cxn modelId="{D2E3A1EC-9BC9-5243-9D2F-AF1621BADA08}" type="presParOf" srcId="{4E01D2EE-6258-AD44-9D8B-05B084D8A730}" destId="{B6E620A8-3870-184F-A4DF-FE9D56D0980F}" srcOrd="0" destOrd="0" presId="urn:microsoft.com/office/officeart/2005/8/layout/radial1"/>
    <dgm:cxn modelId="{DE855B89-12A3-DE4B-8062-2CD514E5D402}" type="presParOf" srcId="{BD37C29E-7B23-4A4E-A1DC-E66BDFE0426D}" destId="{79B14E63-805C-DE41-B89C-2B3688158754}" srcOrd="2" destOrd="0" presId="urn:microsoft.com/office/officeart/2005/8/layout/radial1"/>
    <dgm:cxn modelId="{DD55680E-8A33-6745-9C4B-1323F3B28265}" type="presParOf" srcId="{BD37C29E-7B23-4A4E-A1DC-E66BDFE0426D}" destId="{9B94989B-A7B3-AC47-8930-E2D0EEEB1BF1}" srcOrd="3" destOrd="0" presId="urn:microsoft.com/office/officeart/2005/8/layout/radial1"/>
    <dgm:cxn modelId="{1C7BC84F-98B3-FE42-8BDF-8F07D3E9D1A8}" type="presParOf" srcId="{9B94989B-A7B3-AC47-8930-E2D0EEEB1BF1}" destId="{37EF3EA1-0525-9443-B14B-E7519F79A5FD}" srcOrd="0" destOrd="0" presId="urn:microsoft.com/office/officeart/2005/8/layout/radial1"/>
    <dgm:cxn modelId="{5AA59411-EE02-6048-930A-5E0611C8B198}" type="presParOf" srcId="{BD37C29E-7B23-4A4E-A1DC-E66BDFE0426D}" destId="{215F23CF-03EA-F24E-BC55-33B92E2BE58F}" srcOrd="4"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60C3E38-7628-754A-980E-882097F46041}" type="doc">
      <dgm:prSet loTypeId="urn:microsoft.com/office/officeart/2005/8/layout/chevron2" loCatId="" qsTypeId="urn:microsoft.com/office/officeart/2005/8/quickstyle/simple4" qsCatId="simple" csTypeId="urn:microsoft.com/office/officeart/2005/8/colors/accent1_2" csCatId="accent1" phldr="1"/>
      <dgm:spPr/>
      <dgm:t>
        <a:bodyPr/>
        <a:lstStyle/>
        <a:p>
          <a:endParaRPr lang="en-US"/>
        </a:p>
      </dgm:t>
    </dgm:pt>
    <dgm:pt modelId="{F498C5BD-68DA-4644-ADF8-69D1A63D68BB}">
      <dgm:prSet/>
      <dgm:spPr/>
      <dgm:t>
        <a:bodyPr/>
        <a:lstStyle/>
        <a:p>
          <a:pPr rtl="0"/>
          <a:endParaRPr lang="en-US" dirty="0"/>
        </a:p>
      </dgm:t>
    </dgm:pt>
    <dgm:pt modelId="{29E3E288-8D65-5F46-8C7B-2F92E875D348}" type="parTrans" cxnId="{47BFAF70-0282-F440-952B-EA3CEE6DCAD5}">
      <dgm:prSet/>
      <dgm:spPr/>
      <dgm:t>
        <a:bodyPr/>
        <a:lstStyle/>
        <a:p>
          <a:endParaRPr lang="en-US"/>
        </a:p>
      </dgm:t>
    </dgm:pt>
    <dgm:pt modelId="{5168AC7E-D9F2-E44C-8529-39B0FAD3D942}" type="sibTrans" cxnId="{47BFAF70-0282-F440-952B-EA3CEE6DCAD5}">
      <dgm:prSet/>
      <dgm:spPr/>
      <dgm:t>
        <a:bodyPr/>
        <a:lstStyle/>
        <a:p>
          <a:endParaRPr lang="en-US"/>
        </a:p>
      </dgm:t>
    </dgm:pt>
    <dgm:pt modelId="{CB1FD666-9D8B-7246-94F6-E227643FDED2}">
      <dgm:prSet/>
      <dgm:spPr/>
      <dgm:t>
        <a:bodyPr/>
        <a:lstStyle/>
        <a:p>
          <a:pPr rtl="0"/>
          <a:r>
            <a:rPr lang="en-US" dirty="0"/>
            <a:t>Processes under consideration must be independent and with no synchronization requirements</a:t>
          </a:r>
        </a:p>
      </dgm:t>
    </dgm:pt>
    <dgm:pt modelId="{571E01D5-80A9-7E4E-A7F5-5D07FB011303}" type="parTrans" cxnId="{4ED4F9A1-AD76-A141-8DB0-2722E6306061}">
      <dgm:prSet/>
      <dgm:spPr/>
      <dgm:t>
        <a:bodyPr/>
        <a:lstStyle/>
        <a:p>
          <a:endParaRPr lang="en-US"/>
        </a:p>
      </dgm:t>
    </dgm:pt>
    <dgm:pt modelId="{A6D14A05-AD8F-9148-80ED-5A72D5AD1D98}" type="sibTrans" cxnId="{4ED4F9A1-AD76-A141-8DB0-2722E6306061}">
      <dgm:prSet/>
      <dgm:spPr/>
      <dgm:t>
        <a:bodyPr/>
        <a:lstStyle/>
        <a:p>
          <a:endParaRPr lang="en-US"/>
        </a:p>
      </dgm:t>
    </dgm:pt>
    <dgm:pt modelId="{77919EC8-D1BF-754D-AA52-9A9730069C75}">
      <dgm:prSet/>
      <dgm:spPr/>
      <dgm:t>
        <a:bodyPr/>
        <a:lstStyle/>
        <a:p>
          <a:pPr rtl="0"/>
          <a:r>
            <a:rPr lang="en-US" dirty="0"/>
            <a:t>There must be a fixed number of resources to allocate</a:t>
          </a:r>
        </a:p>
      </dgm:t>
    </dgm:pt>
    <dgm:pt modelId="{CE5ECDFD-3943-0043-A8A1-DA11019EB8C5}" type="parTrans" cxnId="{BF90DD4B-23EE-1041-9294-696F4022A283}">
      <dgm:prSet/>
      <dgm:spPr/>
      <dgm:t>
        <a:bodyPr/>
        <a:lstStyle/>
        <a:p>
          <a:endParaRPr lang="en-US"/>
        </a:p>
      </dgm:t>
    </dgm:pt>
    <dgm:pt modelId="{B58D0624-F25C-8245-B7E0-5D6F14921B46}" type="sibTrans" cxnId="{BF90DD4B-23EE-1041-9294-696F4022A283}">
      <dgm:prSet/>
      <dgm:spPr/>
      <dgm:t>
        <a:bodyPr/>
        <a:lstStyle/>
        <a:p>
          <a:endParaRPr lang="en-US"/>
        </a:p>
      </dgm:t>
    </dgm:pt>
    <dgm:pt modelId="{78014E2F-2802-EA4D-80DA-FB88FB99B6D2}">
      <dgm:prSet/>
      <dgm:spPr/>
      <dgm:t>
        <a:bodyPr/>
        <a:lstStyle/>
        <a:p>
          <a:pPr rtl="0"/>
          <a:r>
            <a:rPr lang="en-US" dirty="0"/>
            <a:t>No process may exit while holding resources</a:t>
          </a:r>
        </a:p>
      </dgm:t>
    </dgm:pt>
    <dgm:pt modelId="{9F1E4E15-2A07-864E-A693-6BCD1359F82C}" type="parTrans" cxnId="{3F87C0DB-4B4B-1449-A0AA-809FA9049073}">
      <dgm:prSet/>
      <dgm:spPr/>
      <dgm:t>
        <a:bodyPr/>
        <a:lstStyle/>
        <a:p>
          <a:endParaRPr lang="en-US"/>
        </a:p>
      </dgm:t>
    </dgm:pt>
    <dgm:pt modelId="{9033B088-BEA9-4F47-8421-056D82DA8AA3}" type="sibTrans" cxnId="{3F87C0DB-4B4B-1449-A0AA-809FA9049073}">
      <dgm:prSet/>
      <dgm:spPr/>
      <dgm:t>
        <a:bodyPr/>
        <a:lstStyle/>
        <a:p>
          <a:endParaRPr lang="en-US"/>
        </a:p>
      </dgm:t>
    </dgm:pt>
    <dgm:pt modelId="{449E5D40-D041-EB42-802E-C7F9A0D8FCDF}">
      <dgm:prSet/>
      <dgm:spPr/>
      <dgm:t>
        <a:bodyPr/>
        <a:lstStyle/>
        <a:p>
          <a:pPr rtl="0"/>
          <a:r>
            <a:rPr lang="en-US" dirty="0"/>
            <a:t>Maximum resource requirement for each process must be stated in advance</a:t>
          </a:r>
        </a:p>
      </dgm:t>
    </dgm:pt>
    <dgm:pt modelId="{0EF30AD3-585C-FC46-AABF-FE74C3801BBB}" type="parTrans" cxnId="{59EE8102-1F0D-914F-9EF7-5761E3C9A086}">
      <dgm:prSet/>
      <dgm:spPr/>
      <dgm:t>
        <a:bodyPr/>
        <a:lstStyle/>
        <a:p>
          <a:endParaRPr lang="en-US"/>
        </a:p>
      </dgm:t>
    </dgm:pt>
    <dgm:pt modelId="{9688F282-654D-8A48-8F14-955F03FEDFAC}" type="sibTrans" cxnId="{59EE8102-1F0D-914F-9EF7-5761E3C9A086}">
      <dgm:prSet/>
      <dgm:spPr/>
      <dgm:t>
        <a:bodyPr/>
        <a:lstStyle/>
        <a:p>
          <a:endParaRPr lang="en-US"/>
        </a:p>
      </dgm:t>
    </dgm:pt>
    <dgm:pt modelId="{7BA4C079-623C-3B42-A60D-A6DC56F6CB5E}">
      <dgm:prSet/>
      <dgm:spPr/>
      <dgm:t>
        <a:bodyPr/>
        <a:lstStyle/>
        <a:p>
          <a:pPr rtl="0"/>
          <a:endParaRPr lang="en-US"/>
        </a:p>
      </dgm:t>
    </dgm:pt>
    <dgm:pt modelId="{43F93D5B-408E-1F49-8891-C8B40402E56E}" type="parTrans" cxnId="{7CA93F8D-8BF9-BD46-B7F6-EB3CC311CD2D}">
      <dgm:prSet/>
      <dgm:spPr/>
      <dgm:t>
        <a:bodyPr/>
        <a:lstStyle/>
        <a:p>
          <a:endParaRPr lang="en-US"/>
        </a:p>
      </dgm:t>
    </dgm:pt>
    <dgm:pt modelId="{9E807F25-041A-FB4C-BE1E-3A55EF5A361B}" type="sibTrans" cxnId="{7CA93F8D-8BF9-BD46-B7F6-EB3CC311CD2D}">
      <dgm:prSet/>
      <dgm:spPr/>
      <dgm:t>
        <a:bodyPr/>
        <a:lstStyle/>
        <a:p>
          <a:endParaRPr lang="en-US"/>
        </a:p>
      </dgm:t>
    </dgm:pt>
    <dgm:pt modelId="{A7505343-D836-E44E-9650-CB024324F175}">
      <dgm:prSet/>
      <dgm:spPr/>
      <dgm:t>
        <a:bodyPr/>
        <a:lstStyle/>
        <a:p>
          <a:pPr rtl="0"/>
          <a:endParaRPr lang="en-US"/>
        </a:p>
      </dgm:t>
    </dgm:pt>
    <dgm:pt modelId="{54EDBEB6-49C3-E040-9076-741DC008BDEE}" type="parTrans" cxnId="{FAFFB8F7-7C5F-9F45-9F78-2F1D7157434E}">
      <dgm:prSet/>
      <dgm:spPr/>
      <dgm:t>
        <a:bodyPr/>
        <a:lstStyle/>
        <a:p>
          <a:endParaRPr lang="en-US"/>
        </a:p>
      </dgm:t>
    </dgm:pt>
    <dgm:pt modelId="{37721873-C57E-8145-A051-A06CD28530ED}" type="sibTrans" cxnId="{FAFFB8F7-7C5F-9F45-9F78-2F1D7157434E}">
      <dgm:prSet/>
      <dgm:spPr/>
      <dgm:t>
        <a:bodyPr/>
        <a:lstStyle/>
        <a:p>
          <a:endParaRPr lang="en-US"/>
        </a:p>
      </dgm:t>
    </dgm:pt>
    <dgm:pt modelId="{277072A7-DCFC-3647-BE8A-740DF8B40947}">
      <dgm:prSet/>
      <dgm:spPr/>
      <dgm:t>
        <a:bodyPr/>
        <a:lstStyle/>
        <a:p>
          <a:pPr rtl="0"/>
          <a:endParaRPr lang="en-US"/>
        </a:p>
      </dgm:t>
    </dgm:pt>
    <dgm:pt modelId="{B76EE4B9-E6E8-5F45-9460-9E8865F44C4F}" type="parTrans" cxnId="{6B738D77-85B4-5646-8B09-4005C6AFA13C}">
      <dgm:prSet/>
      <dgm:spPr/>
      <dgm:t>
        <a:bodyPr/>
        <a:lstStyle/>
        <a:p>
          <a:endParaRPr lang="en-US"/>
        </a:p>
      </dgm:t>
    </dgm:pt>
    <dgm:pt modelId="{29923069-B7BC-9F46-92FC-DB2A4530760C}" type="sibTrans" cxnId="{6B738D77-85B4-5646-8B09-4005C6AFA13C}">
      <dgm:prSet/>
      <dgm:spPr/>
      <dgm:t>
        <a:bodyPr/>
        <a:lstStyle/>
        <a:p>
          <a:endParaRPr lang="en-US"/>
        </a:p>
      </dgm:t>
    </dgm:pt>
    <dgm:pt modelId="{69E6B447-FD70-B34F-A8BD-43DD0BD3B500}" type="pres">
      <dgm:prSet presAssocID="{F60C3E38-7628-754A-980E-882097F46041}" presName="linearFlow" presStyleCnt="0">
        <dgm:presLayoutVars>
          <dgm:dir/>
          <dgm:animLvl val="lvl"/>
          <dgm:resizeHandles val="exact"/>
        </dgm:presLayoutVars>
      </dgm:prSet>
      <dgm:spPr/>
    </dgm:pt>
    <dgm:pt modelId="{D12E86A7-5C3B-5040-8BAC-63C241E8E693}" type="pres">
      <dgm:prSet presAssocID="{F498C5BD-68DA-4644-ADF8-69D1A63D68BB}" presName="composite" presStyleCnt="0"/>
      <dgm:spPr/>
    </dgm:pt>
    <dgm:pt modelId="{F2FD9A1D-1B89-E544-B4DF-B4127F21AFD9}" type="pres">
      <dgm:prSet presAssocID="{F498C5BD-68DA-4644-ADF8-69D1A63D68BB}" presName="parentText" presStyleLbl="alignNode1" presStyleIdx="0" presStyleCnt="4">
        <dgm:presLayoutVars>
          <dgm:chMax val="1"/>
          <dgm:bulletEnabled val="1"/>
        </dgm:presLayoutVars>
      </dgm:prSet>
      <dgm:spPr/>
    </dgm:pt>
    <dgm:pt modelId="{886D23ED-3637-CE46-A6CB-B865BE255F23}" type="pres">
      <dgm:prSet presAssocID="{F498C5BD-68DA-4644-ADF8-69D1A63D68BB}" presName="descendantText" presStyleLbl="alignAcc1" presStyleIdx="0" presStyleCnt="4">
        <dgm:presLayoutVars>
          <dgm:bulletEnabled val="1"/>
        </dgm:presLayoutVars>
      </dgm:prSet>
      <dgm:spPr/>
    </dgm:pt>
    <dgm:pt modelId="{989F3082-86ED-3341-B1FD-D97D3A9E1505}" type="pres">
      <dgm:prSet presAssocID="{5168AC7E-D9F2-E44C-8529-39B0FAD3D942}" presName="sp" presStyleCnt="0"/>
      <dgm:spPr/>
    </dgm:pt>
    <dgm:pt modelId="{CF248533-43DA-3442-8086-05AB94FE9DD9}" type="pres">
      <dgm:prSet presAssocID="{7BA4C079-623C-3B42-A60D-A6DC56F6CB5E}" presName="composite" presStyleCnt="0"/>
      <dgm:spPr/>
    </dgm:pt>
    <dgm:pt modelId="{D0F31248-269F-D144-92AD-ECFD3E15F677}" type="pres">
      <dgm:prSet presAssocID="{7BA4C079-623C-3B42-A60D-A6DC56F6CB5E}" presName="parentText" presStyleLbl="alignNode1" presStyleIdx="1" presStyleCnt="4">
        <dgm:presLayoutVars>
          <dgm:chMax val="1"/>
          <dgm:bulletEnabled val="1"/>
        </dgm:presLayoutVars>
      </dgm:prSet>
      <dgm:spPr/>
    </dgm:pt>
    <dgm:pt modelId="{6A4A87EE-4AEE-E34C-A2C3-582622EF7A13}" type="pres">
      <dgm:prSet presAssocID="{7BA4C079-623C-3B42-A60D-A6DC56F6CB5E}" presName="descendantText" presStyleLbl="alignAcc1" presStyleIdx="1" presStyleCnt="4">
        <dgm:presLayoutVars>
          <dgm:bulletEnabled val="1"/>
        </dgm:presLayoutVars>
      </dgm:prSet>
      <dgm:spPr/>
    </dgm:pt>
    <dgm:pt modelId="{CE806F0D-54BE-8B46-9C76-F8CB77C2CA95}" type="pres">
      <dgm:prSet presAssocID="{9E807F25-041A-FB4C-BE1E-3A55EF5A361B}" presName="sp" presStyleCnt="0"/>
      <dgm:spPr/>
    </dgm:pt>
    <dgm:pt modelId="{9D3F376B-8533-5147-82A7-C3E4DA425B10}" type="pres">
      <dgm:prSet presAssocID="{A7505343-D836-E44E-9650-CB024324F175}" presName="composite" presStyleCnt="0"/>
      <dgm:spPr/>
    </dgm:pt>
    <dgm:pt modelId="{C24DDD8C-FAEC-B949-B77E-7F9CA3B1AFED}" type="pres">
      <dgm:prSet presAssocID="{A7505343-D836-E44E-9650-CB024324F175}" presName="parentText" presStyleLbl="alignNode1" presStyleIdx="2" presStyleCnt="4">
        <dgm:presLayoutVars>
          <dgm:chMax val="1"/>
          <dgm:bulletEnabled val="1"/>
        </dgm:presLayoutVars>
      </dgm:prSet>
      <dgm:spPr/>
    </dgm:pt>
    <dgm:pt modelId="{EF7FB46F-9225-9141-B86D-BAF1B5E8EB3A}" type="pres">
      <dgm:prSet presAssocID="{A7505343-D836-E44E-9650-CB024324F175}" presName="descendantText" presStyleLbl="alignAcc1" presStyleIdx="2" presStyleCnt="4">
        <dgm:presLayoutVars>
          <dgm:bulletEnabled val="1"/>
        </dgm:presLayoutVars>
      </dgm:prSet>
      <dgm:spPr/>
    </dgm:pt>
    <dgm:pt modelId="{659D02F9-EE13-914E-892B-F281C782DF32}" type="pres">
      <dgm:prSet presAssocID="{37721873-C57E-8145-A051-A06CD28530ED}" presName="sp" presStyleCnt="0"/>
      <dgm:spPr/>
    </dgm:pt>
    <dgm:pt modelId="{C2C325FF-F592-DB46-B726-C528D1F2AF6F}" type="pres">
      <dgm:prSet presAssocID="{277072A7-DCFC-3647-BE8A-740DF8B40947}" presName="composite" presStyleCnt="0"/>
      <dgm:spPr/>
    </dgm:pt>
    <dgm:pt modelId="{855FF90E-CFAE-894E-9582-97B231362680}" type="pres">
      <dgm:prSet presAssocID="{277072A7-DCFC-3647-BE8A-740DF8B40947}" presName="parentText" presStyleLbl="alignNode1" presStyleIdx="3" presStyleCnt="4">
        <dgm:presLayoutVars>
          <dgm:chMax val="1"/>
          <dgm:bulletEnabled val="1"/>
        </dgm:presLayoutVars>
      </dgm:prSet>
      <dgm:spPr/>
    </dgm:pt>
    <dgm:pt modelId="{8D2DD4D3-1A75-7C4F-A25D-BD10D88794DD}" type="pres">
      <dgm:prSet presAssocID="{277072A7-DCFC-3647-BE8A-740DF8B40947}" presName="descendantText" presStyleLbl="alignAcc1" presStyleIdx="3" presStyleCnt="4">
        <dgm:presLayoutVars>
          <dgm:bulletEnabled val="1"/>
        </dgm:presLayoutVars>
      </dgm:prSet>
      <dgm:spPr/>
    </dgm:pt>
  </dgm:ptLst>
  <dgm:cxnLst>
    <dgm:cxn modelId="{59EE8102-1F0D-914F-9EF7-5761E3C9A086}" srcId="{F498C5BD-68DA-4644-ADF8-69D1A63D68BB}" destId="{449E5D40-D041-EB42-802E-C7F9A0D8FCDF}" srcOrd="0" destOrd="0" parTransId="{0EF30AD3-585C-FC46-AABF-FE74C3801BBB}" sibTransId="{9688F282-654D-8A48-8F14-955F03FEDFAC}"/>
    <dgm:cxn modelId="{869C5B3A-5F39-8945-B0C3-92759F87B036}" type="presOf" srcId="{277072A7-DCFC-3647-BE8A-740DF8B40947}" destId="{855FF90E-CFAE-894E-9582-97B231362680}" srcOrd="0" destOrd="0" presId="urn:microsoft.com/office/officeart/2005/8/layout/chevron2"/>
    <dgm:cxn modelId="{D028B73B-39B9-304E-8B1B-BD57BC05CE8C}" type="presOf" srcId="{78014E2F-2802-EA4D-80DA-FB88FB99B6D2}" destId="{8D2DD4D3-1A75-7C4F-A25D-BD10D88794DD}" srcOrd="0" destOrd="0" presId="urn:microsoft.com/office/officeart/2005/8/layout/chevron2"/>
    <dgm:cxn modelId="{C012555C-5839-424A-BCA9-2FBBBDE4C159}" type="presOf" srcId="{77919EC8-D1BF-754D-AA52-9A9730069C75}" destId="{EF7FB46F-9225-9141-B86D-BAF1B5E8EB3A}" srcOrd="0" destOrd="0" presId="urn:microsoft.com/office/officeart/2005/8/layout/chevron2"/>
    <dgm:cxn modelId="{69B75B66-C560-0842-957D-8CA53BC224C3}" type="presOf" srcId="{F498C5BD-68DA-4644-ADF8-69D1A63D68BB}" destId="{F2FD9A1D-1B89-E544-B4DF-B4127F21AFD9}" srcOrd="0" destOrd="0" presId="urn:microsoft.com/office/officeart/2005/8/layout/chevron2"/>
    <dgm:cxn modelId="{BF90DD4B-23EE-1041-9294-696F4022A283}" srcId="{A7505343-D836-E44E-9650-CB024324F175}" destId="{77919EC8-D1BF-754D-AA52-9A9730069C75}" srcOrd="0" destOrd="0" parTransId="{CE5ECDFD-3943-0043-A8A1-DA11019EB8C5}" sibTransId="{B58D0624-F25C-8245-B7E0-5D6F14921B46}"/>
    <dgm:cxn modelId="{477D6E6D-1524-404D-AF92-413F8B1F4651}" type="presOf" srcId="{449E5D40-D041-EB42-802E-C7F9A0D8FCDF}" destId="{886D23ED-3637-CE46-A6CB-B865BE255F23}" srcOrd="0" destOrd="0" presId="urn:microsoft.com/office/officeart/2005/8/layout/chevron2"/>
    <dgm:cxn modelId="{47BFAF70-0282-F440-952B-EA3CEE6DCAD5}" srcId="{F60C3E38-7628-754A-980E-882097F46041}" destId="{F498C5BD-68DA-4644-ADF8-69D1A63D68BB}" srcOrd="0" destOrd="0" parTransId="{29E3E288-8D65-5F46-8C7B-2F92E875D348}" sibTransId="{5168AC7E-D9F2-E44C-8529-39B0FAD3D942}"/>
    <dgm:cxn modelId="{EB201151-FF13-FA43-9AC4-9DF3E2EF0062}" type="presOf" srcId="{CB1FD666-9D8B-7246-94F6-E227643FDED2}" destId="{6A4A87EE-4AEE-E34C-A2C3-582622EF7A13}" srcOrd="0" destOrd="0" presId="urn:microsoft.com/office/officeart/2005/8/layout/chevron2"/>
    <dgm:cxn modelId="{6B738D77-85B4-5646-8B09-4005C6AFA13C}" srcId="{F60C3E38-7628-754A-980E-882097F46041}" destId="{277072A7-DCFC-3647-BE8A-740DF8B40947}" srcOrd="3" destOrd="0" parTransId="{B76EE4B9-E6E8-5F45-9460-9E8865F44C4F}" sibTransId="{29923069-B7BC-9F46-92FC-DB2A4530760C}"/>
    <dgm:cxn modelId="{7CA93F8D-8BF9-BD46-B7F6-EB3CC311CD2D}" srcId="{F60C3E38-7628-754A-980E-882097F46041}" destId="{7BA4C079-623C-3B42-A60D-A6DC56F6CB5E}" srcOrd="1" destOrd="0" parTransId="{43F93D5B-408E-1F49-8891-C8B40402E56E}" sibTransId="{9E807F25-041A-FB4C-BE1E-3A55EF5A361B}"/>
    <dgm:cxn modelId="{08666E9E-E541-794C-A0D2-47822D0C8F5B}" type="presOf" srcId="{7BA4C079-623C-3B42-A60D-A6DC56F6CB5E}" destId="{D0F31248-269F-D144-92AD-ECFD3E15F677}" srcOrd="0" destOrd="0" presId="urn:microsoft.com/office/officeart/2005/8/layout/chevron2"/>
    <dgm:cxn modelId="{4ED4F9A1-AD76-A141-8DB0-2722E6306061}" srcId="{7BA4C079-623C-3B42-A60D-A6DC56F6CB5E}" destId="{CB1FD666-9D8B-7246-94F6-E227643FDED2}" srcOrd="0" destOrd="0" parTransId="{571E01D5-80A9-7E4E-A7F5-5D07FB011303}" sibTransId="{A6D14A05-AD8F-9148-80ED-5A72D5AD1D98}"/>
    <dgm:cxn modelId="{7E0C55CD-8F08-864E-B749-EBEAB756E8A3}" type="presOf" srcId="{F60C3E38-7628-754A-980E-882097F46041}" destId="{69E6B447-FD70-B34F-A8BD-43DD0BD3B500}" srcOrd="0" destOrd="0" presId="urn:microsoft.com/office/officeart/2005/8/layout/chevron2"/>
    <dgm:cxn modelId="{17592ADB-34F9-9F43-8620-DECFAEC357D7}" type="presOf" srcId="{A7505343-D836-E44E-9650-CB024324F175}" destId="{C24DDD8C-FAEC-B949-B77E-7F9CA3B1AFED}" srcOrd="0" destOrd="0" presId="urn:microsoft.com/office/officeart/2005/8/layout/chevron2"/>
    <dgm:cxn modelId="{3F87C0DB-4B4B-1449-A0AA-809FA9049073}" srcId="{277072A7-DCFC-3647-BE8A-740DF8B40947}" destId="{78014E2F-2802-EA4D-80DA-FB88FB99B6D2}" srcOrd="0" destOrd="0" parTransId="{9F1E4E15-2A07-864E-A693-6BCD1359F82C}" sibTransId="{9033B088-BEA9-4F47-8421-056D82DA8AA3}"/>
    <dgm:cxn modelId="{FAFFB8F7-7C5F-9F45-9F78-2F1D7157434E}" srcId="{F60C3E38-7628-754A-980E-882097F46041}" destId="{A7505343-D836-E44E-9650-CB024324F175}" srcOrd="2" destOrd="0" parTransId="{54EDBEB6-49C3-E040-9076-741DC008BDEE}" sibTransId="{37721873-C57E-8145-A051-A06CD28530ED}"/>
    <dgm:cxn modelId="{B7A169B3-BE19-1643-B6F7-F8559AD45CF9}" type="presParOf" srcId="{69E6B447-FD70-B34F-A8BD-43DD0BD3B500}" destId="{D12E86A7-5C3B-5040-8BAC-63C241E8E693}" srcOrd="0" destOrd="0" presId="urn:microsoft.com/office/officeart/2005/8/layout/chevron2"/>
    <dgm:cxn modelId="{9EC9DC79-9D49-0744-9806-5DADDF594BA4}" type="presParOf" srcId="{D12E86A7-5C3B-5040-8BAC-63C241E8E693}" destId="{F2FD9A1D-1B89-E544-B4DF-B4127F21AFD9}" srcOrd="0" destOrd="0" presId="urn:microsoft.com/office/officeart/2005/8/layout/chevron2"/>
    <dgm:cxn modelId="{B529714B-8E24-5E43-AD43-3E5B93D44AD4}" type="presParOf" srcId="{D12E86A7-5C3B-5040-8BAC-63C241E8E693}" destId="{886D23ED-3637-CE46-A6CB-B865BE255F23}" srcOrd="1" destOrd="0" presId="urn:microsoft.com/office/officeart/2005/8/layout/chevron2"/>
    <dgm:cxn modelId="{5B73136E-2A8A-7E42-B24F-AAF940A327B0}" type="presParOf" srcId="{69E6B447-FD70-B34F-A8BD-43DD0BD3B500}" destId="{989F3082-86ED-3341-B1FD-D97D3A9E1505}" srcOrd="1" destOrd="0" presId="urn:microsoft.com/office/officeart/2005/8/layout/chevron2"/>
    <dgm:cxn modelId="{400E46BE-A3F8-9F48-93A2-CF0DACFB190F}" type="presParOf" srcId="{69E6B447-FD70-B34F-A8BD-43DD0BD3B500}" destId="{CF248533-43DA-3442-8086-05AB94FE9DD9}" srcOrd="2" destOrd="0" presId="urn:microsoft.com/office/officeart/2005/8/layout/chevron2"/>
    <dgm:cxn modelId="{F4B51477-5B3F-4148-9175-EE8905FCF32D}" type="presParOf" srcId="{CF248533-43DA-3442-8086-05AB94FE9DD9}" destId="{D0F31248-269F-D144-92AD-ECFD3E15F677}" srcOrd="0" destOrd="0" presId="urn:microsoft.com/office/officeart/2005/8/layout/chevron2"/>
    <dgm:cxn modelId="{7CAEBD45-A9C6-4943-A141-912CBF756C9E}" type="presParOf" srcId="{CF248533-43DA-3442-8086-05AB94FE9DD9}" destId="{6A4A87EE-4AEE-E34C-A2C3-582622EF7A13}" srcOrd="1" destOrd="0" presId="urn:microsoft.com/office/officeart/2005/8/layout/chevron2"/>
    <dgm:cxn modelId="{8B9E1CEB-C008-D24A-A251-1893491B77E1}" type="presParOf" srcId="{69E6B447-FD70-B34F-A8BD-43DD0BD3B500}" destId="{CE806F0D-54BE-8B46-9C76-F8CB77C2CA95}" srcOrd="3" destOrd="0" presId="urn:microsoft.com/office/officeart/2005/8/layout/chevron2"/>
    <dgm:cxn modelId="{C7D4888B-722B-344E-9A69-621CB60C9FD1}" type="presParOf" srcId="{69E6B447-FD70-B34F-A8BD-43DD0BD3B500}" destId="{9D3F376B-8533-5147-82A7-C3E4DA425B10}" srcOrd="4" destOrd="0" presId="urn:microsoft.com/office/officeart/2005/8/layout/chevron2"/>
    <dgm:cxn modelId="{A69909A1-A7A1-514C-916E-DD21587577E3}" type="presParOf" srcId="{9D3F376B-8533-5147-82A7-C3E4DA425B10}" destId="{C24DDD8C-FAEC-B949-B77E-7F9CA3B1AFED}" srcOrd="0" destOrd="0" presId="urn:microsoft.com/office/officeart/2005/8/layout/chevron2"/>
    <dgm:cxn modelId="{AA27B707-33B1-E542-8E78-2EB02BD4AD85}" type="presParOf" srcId="{9D3F376B-8533-5147-82A7-C3E4DA425B10}" destId="{EF7FB46F-9225-9141-B86D-BAF1B5E8EB3A}" srcOrd="1" destOrd="0" presId="urn:microsoft.com/office/officeart/2005/8/layout/chevron2"/>
    <dgm:cxn modelId="{3A98BBF1-EE54-204C-B425-A4035FB8348F}" type="presParOf" srcId="{69E6B447-FD70-B34F-A8BD-43DD0BD3B500}" destId="{659D02F9-EE13-914E-892B-F281C782DF32}" srcOrd="5" destOrd="0" presId="urn:microsoft.com/office/officeart/2005/8/layout/chevron2"/>
    <dgm:cxn modelId="{23DE7940-FEEF-9144-A8F7-A993A0F08B6C}" type="presParOf" srcId="{69E6B447-FD70-B34F-A8BD-43DD0BD3B500}" destId="{C2C325FF-F592-DB46-B726-C528D1F2AF6F}" srcOrd="6" destOrd="0" presId="urn:microsoft.com/office/officeart/2005/8/layout/chevron2"/>
    <dgm:cxn modelId="{4770962F-F80F-574D-A8E6-11F52EE5B6BD}" type="presParOf" srcId="{C2C325FF-F592-DB46-B726-C528D1F2AF6F}" destId="{855FF90E-CFAE-894E-9582-97B231362680}" srcOrd="0" destOrd="0" presId="urn:microsoft.com/office/officeart/2005/8/layout/chevron2"/>
    <dgm:cxn modelId="{0BF857EA-AE56-0742-871A-50AF401C7F2D}" type="presParOf" srcId="{C2C325FF-F592-DB46-B726-C528D1F2AF6F}" destId="{8D2DD4D3-1A75-7C4F-A25D-BD10D88794DD}"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4982EA1-1697-BB4A-962F-C690979B5CA8}"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0AB1442D-F7B0-E942-9A45-FD45BB7014C2}">
      <dgm:prSet phldrT="[Text]"/>
      <dgm:spPr/>
      <dgm:t>
        <a:bodyPr/>
        <a:lstStyle/>
        <a:p>
          <a:r>
            <a:rPr lang="en-NZ" dirty="0"/>
            <a:t>Deadlock prevention strategies are very conservative </a:t>
          </a:r>
          <a:endParaRPr lang="en-US" dirty="0"/>
        </a:p>
      </dgm:t>
    </dgm:pt>
    <dgm:pt modelId="{5C3232EA-EF5A-B543-AA34-F5EA22451935}" type="parTrans" cxnId="{B5E981DF-CB83-664E-8C44-59CE0161DEF1}">
      <dgm:prSet/>
      <dgm:spPr/>
      <dgm:t>
        <a:bodyPr/>
        <a:lstStyle/>
        <a:p>
          <a:endParaRPr lang="en-US"/>
        </a:p>
      </dgm:t>
    </dgm:pt>
    <dgm:pt modelId="{71F6A3BE-C94D-5545-B2EA-0383E28509F0}" type="sibTrans" cxnId="{B5E981DF-CB83-664E-8C44-59CE0161DEF1}">
      <dgm:prSet/>
      <dgm:spPr/>
      <dgm:t>
        <a:bodyPr/>
        <a:lstStyle/>
        <a:p>
          <a:endParaRPr lang="en-US"/>
        </a:p>
      </dgm:t>
    </dgm:pt>
    <dgm:pt modelId="{41116F9D-1093-C541-8F24-AF923714F38C}">
      <dgm:prSet/>
      <dgm:spPr/>
      <dgm:t>
        <a:bodyPr/>
        <a:lstStyle/>
        <a:p>
          <a:r>
            <a:rPr lang="en-NZ" dirty="0"/>
            <a:t>limit access to resources by imposing restrictions on processes</a:t>
          </a:r>
        </a:p>
      </dgm:t>
    </dgm:pt>
    <dgm:pt modelId="{3F92352A-7F66-B447-B744-93E870DD631A}" type="parTrans" cxnId="{CBFAC14B-D317-954E-BCFE-91AE11A29E6B}">
      <dgm:prSet/>
      <dgm:spPr/>
      <dgm:t>
        <a:bodyPr/>
        <a:lstStyle/>
        <a:p>
          <a:endParaRPr lang="en-US"/>
        </a:p>
      </dgm:t>
    </dgm:pt>
    <dgm:pt modelId="{7B1B513D-36B5-4A43-B336-4B67BFB3508D}" type="sibTrans" cxnId="{CBFAC14B-D317-954E-BCFE-91AE11A29E6B}">
      <dgm:prSet/>
      <dgm:spPr/>
      <dgm:t>
        <a:bodyPr/>
        <a:lstStyle/>
        <a:p>
          <a:endParaRPr lang="en-US"/>
        </a:p>
      </dgm:t>
    </dgm:pt>
    <dgm:pt modelId="{A05E3648-D5D8-884B-B502-F041268A61FA}">
      <dgm:prSet/>
      <dgm:spPr>
        <a:solidFill>
          <a:schemeClr val="accent2">
            <a:lumMod val="50000"/>
          </a:schemeClr>
        </a:solidFill>
      </dgm:spPr>
      <dgm:t>
        <a:bodyPr/>
        <a:lstStyle/>
        <a:p>
          <a:r>
            <a:rPr lang="en-NZ"/>
            <a:t>Deadlock detection strategies do the opposite</a:t>
          </a:r>
          <a:endParaRPr lang="en-NZ" dirty="0"/>
        </a:p>
      </dgm:t>
    </dgm:pt>
    <dgm:pt modelId="{ED0AD63D-3D5B-6241-A915-A44324621227}" type="parTrans" cxnId="{58BB09FB-99DF-6848-B8E7-F0CA2EE73C58}">
      <dgm:prSet/>
      <dgm:spPr/>
      <dgm:t>
        <a:bodyPr/>
        <a:lstStyle/>
        <a:p>
          <a:endParaRPr lang="en-US"/>
        </a:p>
      </dgm:t>
    </dgm:pt>
    <dgm:pt modelId="{CACE43C1-E9E0-7D40-A855-F893DDB38B68}" type="sibTrans" cxnId="{58BB09FB-99DF-6848-B8E7-F0CA2EE73C58}">
      <dgm:prSet/>
      <dgm:spPr/>
      <dgm:t>
        <a:bodyPr/>
        <a:lstStyle/>
        <a:p>
          <a:endParaRPr lang="en-US"/>
        </a:p>
      </dgm:t>
    </dgm:pt>
    <dgm:pt modelId="{5380344C-DA25-CD4C-B915-F3E83DF92C05}">
      <dgm:prSet/>
      <dgm:spPr/>
      <dgm:t>
        <a:bodyPr/>
        <a:lstStyle/>
        <a:p>
          <a:r>
            <a:rPr lang="en-NZ" dirty="0"/>
            <a:t>resource requests are granted whenever possible</a:t>
          </a:r>
        </a:p>
      </dgm:t>
    </dgm:pt>
    <dgm:pt modelId="{CDAE4444-319E-E945-B28D-A5173018DFF8}" type="parTrans" cxnId="{6F329487-9DDD-7C49-A768-83BC556C2E9A}">
      <dgm:prSet/>
      <dgm:spPr/>
      <dgm:t>
        <a:bodyPr/>
        <a:lstStyle/>
        <a:p>
          <a:endParaRPr lang="en-US"/>
        </a:p>
      </dgm:t>
    </dgm:pt>
    <dgm:pt modelId="{4C57FB35-CC7B-6B4E-B88F-83E2BBAD4667}" type="sibTrans" cxnId="{6F329487-9DDD-7C49-A768-83BC556C2E9A}">
      <dgm:prSet/>
      <dgm:spPr/>
      <dgm:t>
        <a:bodyPr/>
        <a:lstStyle/>
        <a:p>
          <a:endParaRPr lang="en-US"/>
        </a:p>
      </dgm:t>
    </dgm:pt>
    <dgm:pt modelId="{C1DDCA54-C9A0-A94D-8D3C-914551118621}" type="pres">
      <dgm:prSet presAssocID="{A4982EA1-1697-BB4A-962F-C690979B5CA8}" presName="linear" presStyleCnt="0">
        <dgm:presLayoutVars>
          <dgm:animLvl val="lvl"/>
          <dgm:resizeHandles val="exact"/>
        </dgm:presLayoutVars>
      </dgm:prSet>
      <dgm:spPr/>
    </dgm:pt>
    <dgm:pt modelId="{69A1457E-6F82-714B-9684-358489247C06}" type="pres">
      <dgm:prSet presAssocID="{0AB1442D-F7B0-E942-9A45-FD45BB7014C2}" presName="parentText" presStyleLbl="node1" presStyleIdx="0" presStyleCnt="2">
        <dgm:presLayoutVars>
          <dgm:chMax val="0"/>
          <dgm:bulletEnabled val="1"/>
        </dgm:presLayoutVars>
      </dgm:prSet>
      <dgm:spPr/>
    </dgm:pt>
    <dgm:pt modelId="{D2A3FB79-225F-F645-9263-70FD35EA9D07}" type="pres">
      <dgm:prSet presAssocID="{0AB1442D-F7B0-E942-9A45-FD45BB7014C2}" presName="childText" presStyleLbl="revTx" presStyleIdx="0" presStyleCnt="2">
        <dgm:presLayoutVars>
          <dgm:bulletEnabled val="1"/>
        </dgm:presLayoutVars>
      </dgm:prSet>
      <dgm:spPr/>
    </dgm:pt>
    <dgm:pt modelId="{08A9A630-6BC3-5044-A148-A2D3991B226A}" type="pres">
      <dgm:prSet presAssocID="{A05E3648-D5D8-884B-B502-F041268A61FA}" presName="parentText" presStyleLbl="node1" presStyleIdx="1" presStyleCnt="2">
        <dgm:presLayoutVars>
          <dgm:chMax val="0"/>
          <dgm:bulletEnabled val="1"/>
        </dgm:presLayoutVars>
      </dgm:prSet>
      <dgm:spPr/>
    </dgm:pt>
    <dgm:pt modelId="{106A0A9A-EAED-1142-8E93-D86999C38394}" type="pres">
      <dgm:prSet presAssocID="{A05E3648-D5D8-884B-B502-F041268A61FA}" presName="childText" presStyleLbl="revTx" presStyleIdx="1" presStyleCnt="2">
        <dgm:presLayoutVars>
          <dgm:bulletEnabled val="1"/>
        </dgm:presLayoutVars>
      </dgm:prSet>
      <dgm:spPr/>
    </dgm:pt>
  </dgm:ptLst>
  <dgm:cxnLst>
    <dgm:cxn modelId="{1B2D8102-6F51-BE4E-A021-1476754105FB}" type="presOf" srcId="{5380344C-DA25-CD4C-B915-F3E83DF92C05}" destId="{106A0A9A-EAED-1142-8E93-D86999C38394}" srcOrd="0" destOrd="0" presId="urn:microsoft.com/office/officeart/2005/8/layout/vList2"/>
    <dgm:cxn modelId="{194BDF17-623D-514C-99C5-248B8906FF0C}" type="presOf" srcId="{0AB1442D-F7B0-E942-9A45-FD45BB7014C2}" destId="{69A1457E-6F82-714B-9684-358489247C06}" srcOrd="0" destOrd="0" presId="urn:microsoft.com/office/officeart/2005/8/layout/vList2"/>
    <dgm:cxn modelId="{125C7265-353C-CD41-BBB9-7A4CF0D99034}" type="presOf" srcId="{A05E3648-D5D8-884B-B502-F041268A61FA}" destId="{08A9A630-6BC3-5044-A148-A2D3991B226A}" srcOrd="0" destOrd="0" presId="urn:microsoft.com/office/officeart/2005/8/layout/vList2"/>
    <dgm:cxn modelId="{CBFAC14B-D317-954E-BCFE-91AE11A29E6B}" srcId="{0AB1442D-F7B0-E942-9A45-FD45BB7014C2}" destId="{41116F9D-1093-C541-8F24-AF923714F38C}" srcOrd="0" destOrd="0" parTransId="{3F92352A-7F66-B447-B744-93E870DD631A}" sibTransId="{7B1B513D-36B5-4A43-B336-4B67BFB3508D}"/>
    <dgm:cxn modelId="{6F329487-9DDD-7C49-A768-83BC556C2E9A}" srcId="{A05E3648-D5D8-884B-B502-F041268A61FA}" destId="{5380344C-DA25-CD4C-B915-F3E83DF92C05}" srcOrd="0" destOrd="0" parTransId="{CDAE4444-319E-E945-B28D-A5173018DFF8}" sibTransId="{4C57FB35-CC7B-6B4E-B88F-83E2BBAD4667}"/>
    <dgm:cxn modelId="{5F75CBA0-771A-9148-8413-52ADC87F5509}" type="presOf" srcId="{41116F9D-1093-C541-8F24-AF923714F38C}" destId="{D2A3FB79-225F-F645-9263-70FD35EA9D07}" srcOrd="0" destOrd="0" presId="urn:microsoft.com/office/officeart/2005/8/layout/vList2"/>
    <dgm:cxn modelId="{B5E981DF-CB83-664E-8C44-59CE0161DEF1}" srcId="{A4982EA1-1697-BB4A-962F-C690979B5CA8}" destId="{0AB1442D-F7B0-E942-9A45-FD45BB7014C2}" srcOrd="0" destOrd="0" parTransId="{5C3232EA-EF5A-B543-AA34-F5EA22451935}" sibTransId="{71F6A3BE-C94D-5545-B2EA-0383E28509F0}"/>
    <dgm:cxn modelId="{DB6E02F9-ED0C-1D40-B758-FCF9E0FE16DE}" type="presOf" srcId="{A4982EA1-1697-BB4A-962F-C690979B5CA8}" destId="{C1DDCA54-C9A0-A94D-8D3C-914551118621}" srcOrd="0" destOrd="0" presId="urn:microsoft.com/office/officeart/2005/8/layout/vList2"/>
    <dgm:cxn modelId="{58BB09FB-99DF-6848-B8E7-F0CA2EE73C58}" srcId="{A4982EA1-1697-BB4A-962F-C690979B5CA8}" destId="{A05E3648-D5D8-884B-B502-F041268A61FA}" srcOrd="1" destOrd="0" parTransId="{ED0AD63D-3D5B-6241-A915-A44324621227}" sibTransId="{CACE43C1-E9E0-7D40-A855-F893DDB38B68}"/>
    <dgm:cxn modelId="{A9CA8283-D107-DE44-9AF2-AA0F69A05CA9}" type="presParOf" srcId="{C1DDCA54-C9A0-A94D-8D3C-914551118621}" destId="{69A1457E-6F82-714B-9684-358489247C06}" srcOrd="0" destOrd="0" presId="urn:microsoft.com/office/officeart/2005/8/layout/vList2"/>
    <dgm:cxn modelId="{6347209F-2DD0-244F-949E-A5585F7F8F06}" type="presParOf" srcId="{C1DDCA54-C9A0-A94D-8D3C-914551118621}" destId="{D2A3FB79-225F-F645-9263-70FD35EA9D07}" srcOrd="1" destOrd="0" presId="urn:microsoft.com/office/officeart/2005/8/layout/vList2"/>
    <dgm:cxn modelId="{1A93334C-1F46-B145-99BC-A9F26C1A3AC3}" type="presParOf" srcId="{C1DDCA54-C9A0-A94D-8D3C-914551118621}" destId="{08A9A630-6BC3-5044-A148-A2D3991B226A}" srcOrd="2" destOrd="0" presId="urn:microsoft.com/office/officeart/2005/8/layout/vList2"/>
    <dgm:cxn modelId="{8241538C-77F4-7447-8B92-2A7CDC7D9224}" type="presParOf" srcId="{C1DDCA54-C9A0-A94D-8D3C-914551118621}" destId="{106A0A9A-EAED-1142-8E93-D86999C38394}"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C513320-B510-7246-B38E-888B30FCCCB1}" type="doc">
      <dgm:prSet loTypeId="urn:microsoft.com/office/officeart/2005/8/layout/arrow4" loCatId="" qsTypeId="urn:microsoft.com/office/officeart/2005/8/quickstyle/simple4" qsCatId="simple" csTypeId="urn:microsoft.com/office/officeart/2005/8/colors/accent1_2" csCatId="accent1" phldr="1"/>
      <dgm:spPr/>
      <dgm:t>
        <a:bodyPr/>
        <a:lstStyle/>
        <a:p>
          <a:endParaRPr lang="en-US"/>
        </a:p>
      </dgm:t>
    </dgm:pt>
    <dgm:pt modelId="{542ADEA3-DD61-8846-9F75-8E1F4846D843}">
      <dgm:prSet phldrT="[Text]"/>
      <dgm:spPr/>
      <dgm:t>
        <a:bodyPr/>
        <a:lstStyle/>
        <a:p>
          <a:r>
            <a:rPr lang="en-NZ"/>
            <a:t>Advantages:</a:t>
          </a:r>
          <a:endParaRPr lang="en-US"/>
        </a:p>
      </dgm:t>
    </dgm:pt>
    <dgm:pt modelId="{07DC4457-50FF-A14F-864A-0E86F277E3B9}" type="parTrans" cxnId="{4C41D010-5F2C-1846-8D6C-2418AD200283}">
      <dgm:prSet/>
      <dgm:spPr/>
      <dgm:t>
        <a:bodyPr/>
        <a:lstStyle/>
        <a:p>
          <a:endParaRPr lang="en-US"/>
        </a:p>
      </dgm:t>
    </dgm:pt>
    <dgm:pt modelId="{491C7949-4184-B34F-8664-D7D6CED92DDF}" type="sibTrans" cxnId="{4C41D010-5F2C-1846-8D6C-2418AD200283}">
      <dgm:prSet/>
      <dgm:spPr/>
      <dgm:t>
        <a:bodyPr/>
        <a:lstStyle/>
        <a:p>
          <a:endParaRPr lang="en-US"/>
        </a:p>
      </dgm:t>
    </dgm:pt>
    <dgm:pt modelId="{192623A6-B749-D940-A5F6-2FEB4377FAC6}">
      <dgm:prSet/>
      <dgm:spPr/>
      <dgm:t>
        <a:bodyPr/>
        <a:lstStyle/>
        <a:p>
          <a:r>
            <a:rPr lang="en-NZ"/>
            <a:t>it leads to early detection</a:t>
          </a:r>
          <a:endParaRPr lang="en-NZ" dirty="0"/>
        </a:p>
      </dgm:t>
    </dgm:pt>
    <dgm:pt modelId="{4D851669-A260-E441-98C6-D85C02547742}" type="parTrans" cxnId="{B87D94E0-781D-A041-B80C-6DF5D1DD814A}">
      <dgm:prSet/>
      <dgm:spPr/>
      <dgm:t>
        <a:bodyPr/>
        <a:lstStyle/>
        <a:p>
          <a:endParaRPr lang="en-US"/>
        </a:p>
      </dgm:t>
    </dgm:pt>
    <dgm:pt modelId="{B657F5D2-7391-9443-B7E1-2E0E57A00F4F}" type="sibTrans" cxnId="{B87D94E0-781D-A041-B80C-6DF5D1DD814A}">
      <dgm:prSet/>
      <dgm:spPr/>
      <dgm:t>
        <a:bodyPr/>
        <a:lstStyle/>
        <a:p>
          <a:endParaRPr lang="en-US"/>
        </a:p>
      </dgm:t>
    </dgm:pt>
    <dgm:pt modelId="{3A8468E8-4E83-BF44-A60E-FC399A63CFB7}">
      <dgm:prSet/>
      <dgm:spPr/>
      <dgm:t>
        <a:bodyPr/>
        <a:lstStyle/>
        <a:p>
          <a:r>
            <a:rPr lang="en-NZ" dirty="0"/>
            <a:t>the algorithm is relatively simple</a:t>
          </a:r>
        </a:p>
      </dgm:t>
    </dgm:pt>
    <dgm:pt modelId="{E3511754-634B-0D46-BEE8-FF0A57ECC231}" type="parTrans" cxnId="{C9C7837E-F27F-1A40-BF05-AE8A35774B01}">
      <dgm:prSet/>
      <dgm:spPr/>
      <dgm:t>
        <a:bodyPr/>
        <a:lstStyle/>
        <a:p>
          <a:endParaRPr lang="en-US"/>
        </a:p>
      </dgm:t>
    </dgm:pt>
    <dgm:pt modelId="{692BC71E-1C1E-FB40-A37E-B28DDC746130}" type="sibTrans" cxnId="{C9C7837E-F27F-1A40-BF05-AE8A35774B01}">
      <dgm:prSet/>
      <dgm:spPr/>
      <dgm:t>
        <a:bodyPr/>
        <a:lstStyle/>
        <a:p>
          <a:endParaRPr lang="en-US"/>
        </a:p>
      </dgm:t>
    </dgm:pt>
    <dgm:pt modelId="{5EC62C39-5D1E-0947-9967-ED4094E6F336}">
      <dgm:prSet/>
      <dgm:spPr/>
      <dgm:t>
        <a:bodyPr/>
        <a:lstStyle/>
        <a:p>
          <a:r>
            <a:rPr lang="en-NZ"/>
            <a:t>Disadvantage</a:t>
          </a:r>
          <a:endParaRPr lang="en-NZ" dirty="0"/>
        </a:p>
      </dgm:t>
    </dgm:pt>
    <dgm:pt modelId="{C254CA92-4214-D645-8337-CFA2B2E7293E}" type="parTrans" cxnId="{EBD3AC82-1214-E544-9809-7F94DAD99501}">
      <dgm:prSet/>
      <dgm:spPr/>
      <dgm:t>
        <a:bodyPr/>
        <a:lstStyle/>
        <a:p>
          <a:endParaRPr lang="en-US"/>
        </a:p>
      </dgm:t>
    </dgm:pt>
    <dgm:pt modelId="{F3441977-EAA4-7845-AA70-3EBAB23C1AAA}" type="sibTrans" cxnId="{EBD3AC82-1214-E544-9809-7F94DAD99501}">
      <dgm:prSet/>
      <dgm:spPr/>
      <dgm:t>
        <a:bodyPr/>
        <a:lstStyle/>
        <a:p>
          <a:endParaRPr lang="en-US"/>
        </a:p>
      </dgm:t>
    </dgm:pt>
    <dgm:pt modelId="{483DF84F-B392-CE44-9BC1-22C81E8A67DC}">
      <dgm:prSet/>
      <dgm:spPr/>
      <dgm:t>
        <a:bodyPr/>
        <a:lstStyle/>
        <a:p>
          <a:r>
            <a:rPr lang="en-NZ" dirty="0"/>
            <a:t>frequent checks consume considerable processor time</a:t>
          </a:r>
        </a:p>
      </dgm:t>
    </dgm:pt>
    <dgm:pt modelId="{74D7CA43-654D-944C-B5E8-327FEB1A949B}" type="parTrans" cxnId="{DC378C70-05BA-A84C-8F6E-7567B823FCE3}">
      <dgm:prSet/>
      <dgm:spPr/>
      <dgm:t>
        <a:bodyPr/>
        <a:lstStyle/>
        <a:p>
          <a:endParaRPr lang="en-US"/>
        </a:p>
      </dgm:t>
    </dgm:pt>
    <dgm:pt modelId="{41666786-992A-E041-9F08-3EE06FFB0A5F}" type="sibTrans" cxnId="{DC378C70-05BA-A84C-8F6E-7567B823FCE3}">
      <dgm:prSet/>
      <dgm:spPr/>
      <dgm:t>
        <a:bodyPr/>
        <a:lstStyle/>
        <a:p>
          <a:endParaRPr lang="en-US"/>
        </a:p>
      </dgm:t>
    </dgm:pt>
    <dgm:pt modelId="{6B4E353E-7815-0C4E-A2AC-66663DBC748F}" type="pres">
      <dgm:prSet presAssocID="{8C513320-B510-7246-B38E-888B30FCCCB1}" presName="compositeShape" presStyleCnt="0">
        <dgm:presLayoutVars>
          <dgm:chMax val="2"/>
          <dgm:dir/>
          <dgm:resizeHandles val="exact"/>
        </dgm:presLayoutVars>
      </dgm:prSet>
      <dgm:spPr/>
    </dgm:pt>
    <dgm:pt modelId="{8F05821B-8690-3643-AEC1-64B51AC1545C}" type="pres">
      <dgm:prSet presAssocID="{542ADEA3-DD61-8846-9F75-8E1F4846D843}" presName="upArrow" presStyleLbl="node1" presStyleIdx="0" presStyleCnt="2"/>
      <dgm:spPr/>
    </dgm:pt>
    <dgm:pt modelId="{4AF069EA-EC98-CA45-A086-7FA7E99EA8A6}" type="pres">
      <dgm:prSet presAssocID="{542ADEA3-DD61-8846-9F75-8E1F4846D843}" presName="upArrowText" presStyleLbl="revTx" presStyleIdx="0" presStyleCnt="2">
        <dgm:presLayoutVars>
          <dgm:chMax val="0"/>
          <dgm:bulletEnabled val="1"/>
        </dgm:presLayoutVars>
      </dgm:prSet>
      <dgm:spPr/>
    </dgm:pt>
    <dgm:pt modelId="{6DD9CEB5-DFB1-8348-9CA6-D5671ECD380A}" type="pres">
      <dgm:prSet presAssocID="{5EC62C39-5D1E-0947-9967-ED4094E6F336}" presName="downArrow" presStyleLbl="node1" presStyleIdx="1" presStyleCnt="2"/>
      <dgm:spPr>
        <a:solidFill>
          <a:schemeClr val="accent6">
            <a:lumMod val="50000"/>
            <a:alpha val="76000"/>
          </a:schemeClr>
        </a:solidFill>
      </dgm:spPr>
    </dgm:pt>
    <dgm:pt modelId="{5B807A66-FA4A-EA45-9E62-5BAF4765C594}" type="pres">
      <dgm:prSet presAssocID="{5EC62C39-5D1E-0947-9967-ED4094E6F336}" presName="downArrowText" presStyleLbl="revTx" presStyleIdx="1" presStyleCnt="2">
        <dgm:presLayoutVars>
          <dgm:chMax val="0"/>
          <dgm:bulletEnabled val="1"/>
        </dgm:presLayoutVars>
      </dgm:prSet>
      <dgm:spPr/>
    </dgm:pt>
  </dgm:ptLst>
  <dgm:cxnLst>
    <dgm:cxn modelId="{4C41D010-5F2C-1846-8D6C-2418AD200283}" srcId="{8C513320-B510-7246-B38E-888B30FCCCB1}" destId="{542ADEA3-DD61-8846-9F75-8E1F4846D843}" srcOrd="0" destOrd="0" parTransId="{07DC4457-50FF-A14F-864A-0E86F277E3B9}" sibTransId="{491C7949-4184-B34F-8664-D7D6CED92DDF}"/>
    <dgm:cxn modelId="{BC6B853C-7B02-CE4E-8368-D6B8D0D16C77}" type="presOf" srcId="{3A8468E8-4E83-BF44-A60E-FC399A63CFB7}" destId="{4AF069EA-EC98-CA45-A086-7FA7E99EA8A6}" srcOrd="0" destOrd="2" presId="urn:microsoft.com/office/officeart/2005/8/layout/arrow4"/>
    <dgm:cxn modelId="{4D976160-B68C-F94E-A528-99CE280422EA}" type="presOf" srcId="{542ADEA3-DD61-8846-9F75-8E1F4846D843}" destId="{4AF069EA-EC98-CA45-A086-7FA7E99EA8A6}" srcOrd="0" destOrd="0" presId="urn:microsoft.com/office/officeart/2005/8/layout/arrow4"/>
    <dgm:cxn modelId="{DC378C70-05BA-A84C-8F6E-7567B823FCE3}" srcId="{5EC62C39-5D1E-0947-9967-ED4094E6F336}" destId="{483DF84F-B392-CE44-9BC1-22C81E8A67DC}" srcOrd="0" destOrd="0" parTransId="{74D7CA43-654D-944C-B5E8-327FEB1A949B}" sibTransId="{41666786-992A-E041-9F08-3EE06FFB0A5F}"/>
    <dgm:cxn modelId="{B4102671-FB45-6D47-B949-BFDBDC678A3C}" type="presOf" srcId="{483DF84F-B392-CE44-9BC1-22C81E8A67DC}" destId="{5B807A66-FA4A-EA45-9E62-5BAF4765C594}" srcOrd="0" destOrd="1" presId="urn:microsoft.com/office/officeart/2005/8/layout/arrow4"/>
    <dgm:cxn modelId="{0760CA54-2EF0-6243-9A84-3022330E37A3}" type="presOf" srcId="{8C513320-B510-7246-B38E-888B30FCCCB1}" destId="{6B4E353E-7815-0C4E-A2AC-66663DBC748F}" srcOrd="0" destOrd="0" presId="urn:microsoft.com/office/officeart/2005/8/layout/arrow4"/>
    <dgm:cxn modelId="{C9C7837E-F27F-1A40-BF05-AE8A35774B01}" srcId="{542ADEA3-DD61-8846-9F75-8E1F4846D843}" destId="{3A8468E8-4E83-BF44-A60E-FC399A63CFB7}" srcOrd="1" destOrd="0" parTransId="{E3511754-634B-0D46-BEE8-FF0A57ECC231}" sibTransId="{692BC71E-1C1E-FB40-A37E-B28DDC746130}"/>
    <dgm:cxn modelId="{EBD3AC82-1214-E544-9809-7F94DAD99501}" srcId="{8C513320-B510-7246-B38E-888B30FCCCB1}" destId="{5EC62C39-5D1E-0947-9967-ED4094E6F336}" srcOrd="1" destOrd="0" parTransId="{C254CA92-4214-D645-8337-CFA2B2E7293E}" sibTransId="{F3441977-EAA4-7845-AA70-3EBAB23C1AAA}"/>
    <dgm:cxn modelId="{DAE6E0AE-7E33-6043-AB2F-E8E868A7E7D7}" type="presOf" srcId="{5EC62C39-5D1E-0947-9967-ED4094E6F336}" destId="{5B807A66-FA4A-EA45-9E62-5BAF4765C594}" srcOrd="0" destOrd="0" presId="urn:microsoft.com/office/officeart/2005/8/layout/arrow4"/>
    <dgm:cxn modelId="{0B2BC5B8-54AD-CD4E-9072-1F0972CD9DB8}" type="presOf" srcId="{192623A6-B749-D940-A5F6-2FEB4377FAC6}" destId="{4AF069EA-EC98-CA45-A086-7FA7E99EA8A6}" srcOrd="0" destOrd="1" presId="urn:microsoft.com/office/officeart/2005/8/layout/arrow4"/>
    <dgm:cxn modelId="{B87D94E0-781D-A041-B80C-6DF5D1DD814A}" srcId="{542ADEA3-DD61-8846-9F75-8E1F4846D843}" destId="{192623A6-B749-D940-A5F6-2FEB4377FAC6}" srcOrd="0" destOrd="0" parTransId="{4D851669-A260-E441-98C6-D85C02547742}" sibTransId="{B657F5D2-7391-9443-B7E1-2E0E57A00F4F}"/>
    <dgm:cxn modelId="{30B004C7-81CC-2C4D-BD04-44A4AE4CD4B5}" type="presParOf" srcId="{6B4E353E-7815-0C4E-A2AC-66663DBC748F}" destId="{8F05821B-8690-3643-AEC1-64B51AC1545C}" srcOrd="0" destOrd="0" presId="urn:microsoft.com/office/officeart/2005/8/layout/arrow4"/>
    <dgm:cxn modelId="{A1025AAD-5303-C146-B4CB-8E4408CD11E1}" type="presParOf" srcId="{6B4E353E-7815-0C4E-A2AC-66663DBC748F}" destId="{4AF069EA-EC98-CA45-A086-7FA7E99EA8A6}" srcOrd="1" destOrd="0" presId="urn:microsoft.com/office/officeart/2005/8/layout/arrow4"/>
    <dgm:cxn modelId="{EB2A47F8-9261-3447-9BDA-1DFABD2ED529}" type="presParOf" srcId="{6B4E353E-7815-0C4E-A2AC-66663DBC748F}" destId="{6DD9CEB5-DFB1-8348-9CA6-D5671ECD380A}" srcOrd="2" destOrd="0" presId="urn:microsoft.com/office/officeart/2005/8/layout/arrow4"/>
    <dgm:cxn modelId="{D4C0807B-6F2E-8C43-844F-AB43976293F3}" type="presParOf" srcId="{6B4E353E-7815-0C4E-A2AC-66663DBC748F}" destId="{5B807A66-FA4A-EA45-9E62-5BAF4765C594}" srcOrd="3"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F5FE58-0E4F-1448-8B6D-1E52F620776C}">
      <dsp:nvSpPr>
        <dsp:cNvPr id="0" name=""/>
        <dsp:cNvSpPr/>
      </dsp:nvSpPr>
      <dsp:spPr>
        <a:xfrm>
          <a:off x="0" y="0"/>
          <a:ext cx="6541770" cy="1988820"/>
        </a:xfrm>
        <a:prstGeom prst="roundRect">
          <a:avLst>
            <a:gd name="adj" fmla="val 1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NZ" sz="2000" b="1" kern="1200" dirty="0"/>
            <a:t>Reusable</a:t>
          </a:r>
          <a:endParaRPr lang="en-US" sz="2000" b="1" kern="1200" dirty="0"/>
        </a:p>
        <a:p>
          <a:pPr marL="171450" lvl="1" indent="-171450" algn="l" defTabSz="711200">
            <a:lnSpc>
              <a:spcPct val="90000"/>
            </a:lnSpc>
            <a:spcBef>
              <a:spcPct val="0"/>
            </a:spcBef>
            <a:spcAft>
              <a:spcPct val="15000"/>
            </a:spcAft>
            <a:buChar char="•"/>
          </a:pPr>
          <a:r>
            <a:rPr lang="en-NZ" sz="1600" kern="1200" dirty="0"/>
            <a:t>can be safely used by only one process at a time and is not depleted by that use</a:t>
          </a:r>
        </a:p>
        <a:p>
          <a:pPr marL="342900" lvl="2" indent="-171450" algn="l" defTabSz="711200">
            <a:lnSpc>
              <a:spcPct val="90000"/>
            </a:lnSpc>
            <a:spcBef>
              <a:spcPct val="0"/>
            </a:spcBef>
            <a:spcAft>
              <a:spcPct val="15000"/>
            </a:spcAft>
            <a:buChar char="•"/>
          </a:pPr>
          <a:r>
            <a:rPr lang="en-US" sz="1600" kern="1200" dirty="0"/>
            <a:t>processors, I/O channels, main and secondary memory, devices, and data structures such as files, databases, and semaphores</a:t>
          </a:r>
        </a:p>
      </dsp:txBody>
      <dsp:txXfrm>
        <a:off x="58251" y="58251"/>
        <a:ext cx="4486168" cy="1872318"/>
      </dsp:txXfrm>
    </dsp:sp>
    <dsp:sp modelId="{FBCB8F57-C548-1C43-A637-8BC0E0917159}">
      <dsp:nvSpPr>
        <dsp:cNvPr id="0" name=""/>
        <dsp:cNvSpPr/>
      </dsp:nvSpPr>
      <dsp:spPr>
        <a:xfrm>
          <a:off x="1154429" y="2430780"/>
          <a:ext cx="6541770" cy="1988820"/>
        </a:xfrm>
        <a:prstGeom prst="roundRect">
          <a:avLst>
            <a:gd name="adj" fmla="val 1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NZ" sz="2000" b="1" kern="1200" dirty="0"/>
            <a:t>Consumable</a:t>
          </a:r>
        </a:p>
        <a:p>
          <a:pPr marL="171450" lvl="1" indent="-171450" algn="l" defTabSz="711200">
            <a:lnSpc>
              <a:spcPct val="90000"/>
            </a:lnSpc>
            <a:spcBef>
              <a:spcPct val="0"/>
            </a:spcBef>
            <a:spcAft>
              <a:spcPct val="15000"/>
            </a:spcAft>
            <a:buChar char="•"/>
          </a:pPr>
          <a:r>
            <a:rPr lang="en-NZ" sz="1600" kern="1200" dirty="0"/>
            <a:t>one that can be created (produced) and destroyed (consumed)</a:t>
          </a:r>
        </a:p>
        <a:p>
          <a:pPr marL="342900" lvl="2" indent="-171450" algn="l" defTabSz="711200">
            <a:lnSpc>
              <a:spcPct val="90000"/>
            </a:lnSpc>
            <a:spcBef>
              <a:spcPct val="0"/>
            </a:spcBef>
            <a:spcAft>
              <a:spcPct val="15000"/>
            </a:spcAft>
            <a:buChar char="•"/>
          </a:pPr>
          <a:r>
            <a:rPr lang="en-US" sz="1600" kern="1200" dirty="0"/>
            <a:t>interrupts, signals, messages, and information in I/O buffers</a:t>
          </a:r>
        </a:p>
      </dsp:txBody>
      <dsp:txXfrm>
        <a:off x="1212680" y="2489031"/>
        <a:ext cx="3978105" cy="1872317"/>
      </dsp:txXfrm>
    </dsp:sp>
    <dsp:sp modelId="{22B4735D-FDE9-0F4D-8517-6404F300167D}">
      <dsp:nvSpPr>
        <dsp:cNvPr id="0" name=""/>
        <dsp:cNvSpPr/>
      </dsp:nvSpPr>
      <dsp:spPr>
        <a:xfrm>
          <a:off x="5256444" y="1629576"/>
          <a:ext cx="1277918" cy="1160447"/>
        </a:xfrm>
        <a:prstGeom prst="downArrow">
          <a:avLst>
            <a:gd name="adj1" fmla="val 55000"/>
            <a:gd name="adj2" fmla="val 45000"/>
          </a:avLst>
        </a:prstGeom>
        <a:solidFill>
          <a:schemeClr val="bg1"/>
        </a:solidFill>
        <a:ln w="15875" cap="flat" cmpd="sng" algn="ctr">
          <a:solidFill>
            <a:schemeClr val="accent1">
              <a:lumMod val="60000"/>
              <a:lumOff val="4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543976" y="1629576"/>
        <a:ext cx="702854" cy="8732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0692A2-8C4F-0545-98A7-FD5743A081D9}">
      <dsp:nvSpPr>
        <dsp:cNvPr id="0" name=""/>
        <dsp:cNvSpPr/>
      </dsp:nvSpPr>
      <dsp:spPr>
        <a:xfrm>
          <a:off x="1398" y="213008"/>
          <a:ext cx="1803462" cy="656065"/>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Mutual Exclusion</a:t>
          </a:r>
        </a:p>
      </dsp:txBody>
      <dsp:txXfrm>
        <a:off x="1398" y="213008"/>
        <a:ext cx="1803462" cy="656065"/>
      </dsp:txXfrm>
    </dsp:sp>
    <dsp:sp modelId="{613BAD88-1300-C64D-8478-28BDFCA247EE}">
      <dsp:nvSpPr>
        <dsp:cNvPr id="0" name=""/>
        <dsp:cNvSpPr/>
      </dsp:nvSpPr>
      <dsp:spPr>
        <a:xfrm>
          <a:off x="0" y="914895"/>
          <a:ext cx="1803462" cy="3261317"/>
        </a:xfrm>
        <a:prstGeom prst="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only one process may use a resource at a time</a:t>
          </a:r>
        </a:p>
      </dsp:txBody>
      <dsp:txXfrm>
        <a:off x="0" y="914895"/>
        <a:ext cx="1803462" cy="3261317"/>
      </dsp:txXfrm>
    </dsp:sp>
    <dsp:sp modelId="{F7B771C4-1781-334A-A9CC-6AB6388019C2}">
      <dsp:nvSpPr>
        <dsp:cNvPr id="0" name=""/>
        <dsp:cNvSpPr/>
      </dsp:nvSpPr>
      <dsp:spPr>
        <a:xfrm>
          <a:off x="2057345" y="213008"/>
          <a:ext cx="1803462" cy="656065"/>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Hold-and-Wait</a:t>
          </a:r>
        </a:p>
      </dsp:txBody>
      <dsp:txXfrm>
        <a:off x="2057345" y="213008"/>
        <a:ext cx="1803462" cy="656065"/>
      </dsp:txXfrm>
    </dsp:sp>
    <dsp:sp modelId="{CE427A8D-A2CB-E34E-B99B-527B0A4E0DC8}">
      <dsp:nvSpPr>
        <dsp:cNvPr id="0" name=""/>
        <dsp:cNvSpPr/>
      </dsp:nvSpPr>
      <dsp:spPr>
        <a:xfrm>
          <a:off x="2057399" y="914895"/>
          <a:ext cx="1803462" cy="3261317"/>
        </a:xfrm>
        <a:prstGeom prst="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a process may hold allocated resources while awaiting assignment of others</a:t>
          </a:r>
        </a:p>
      </dsp:txBody>
      <dsp:txXfrm>
        <a:off x="2057399" y="914895"/>
        <a:ext cx="1803462" cy="3261317"/>
      </dsp:txXfrm>
    </dsp:sp>
    <dsp:sp modelId="{8AD7747F-C6FB-8D40-8D93-2E53B586D4AB}">
      <dsp:nvSpPr>
        <dsp:cNvPr id="0" name=""/>
        <dsp:cNvSpPr/>
      </dsp:nvSpPr>
      <dsp:spPr>
        <a:xfrm>
          <a:off x="4113292" y="213008"/>
          <a:ext cx="1982762" cy="656065"/>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NZ" sz="1900" kern="1200" dirty="0"/>
            <a:t>No Pre-emption</a:t>
          </a:r>
        </a:p>
      </dsp:txBody>
      <dsp:txXfrm>
        <a:off x="4113292" y="213008"/>
        <a:ext cx="1982762" cy="656065"/>
      </dsp:txXfrm>
    </dsp:sp>
    <dsp:sp modelId="{F1B2B33B-D78F-B548-832F-D31F12C1AEA8}">
      <dsp:nvSpPr>
        <dsp:cNvPr id="0" name=""/>
        <dsp:cNvSpPr/>
      </dsp:nvSpPr>
      <dsp:spPr>
        <a:xfrm>
          <a:off x="4191003" y="914895"/>
          <a:ext cx="1803462" cy="3261317"/>
        </a:xfrm>
        <a:prstGeom prst="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NZ" sz="1900" kern="1200" dirty="0"/>
            <a:t>no resource can be forcibly removed from a process holding it</a:t>
          </a:r>
        </a:p>
      </dsp:txBody>
      <dsp:txXfrm>
        <a:off x="4191003" y="914895"/>
        <a:ext cx="1803462" cy="3261317"/>
      </dsp:txXfrm>
    </dsp:sp>
    <dsp:sp modelId="{92B94131-7DF3-D247-8535-7A1175868520}">
      <dsp:nvSpPr>
        <dsp:cNvPr id="0" name=""/>
        <dsp:cNvSpPr/>
      </dsp:nvSpPr>
      <dsp:spPr>
        <a:xfrm>
          <a:off x="6348539" y="213008"/>
          <a:ext cx="1803462" cy="656065"/>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NZ" sz="1900" kern="1200" dirty="0"/>
            <a:t>Circular Wait</a:t>
          </a:r>
        </a:p>
      </dsp:txBody>
      <dsp:txXfrm>
        <a:off x="6348539" y="213008"/>
        <a:ext cx="1803462" cy="656065"/>
      </dsp:txXfrm>
    </dsp:sp>
    <dsp:sp modelId="{583D7356-1B1B-AD42-925D-161669EB54CA}">
      <dsp:nvSpPr>
        <dsp:cNvPr id="0" name=""/>
        <dsp:cNvSpPr/>
      </dsp:nvSpPr>
      <dsp:spPr>
        <a:xfrm>
          <a:off x="6349937" y="914895"/>
          <a:ext cx="1803462" cy="3261317"/>
        </a:xfrm>
        <a:prstGeom prst="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NZ" sz="1900" kern="1200" dirty="0"/>
            <a:t>a closed chain of processes exists, such that each process holds at least one resource needed by the next process in  the chain</a:t>
          </a:r>
        </a:p>
      </dsp:txBody>
      <dsp:txXfrm>
        <a:off x="6349937" y="914895"/>
        <a:ext cx="1803462" cy="32613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F543C-883A-3143-B8FF-3427F8EB3AC7}">
      <dsp:nvSpPr>
        <dsp:cNvPr id="0" name=""/>
        <dsp:cNvSpPr/>
      </dsp:nvSpPr>
      <dsp:spPr>
        <a:xfrm>
          <a:off x="0" y="246468"/>
          <a:ext cx="7315200" cy="720562"/>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67741" tIns="312420" rIns="567741" bIns="142240" numCol="1" spcCol="1270" anchor="t" anchorCtr="0">
          <a:noAutofit/>
        </a:bodyPr>
        <a:lstStyle/>
        <a:p>
          <a:pPr marL="228600" lvl="1" indent="-228600" algn="l" defTabSz="889000">
            <a:lnSpc>
              <a:spcPct val="90000"/>
            </a:lnSpc>
            <a:spcBef>
              <a:spcPct val="0"/>
            </a:spcBef>
            <a:spcAft>
              <a:spcPct val="15000"/>
            </a:spcAft>
            <a:buChar char="•"/>
          </a:pPr>
          <a:r>
            <a:rPr lang="en-NZ" sz="2000" kern="1200" dirty="0"/>
            <a:t>adopt a policy that eliminates one of the conditions</a:t>
          </a:r>
        </a:p>
      </dsp:txBody>
      <dsp:txXfrm>
        <a:off x="0" y="246468"/>
        <a:ext cx="7315200" cy="720562"/>
      </dsp:txXfrm>
    </dsp:sp>
    <dsp:sp modelId="{C76E62B7-E6F6-F44C-BFF3-94CA42A82033}">
      <dsp:nvSpPr>
        <dsp:cNvPr id="0" name=""/>
        <dsp:cNvSpPr/>
      </dsp:nvSpPr>
      <dsp:spPr>
        <a:xfrm>
          <a:off x="365760" y="25068"/>
          <a:ext cx="5120640" cy="4428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3548" tIns="0" rIns="193548" bIns="0" numCol="1" spcCol="1270" anchor="ctr" anchorCtr="0">
          <a:noAutofit/>
        </a:bodyPr>
        <a:lstStyle/>
        <a:p>
          <a:pPr marL="0" lvl="0" indent="0" algn="l" defTabSz="977900">
            <a:lnSpc>
              <a:spcPct val="90000"/>
            </a:lnSpc>
            <a:spcBef>
              <a:spcPct val="0"/>
            </a:spcBef>
            <a:spcAft>
              <a:spcPct val="35000"/>
            </a:spcAft>
            <a:buNone/>
          </a:pPr>
          <a:r>
            <a:rPr lang="en-NZ" sz="2200" kern="1200" dirty="0"/>
            <a:t>Prevent Deadlock</a:t>
          </a:r>
          <a:endParaRPr lang="en-US" sz="2200" kern="1200" dirty="0"/>
        </a:p>
      </dsp:txBody>
      <dsp:txXfrm>
        <a:off x="387376" y="46684"/>
        <a:ext cx="5077408" cy="399568"/>
      </dsp:txXfrm>
    </dsp:sp>
    <dsp:sp modelId="{CA916DCC-847C-7B4D-8447-2804E95D8344}">
      <dsp:nvSpPr>
        <dsp:cNvPr id="0" name=""/>
        <dsp:cNvSpPr/>
      </dsp:nvSpPr>
      <dsp:spPr>
        <a:xfrm>
          <a:off x="0" y="1269431"/>
          <a:ext cx="7315200" cy="9922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67741" tIns="312420" rIns="567741" bIns="142240" numCol="1" spcCol="1270" anchor="t" anchorCtr="0">
          <a:noAutofit/>
        </a:bodyPr>
        <a:lstStyle/>
        <a:p>
          <a:pPr marL="228600" lvl="1" indent="-228600" algn="l" defTabSz="889000">
            <a:lnSpc>
              <a:spcPct val="90000"/>
            </a:lnSpc>
            <a:spcBef>
              <a:spcPct val="0"/>
            </a:spcBef>
            <a:spcAft>
              <a:spcPct val="15000"/>
            </a:spcAft>
            <a:buChar char="•"/>
          </a:pPr>
          <a:r>
            <a:rPr lang="en-NZ" sz="2000" kern="1200" dirty="0"/>
            <a:t>make the appropriate dynamic choices based on the current state of resource allocation</a:t>
          </a:r>
        </a:p>
      </dsp:txBody>
      <dsp:txXfrm>
        <a:off x="0" y="1269431"/>
        <a:ext cx="7315200" cy="992250"/>
      </dsp:txXfrm>
    </dsp:sp>
    <dsp:sp modelId="{9CC9D5C0-7055-5F44-9C06-CD7F32234211}">
      <dsp:nvSpPr>
        <dsp:cNvPr id="0" name=""/>
        <dsp:cNvSpPr/>
      </dsp:nvSpPr>
      <dsp:spPr>
        <a:xfrm>
          <a:off x="365760" y="1048031"/>
          <a:ext cx="5120640" cy="4428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3548" tIns="0" rIns="193548" bIns="0" numCol="1" spcCol="1270" anchor="ctr" anchorCtr="0">
          <a:noAutofit/>
        </a:bodyPr>
        <a:lstStyle/>
        <a:p>
          <a:pPr marL="0" lvl="0" indent="0" algn="l" defTabSz="977900">
            <a:lnSpc>
              <a:spcPct val="90000"/>
            </a:lnSpc>
            <a:spcBef>
              <a:spcPct val="0"/>
            </a:spcBef>
            <a:spcAft>
              <a:spcPct val="35000"/>
            </a:spcAft>
            <a:buNone/>
          </a:pPr>
          <a:r>
            <a:rPr lang="en-NZ" sz="2200" kern="1200" dirty="0"/>
            <a:t>Avoid Deadlock</a:t>
          </a:r>
        </a:p>
      </dsp:txBody>
      <dsp:txXfrm>
        <a:off x="387376" y="1069647"/>
        <a:ext cx="5077408" cy="399568"/>
      </dsp:txXfrm>
    </dsp:sp>
    <dsp:sp modelId="{57643F7F-6EBC-A944-A76A-1EA714F7B29A}">
      <dsp:nvSpPr>
        <dsp:cNvPr id="0" name=""/>
        <dsp:cNvSpPr/>
      </dsp:nvSpPr>
      <dsp:spPr>
        <a:xfrm>
          <a:off x="0" y="2564081"/>
          <a:ext cx="7315200" cy="9922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67741" tIns="312420" rIns="567741" bIns="142240" numCol="1" spcCol="1270" anchor="t" anchorCtr="0">
          <a:noAutofit/>
        </a:bodyPr>
        <a:lstStyle/>
        <a:p>
          <a:pPr marL="228600" lvl="1" indent="-228600" algn="l" defTabSz="889000">
            <a:lnSpc>
              <a:spcPct val="90000"/>
            </a:lnSpc>
            <a:spcBef>
              <a:spcPct val="0"/>
            </a:spcBef>
            <a:spcAft>
              <a:spcPct val="15000"/>
            </a:spcAft>
            <a:buChar char="•"/>
          </a:pPr>
          <a:r>
            <a:rPr lang="en-NZ" sz="2000" kern="1200" dirty="0"/>
            <a:t>attempt to detect the presence of deadlock and take action to recover</a:t>
          </a:r>
        </a:p>
      </dsp:txBody>
      <dsp:txXfrm>
        <a:off x="0" y="2564081"/>
        <a:ext cx="7315200" cy="992250"/>
      </dsp:txXfrm>
    </dsp:sp>
    <dsp:sp modelId="{B6B6CCBA-6755-1B42-93ED-C3B536073808}">
      <dsp:nvSpPr>
        <dsp:cNvPr id="0" name=""/>
        <dsp:cNvSpPr/>
      </dsp:nvSpPr>
      <dsp:spPr>
        <a:xfrm>
          <a:off x="365760" y="2342681"/>
          <a:ext cx="5120640" cy="4428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3548" tIns="0" rIns="193548" bIns="0" numCol="1" spcCol="1270" anchor="ctr" anchorCtr="0">
          <a:noAutofit/>
        </a:bodyPr>
        <a:lstStyle/>
        <a:p>
          <a:pPr marL="0" lvl="0" indent="0" algn="l" defTabSz="977900">
            <a:lnSpc>
              <a:spcPct val="90000"/>
            </a:lnSpc>
            <a:spcBef>
              <a:spcPct val="0"/>
            </a:spcBef>
            <a:spcAft>
              <a:spcPct val="35000"/>
            </a:spcAft>
            <a:buNone/>
          </a:pPr>
          <a:r>
            <a:rPr lang="en-NZ" sz="2200" kern="1200" dirty="0"/>
            <a:t>Detect Deadlock</a:t>
          </a:r>
        </a:p>
      </dsp:txBody>
      <dsp:txXfrm>
        <a:off x="387376" y="2364297"/>
        <a:ext cx="5077408" cy="39956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FF2B9D-26D2-A44F-9E18-FDC677BD1D09}">
      <dsp:nvSpPr>
        <dsp:cNvPr id="0" name=""/>
        <dsp:cNvSpPr/>
      </dsp:nvSpPr>
      <dsp:spPr>
        <a:xfrm>
          <a:off x="3072" y="111422"/>
          <a:ext cx="3019127" cy="150956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Mutual Exclusion</a:t>
          </a:r>
        </a:p>
      </dsp:txBody>
      <dsp:txXfrm>
        <a:off x="47286" y="155636"/>
        <a:ext cx="2930699" cy="1421135"/>
      </dsp:txXfrm>
    </dsp:sp>
    <dsp:sp modelId="{60F002DE-5B92-314F-B8EB-59BEC6FCAD53}">
      <dsp:nvSpPr>
        <dsp:cNvPr id="0" name=""/>
        <dsp:cNvSpPr/>
      </dsp:nvSpPr>
      <dsp:spPr>
        <a:xfrm>
          <a:off x="304985" y="1620985"/>
          <a:ext cx="301912" cy="1132172"/>
        </a:xfrm>
        <a:custGeom>
          <a:avLst/>
          <a:gdLst/>
          <a:ahLst/>
          <a:cxnLst/>
          <a:rect l="0" t="0" r="0" b="0"/>
          <a:pathLst>
            <a:path>
              <a:moveTo>
                <a:pt x="0" y="0"/>
              </a:moveTo>
              <a:lnTo>
                <a:pt x="0" y="1132172"/>
              </a:lnTo>
              <a:lnTo>
                <a:pt x="301912" y="1132172"/>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7630BD2-C147-434D-9AE2-A781C2BD8B3D}">
      <dsp:nvSpPr>
        <dsp:cNvPr id="0" name=""/>
        <dsp:cNvSpPr/>
      </dsp:nvSpPr>
      <dsp:spPr>
        <a:xfrm>
          <a:off x="606898" y="1998376"/>
          <a:ext cx="2415301" cy="150956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if access to a resource requires mutual exclusion then it must be supported by the OS</a:t>
          </a:r>
        </a:p>
      </dsp:txBody>
      <dsp:txXfrm>
        <a:off x="651112" y="2042590"/>
        <a:ext cx="2326873" cy="1421135"/>
      </dsp:txXfrm>
    </dsp:sp>
    <dsp:sp modelId="{F0B0B8F8-69E5-5349-82BB-435D76CEDD77}">
      <dsp:nvSpPr>
        <dsp:cNvPr id="0" name=""/>
        <dsp:cNvSpPr/>
      </dsp:nvSpPr>
      <dsp:spPr>
        <a:xfrm>
          <a:off x="3776981" y="111422"/>
          <a:ext cx="3019127" cy="150956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Hold and Wait</a:t>
          </a:r>
        </a:p>
      </dsp:txBody>
      <dsp:txXfrm>
        <a:off x="3821195" y="155636"/>
        <a:ext cx="2930699" cy="1421135"/>
      </dsp:txXfrm>
    </dsp:sp>
    <dsp:sp modelId="{5E003098-C1CA-7547-973E-268F1C53ECA3}">
      <dsp:nvSpPr>
        <dsp:cNvPr id="0" name=""/>
        <dsp:cNvSpPr/>
      </dsp:nvSpPr>
      <dsp:spPr>
        <a:xfrm>
          <a:off x="4078894" y="1620985"/>
          <a:ext cx="301912" cy="1570391"/>
        </a:xfrm>
        <a:custGeom>
          <a:avLst/>
          <a:gdLst/>
          <a:ahLst/>
          <a:cxnLst/>
          <a:rect l="0" t="0" r="0" b="0"/>
          <a:pathLst>
            <a:path>
              <a:moveTo>
                <a:pt x="0" y="0"/>
              </a:moveTo>
              <a:lnTo>
                <a:pt x="0" y="1570391"/>
              </a:lnTo>
              <a:lnTo>
                <a:pt x="301912" y="1570391"/>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4ACE6A4-5292-684B-BADA-4484BB0C4C6D}">
      <dsp:nvSpPr>
        <dsp:cNvPr id="0" name=""/>
        <dsp:cNvSpPr/>
      </dsp:nvSpPr>
      <dsp:spPr>
        <a:xfrm>
          <a:off x="4380807" y="1998376"/>
          <a:ext cx="2626520" cy="238600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require that a process requests all of its required resources at </a:t>
          </a:r>
          <a:r>
            <a:rPr lang="en-US" sz="2000" u="sng" kern="1200" dirty="0"/>
            <a:t>one time </a:t>
          </a:r>
          <a:r>
            <a:rPr lang="en-US" sz="2000" kern="1200" dirty="0"/>
            <a:t>and </a:t>
          </a:r>
          <a:r>
            <a:rPr lang="en-US" sz="2000" u="sng" kern="1200" dirty="0"/>
            <a:t>blocking</a:t>
          </a:r>
          <a:r>
            <a:rPr lang="en-US" sz="2000" kern="1200" dirty="0"/>
            <a:t> the process until all requests can be granted simultaneously</a:t>
          </a:r>
        </a:p>
      </dsp:txBody>
      <dsp:txXfrm>
        <a:off x="4450691" y="2068260"/>
        <a:ext cx="2486752" cy="224623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750716-0DAC-BC40-8E79-75B3BD9B9C84}">
      <dsp:nvSpPr>
        <dsp:cNvPr id="0" name=""/>
        <dsp:cNvSpPr/>
      </dsp:nvSpPr>
      <dsp:spPr>
        <a:xfrm>
          <a:off x="2895602" y="476366"/>
          <a:ext cx="2296013" cy="1809632"/>
        </a:xfrm>
        <a:prstGeom prst="ellipse">
          <a:avLst/>
        </a:prstGeom>
        <a:solidFill>
          <a:schemeClr val="accent6">
            <a:alpha val="76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Deadlock Avoidance</a:t>
          </a:r>
        </a:p>
      </dsp:txBody>
      <dsp:txXfrm>
        <a:off x="3231845" y="741380"/>
        <a:ext cx="1623527" cy="1279604"/>
      </dsp:txXfrm>
    </dsp:sp>
    <dsp:sp modelId="{4E01D2EE-6258-AD44-9D8B-05B084D8A730}">
      <dsp:nvSpPr>
        <dsp:cNvPr id="0" name=""/>
        <dsp:cNvSpPr/>
      </dsp:nvSpPr>
      <dsp:spPr>
        <a:xfrm rot="2189751">
          <a:off x="4853801" y="2066876"/>
          <a:ext cx="273531" cy="29823"/>
        </a:xfrm>
        <a:custGeom>
          <a:avLst/>
          <a:gdLst/>
          <a:ahLst/>
          <a:cxnLst/>
          <a:rect l="0" t="0" r="0" b="0"/>
          <a:pathLst>
            <a:path>
              <a:moveTo>
                <a:pt x="0" y="14911"/>
              </a:moveTo>
              <a:lnTo>
                <a:pt x="273531" y="14911"/>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83728" y="2074950"/>
        <a:ext cx="13676" cy="13676"/>
      </dsp:txXfrm>
    </dsp:sp>
    <dsp:sp modelId="{79B14E63-805C-DE41-B89C-2B3688158754}">
      <dsp:nvSpPr>
        <dsp:cNvPr id="0" name=""/>
        <dsp:cNvSpPr/>
      </dsp:nvSpPr>
      <dsp:spPr>
        <a:xfrm>
          <a:off x="4734417" y="1676388"/>
          <a:ext cx="3114182" cy="2735800"/>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l" defTabSz="977900">
            <a:lnSpc>
              <a:spcPct val="90000"/>
            </a:lnSpc>
            <a:spcBef>
              <a:spcPct val="0"/>
            </a:spcBef>
            <a:spcAft>
              <a:spcPct val="35000"/>
            </a:spcAft>
            <a:buNone/>
          </a:pPr>
          <a:r>
            <a:rPr lang="en-US" sz="2200" b="1" kern="1200" dirty="0"/>
            <a:t>Process Initiation Denial</a:t>
          </a:r>
        </a:p>
        <a:p>
          <a:pPr marL="171450" lvl="1" indent="-171450" algn="l" defTabSz="800100">
            <a:lnSpc>
              <a:spcPct val="90000"/>
            </a:lnSpc>
            <a:spcBef>
              <a:spcPct val="0"/>
            </a:spcBef>
            <a:spcAft>
              <a:spcPct val="15000"/>
            </a:spcAft>
            <a:buChar char="•"/>
          </a:pPr>
          <a:r>
            <a:rPr lang="en-US" sz="1800" kern="1200" dirty="0"/>
            <a:t>do not start a process if its demands might lead to deadlock</a:t>
          </a:r>
        </a:p>
      </dsp:txBody>
      <dsp:txXfrm>
        <a:off x="5190478" y="2077037"/>
        <a:ext cx="2202060" cy="1934502"/>
      </dsp:txXfrm>
    </dsp:sp>
    <dsp:sp modelId="{9B94989B-A7B3-AC47-8930-E2D0EEEB1BF1}">
      <dsp:nvSpPr>
        <dsp:cNvPr id="0" name=""/>
        <dsp:cNvSpPr/>
      </dsp:nvSpPr>
      <dsp:spPr>
        <a:xfrm rot="8486232">
          <a:off x="3116985" y="2051529"/>
          <a:ext cx="134141" cy="29823"/>
        </a:xfrm>
        <a:custGeom>
          <a:avLst/>
          <a:gdLst/>
          <a:ahLst/>
          <a:cxnLst/>
          <a:rect l="0" t="0" r="0" b="0"/>
          <a:pathLst>
            <a:path>
              <a:moveTo>
                <a:pt x="0" y="14911"/>
              </a:moveTo>
              <a:lnTo>
                <a:pt x="134141" y="14911"/>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180702" y="2063087"/>
        <a:ext cx="6707" cy="6707"/>
      </dsp:txXfrm>
    </dsp:sp>
    <dsp:sp modelId="{215F23CF-03EA-F24E-BC55-33B92E2BE58F}">
      <dsp:nvSpPr>
        <dsp:cNvPr id="0" name=""/>
        <dsp:cNvSpPr/>
      </dsp:nvSpPr>
      <dsp:spPr>
        <a:xfrm>
          <a:off x="152400" y="1676382"/>
          <a:ext cx="3469547" cy="2847935"/>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l" defTabSz="977900">
            <a:lnSpc>
              <a:spcPct val="90000"/>
            </a:lnSpc>
            <a:spcBef>
              <a:spcPct val="0"/>
            </a:spcBef>
            <a:spcAft>
              <a:spcPct val="35000"/>
            </a:spcAft>
            <a:buNone/>
          </a:pPr>
          <a:r>
            <a:rPr lang="en-US" sz="2200" b="1" kern="1200" dirty="0"/>
            <a:t>Resource Allocation Denial</a:t>
          </a:r>
        </a:p>
        <a:p>
          <a:pPr marL="171450" lvl="1" indent="-171450" algn="l" defTabSz="800100">
            <a:lnSpc>
              <a:spcPct val="90000"/>
            </a:lnSpc>
            <a:spcBef>
              <a:spcPct val="0"/>
            </a:spcBef>
            <a:spcAft>
              <a:spcPct val="15000"/>
            </a:spcAft>
            <a:buChar char="•"/>
          </a:pPr>
          <a:r>
            <a:rPr lang="en-US" sz="1800" kern="1200" dirty="0"/>
            <a:t>do not grant an incremental resource request to a process if this allocation might lead to deadlock</a:t>
          </a:r>
        </a:p>
      </dsp:txBody>
      <dsp:txXfrm>
        <a:off x="660503" y="2093452"/>
        <a:ext cx="2453341" cy="201379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FD9A1D-1B89-E544-B4DF-B4127F21AFD9}">
      <dsp:nvSpPr>
        <dsp:cNvPr id="0" name=""/>
        <dsp:cNvSpPr/>
      </dsp:nvSpPr>
      <dsp:spPr>
        <a:xfrm rot="5400000">
          <a:off x="-168012" y="170002"/>
          <a:ext cx="1120080" cy="784056"/>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endParaRPr lang="en-US" sz="2300" kern="1200" dirty="0"/>
        </a:p>
      </dsp:txBody>
      <dsp:txXfrm rot="-5400000">
        <a:off x="0" y="394018"/>
        <a:ext cx="784056" cy="336024"/>
      </dsp:txXfrm>
    </dsp:sp>
    <dsp:sp modelId="{886D23ED-3637-CE46-A6CB-B865BE255F23}">
      <dsp:nvSpPr>
        <dsp:cNvPr id="0" name=""/>
        <dsp:cNvSpPr/>
      </dsp:nvSpPr>
      <dsp:spPr>
        <a:xfrm rot="5400000">
          <a:off x="3952302" y="-3166255"/>
          <a:ext cx="728052" cy="7064543"/>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US" sz="2300" kern="1200" dirty="0"/>
            <a:t>Maximum resource requirement for each process must be stated in advance</a:t>
          </a:r>
        </a:p>
      </dsp:txBody>
      <dsp:txXfrm rot="-5400000">
        <a:off x="784057" y="37531"/>
        <a:ext cx="7029002" cy="656970"/>
      </dsp:txXfrm>
    </dsp:sp>
    <dsp:sp modelId="{D0F31248-269F-D144-92AD-ECFD3E15F677}">
      <dsp:nvSpPr>
        <dsp:cNvPr id="0" name=""/>
        <dsp:cNvSpPr/>
      </dsp:nvSpPr>
      <dsp:spPr>
        <a:xfrm rot="5400000">
          <a:off x="-168012" y="1141515"/>
          <a:ext cx="1120080" cy="784056"/>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endParaRPr lang="en-US" sz="2300" kern="1200"/>
        </a:p>
      </dsp:txBody>
      <dsp:txXfrm rot="-5400000">
        <a:off x="0" y="1365531"/>
        <a:ext cx="784056" cy="336024"/>
      </dsp:txXfrm>
    </dsp:sp>
    <dsp:sp modelId="{6A4A87EE-4AEE-E34C-A2C3-582622EF7A13}">
      <dsp:nvSpPr>
        <dsp:cNvPr id="0" name=""/>
        <dsp:cNvSpPr/>
      </dsp:nvSpPr>
      <dsp:spPr>
        <a:xfrm rot="5400000">
          <a:off x="3952302" y="-2194742"/>
          <a:ext cx="728052" cy="7064543"/>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US" sz="2300" kern="1200" dirty="0"/>
            <a:t>Processes under consideration must be independent and with no synchronization requirements</a:t>
          </a:r>
        </a:p>
      </dsp:txBody>
      <dsp:txXfrm rot="-5400000">
        <a:off x="784057" y="1009044"/>
        <a:ext cx="7029002" cy="656970"/>
      </dsp:txXfrm>
    </dsp:sp>
    <dsp:sp modelId="{C24DDD8C-FAEC-B949-B77E-7F9CA3B1AFED}">
      <dsp:nvSpPr>
        <dsp:cNvPr id="0" name=""/>
        <dsp:cNvSpPr/>
      </dsp:nvSpPr>
      <dsp:spPr>
        <a:xfrm rot="5400000">
          <a:off x="-168012" y="2113028"/>
          <a:ext cx="1120080" cy="784056"/>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endParaRPr lang="en-US" sz="2300" kern="1200"/>
        </a:p>
      </dsp:txBody>
      <dsp:txXfrm rot="-5400000">
        <a:off x="0" y="2337044"/>
        <a:ext cx="784056" cy="336024"/>
      </dsp:txXfrm>
    </dsp:sp>
    <dsp:sp modelId="{EF7FB46F-9225-9141-B86D-BAF1B5E8EB3A}">
      <dsp:nvSpPr>
        <dsp:cNvPr id="0" name=""/>
        <dsp:cNvSpPr/>
      </dsp:nvSpPr>
      <dsp:spPr>
        <a:xfrm rot="5400000">
          <a:off x="3952302" y="-1223229"/>
          <a:ext cx="728052" cy="7064543"/>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US" sz="2300" kern="1200" dirty="0"/>
            <a:t>There must be a fixed number of resources to allocate</a:t>
          </a:r>
        </a:p>
      </dsp:txBody>
      <dsp:txXfrm rot="-5400000">
        <a:off x="784057" y="1980557"/>
        <a:ext cx="7029002" cy="656970"/>
      </dsp:txXfrm>
    </dsp:sp>
    <dsp:sp modelId="{855FF90E-CFAE-894E-9582-97B231362680}">
      <dsp:nvSpPr>
        <dsp:cNvPr id="0" name=""/>
        <dsp:cNvSpPr/>
      </dsp:nvSpPr>
      <dsp:spPr>
        <a:xfrm rot="5400000">
          <a:off x="-168012" y="3084541"/>
          <a:ext cx="1120080" cy="784056"/>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endParaRPr lang="en-US" sz="2300" kern="1200"/>
        </a:p>
      </dsp:txBody>
      <dsp:txXfrm rot="-5400000">
        <a:off x="0" y="3308557"/>
        <a:ext cx="784056" cy="336024"/>
      </dsp:txXfrm>
    </dsp:sp>
    <dsp:sp modelId="{8D2DD4D3-1A75-7C4F-A25D-BD10D88794DD}">
      <dsp:nvSpPr>
        <dsp:cNvPr id="0" name=""/>
        <dsp:cNvSpPr/>
      </dsp:nvSpPr>
      <dsp:spPr>
        <a:xfrm rot="5400000">
          <a:off x="3952302" y="-251716"/>
          <a:ext cx="728052" cy="7064543"/>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US" sz="2300" kern="1200" dirty="0"/>
            <a:t>No process may exit while holding resources</a:t>
          </a:r>
        </a:p>
      </dsp:txBody>
      <dsp:txXfrm rot="-5400000">
        <a:off x="784057" y="2952070"/>
        <a:ext cx="7029002" cy="65697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A1457E-6F82-714B-9684-358489247C06}">
      <dsp:nvSpPr>
        <dsp:cNvPr id="0" name=""/>
        <dsp:cNvSpPr/>
      </dsp:nvSpPr>
      <dsp:spPr>
        <a:xfrm>
          <a:off x="0" y="15647"/>
          <a:ext cx="8077200" cy="127413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NZ" sz="3300" kern="1200" dirty="0"/>
            <a:t>Deadlock prevention strategies are very conservative </a:t>
          </a:r>
          <a:endParaRPr lang="en-US" sz="3300" kern="1200" dirty="0"/>
        </a:p>
      </dsp:txBody>
      <dsp:txXfrm>
        <a:off x="62198" y="77845"/>
        <a:ext cx="7952804" cy="1149734"/>
      </dsp:txXfrm>
    </dsp:sp>
    <dsp:sp modelId="{D2A3FB79-225F-F645-9263-70FD35EA9D07}">
      <dsp:nvSpPr>
        <dsp:cNvPr id="0" name=""/>
        <dsp:cNvSpPr/>
      </dsp:nvSpPr>
      <dsp:spPr>
        <a:xfrm>
          <a:off x="0" y="1289777"/>
          <a:ext cx="8077200" cy="785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451"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NZ" sz="2600" kern="1200" dirty="0"/>
            <a:t>limit access to resources by imposing restrictions on processes</a:t>
          </a:r>
        </a:p>
      </dsp:txBody>
      <dsp:txXfrm>
        <a:off x="0" y="1289777"/>
        <a:ext cx="8077200" cy="785565"/>
      </dsp:txXfrm>
    </dsp:sp>
    <dsp:sp modelId="{08A9A630-6BC3-5044-A148-A2D3991B226A}">
      <dsp:nvSpPr>
        <dsp:cNvPr id="0" name=""/>
        <dsp:cNvSpPr/>
      </dsp:nvSpPr>
      <dsp:spPr>
        <a:xfrm>
          <a:off x="0" y="2075342"/>
          <a:ext cx="8077200" cy="1274130"/>
        </a:xfrm>
        <a:prstGeom prst="roundRect">
          <a:avLst/>
        </a:prstGeom>
        <a:solidFill>
          <a:schemeClr val="accent2">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NZ" sz="3300" kern="1200"/>
            <a:t>Deadlock detection strategies do the opposite</a:t>
          </a:r>
          <a:endParaRPr lang="en-NZ" sz="3300" kern="1200" dirty="0"/>
        </a:p>
      </dsp:txBody>
      <dsp:txXfrm>
        <a:off x="62198" y="2137540"/>
        <a:ext cx="7952804" cy="1149734"/>
      </dsp:txXfrm>
    </dsp:sp>
    <dsp:sp modelId="{106A0A9A-EAED-1142-8E93-D86999C38394}">
      <dsp:nvSpPr>
        <dsp:cNvPr id="0" name=""/>
        <dsp:cNvSpPr/>
      </dsp:nvSpPr>
      <dsp:spPr>
        <a:xfrm>
          <a:off x="0" y="3349472"/>
          <a:ext cx="8077200" cy="546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451"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NZ" sz="2600" kern="1200" dirty="0"/>
            <a:t>resource requests are granted whenever possible</a:t>
          </a:r>
        </a:p>
      </dsp:txBody>
      <dsp:txXfrm>
        <a:off x="0" y="3349472"/>
        <a:ext cx="8077200" cy="54648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05821B-8690-3643-AEC1-64B51AC1545C}">
      <dsp:nvSpPr>
        <dsp:cNvPr id="0" name=""/>
        <dsp:cNvSpPr/>
      </dsp:nvSpPr>
      <dsp:spPr>
        <a:xfrm>
          <a:off x="2868" y="0"/>
          <a:ext cx="1720957" cy="1950720"/>
        </a:xfrm>
        <a:prstGeom prst="upArrow">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4AF069EA-EC98-CA45-A086-7FA7E99EA8A6}">
      <dsp:nvSpPr>
        <dsp:cNvPr id="0" name=""/>
        <dsp:cNvSpPr/>
      </dsp:nvSpPr>
      <dsp:spPr>
        <a:xfrm>
          <a:off x="1775454" y="0"/>
          <a:ext cx="2920412" cy="1950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marL="0" lvl="0" indent="0" algn="l" defTabSz="1244600">
            <a:lnSpc>
              <a:spcPct val="90000"/>
            </a:lnSpc>
            <a:spcBef>
              <a:spcPct val="0"/>
            </a:spcBef>
            <a:spcAft>
              <a:spcPct val="35000"/>
            </a:spcAft>
            <a:buNone/>
          </a:pPr>
          <a:r>
            <a:rPr lang="en-NZ" sz="2800" kern="1200"/>
            <a:t>Advantages:</a:t>
          </a:r>
          <a:endParaRPr lang="en-US" sz="2800" kern="1200"/>
        </a:p>
        <a:p>
          <a:pPr marL="228600" lvl="1" indent="-228600" algn="l" defTabSz="977900">
            <a:lnSpc>
              <a:spcPct val="90000"/>
            </a:lnSpc>
            <a:spcBef>
              <a:spcPct val="0"/>
            </a:spcBef>
            <a:spcAft>
              <a:spcPct val="15000"/>
            </a:spcAft>
            <a:buChar char="•"/>
          </a:pPr>
          <a:r>
            <a:rPr lang="en-NZ" sz="2200" kern="1200"/>
            <a:t>it leads to early detection</a:t>
          </a:r>
          <a:endParaRPr lang="en-NZ" sz="2200" kern="1200" dirty="0"/>
        </a:p>
        <a:p>
          <a:pPr marL="228600" lvl="1" indent="-228600" algn="l" defTabSz="977900">
            <a:lnSpc>
              <a:spcPct val="90000"/>
            </a:lnSpc>
            <a:spcBef>
              <a:spcPct val="0"/>
            </a:spcBef>
            <a:spcAft>
              <a:spcPct val="15000"/>
            </a:spcAft>
            <a:buChar char="•"/>
          </a:pPr>
          <a:r>
            <a:rPr lang="en-NZ" sz="2200" kern="1200" dirty="0"/>
            <a:t>the algorithm is relatively simple</a:t>
          </a:r>
        </a:p>
      </dsp:txBody>
      <dsp:txXfrm>
        <a:off x="1775454" y="0"/>
        <a:ext cx="2920412" cy="1950720"/>
      </dsp:txXfrm>
    </dsp:sp>
    <dsp:sp modelId="{6DD9CEB5-DFB1-8348-9CA6-D5671ECD380A}">
      <dsp:nvSpPr>
        <dsp:cNvPr id="0" name=""/>
        <dsp:cNvSpPr/>
      </dsp:nvSpPr>
      <dsp:spPr>
        <a:xfrm>
          <a:off x="519155" y="2113280"/>
          <a:ext cx="1720957" cy="1950720"/>
        </a:xfrm>
        <a:prstGeom prst="downArrow">
          <a:avLst/>
        </a:prstGeom>
        <a:solidFill>
          <a:schemeClr val="accent6">
            <a:lumMod val="50000"/>
            <a:alpha val="76000"/>
          </a:schemeClr>
        </a:solidFill>
        <a:ln>
          <a:noFill/>
        </a:ln>
        <a:effectLst/>
      </dsp:spPr>
      <dsp:style>
        <a:lnRef idx="0">
          <a:scrgbClr r="0" g="0" b="0"/>
        </a:lnRef>
        <a:fillRef idx="3">
          <a:scrgbClr r="0" g="0" b="0"/>
        </a:fillRef>
        <a:effectRef idx="2">
          <a:scrgbClr r="0" g="0" b="0"/>
        </a:effectRef>
        <a:fontRef idx="minor">
          <a:schemeClr val="lt1"/>
        </a:fontRef>
      </dsp:style>
    </dsp:sp>
    <dsp:sp modelId="{5B807A66-FA4A-EA45-9E62-5BAF4765C594}">
      <dsp:nvSpPr>
        <dsp:cNvPr id="0" name=""/>
        <dsp:cNvSpPr/>
      </dsp:nvSpPr>
      <dsp:spPr>
        <a:xfrm>
          <a:off x="2291741" y="2113280"/>
          <a:ext cx="2920412" cy="1950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marL="0" lvl="0" indent="0" algn="l" defTabSz="1244600">
            <a:lnSpc>
              <a:spcPct val="90000"/>
            </a:lnSpc>
            <a:spcBef>
              <a:spcPct val="0"/>
            </a:spcBef>
            <a:spcAft>
              <a:spcPct val="35000"/>
            </a:spcAft>
            <a:buNone/>
          </a:pPr>
          <a:r>
            <a:rPr lang="en-NZ" sz="2800" kern="1200"/>
            <a:t>Disadvantage</a:t>
          </a:r>
          <a:endParaRPr lang="en-NZ" sz="2800" kern="1200" dirty="0"/>
        </a:p>
        <a:p>
          <a:pPr marL="228600" lvl="1" indent="-228600" algn="l" defTabSz="977900">
            <a:lnSpc>
              <a:spcPct val="90000"/>
            </a:lnSpc>
            <a:spcBef>
              <a:spcPct val="0"/>
            </a:spcBef>
            <a:spcAft>
              <a:spcPct val="15000"/>
            </a:spcAft>
            <a:buChar char="•"/>
          </a:pPr>
          <a:r>
            <a:rPr lang="en-NZ" sz="2200" kern="1200" dirty="0"/>
            <a:t>frequent checks consume considerable processor time</a:t>
          </a:r>
        </a:p>
      </dsp:txBody>
      <dsp:txXfrm>
        <a:off x="2291741" y="2113280"/>
        <a:ext cx="2920412" cy="195072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08-Jul-24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26734159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8/e, by William Stallings, Chapter 6 “</a:t>
            </a:r>
            <a:r>
              <a:rPr kumimoji="1" lang="en-GB" dirty="0">
                <a:latin typeface="Times New Roman" pitchFamily="-106" charset="0"/>
                <a:ea typeface="ＭＳ Ｐゴシック" pitchFamily="-106" charset="-128"/>
                <a:cs typeface="ＭＳ Ｐゴシック" pitchFamily="-106" charset="-128"/>
              </a:rPr>
              <a:t>Concurrency:</a:t>
            </a:r>
            <a:r>
              <a:rPr kumimoji="1" lang="en-GB" baseline="0" dirty="0">
                <a:latin typeface="Times New Roman" pitchFamily="-106" charset="0"/>
                <a:ea typeface="ＭＳ Ｐゴシック" pitchFamily="-106" charset="-128"/>
                <a:cs typeface="ＭＳ Ｐゴシック" pitchFamily="-106" charset="-128"/>
              </a:rPr>
              <a:t> Deadlock and Starvation</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Deadlock can be defined as the </a:t>
            </a:r>
            <a:r>
              <a:rPr lang="en-US" sz="1200" i="1" kern="1200" baseline="0" dirty="0">
                <a:solidFill>
                  <a:schemeClr val="tx1"/>
                </a:solidFill>
                <a:latin typeface="+mn-lt"/>
                <a:ea typeface="+mn-ea"/>
                <a:cs typeface="+mn-cs"/>
              </a:rPr>
              <a:t>permanent blocking of a set of processes that either </a:t>
            </a:r>
            <a:r>
              <a:rPr lang="en-US" sz="1200" kern="1200" baseline="0" dirty="0">
                <a:solidFill>
                  <a:schemeClr val="tx1"/>
                </a:solidFill>
                <a:latin typeface="+mn-lt"/>
                <a:ea typeface="+mn-ea"/>
                <a:cs typeface="+mn-cs"/>
              </a:rPr>
              <a:t>compete for system resources or communicate with each other. A set of processes is deadlocked when each process in the set is </a:t>
            </a:r>
            <a:r>
              <a:rPr lang="en-US" sz="1200" b="1" kern="1200" baseline="0" dirty="0">
                <a:solidFill>
                  <a:schemeClr val="tx1"/>
                </a:solidFill>
                <a:latin typeface="+mn-lt"/>
                <a:ea typeface="+mn-ea"/>
                <a:cs typeface="+mn-cs"/>
              </a:rPr>
              <a:t>blocked awaiting an event </a:t>
            </a:r>
            <a:r>
              <a:rPr lang="en-US" sz="1200" kern="1200" baseline="0" dirty="0">
                <a:solidFill>
                  <a:schemeClr val="tx1"/>
                </a:solidFill>
                <a:latin typeface="+mn-lt"/>
                <a:ea typeface="+mn-ea"/>
                <a:cs typeface="+mn-cs"/>
              </a:rPr>
              <a:t>(typically the freeing up of some requested resource) that can only be triggered by another blocked process in the set. Deadlock is permanent because none of the events is ever triggered. Unlike other problems in concurrent process management, there is </a:t>
            </a:r>
            <a:r>
              <a:rPr lang="en-US" sz="1200" b="1" kern="1200" baseline="0" dirty="0">
                <a:solidFill>
                  <a:schemeClr val="tx1"/>
                </a:solidFill>
                <a:latin typeface="+mn-lt"/>
                <a:ea typeface="+mn-ea"/>
                <a:cs typeface="+mn-cs"/>
              </a:rPr>
              <a:t>no efficient solution</a:t>
            </a:r>
            <a:r>
              <a:rPr lang="en-US" sz="1200" kern="1200" baseline="0" dirty="0">
                <a:solidFill>
                  <a:schemeClr val="tx1"/>
                </a:solidFill>
                <a:latin typeface="+mn-lt"/>
                <a:ea typeface="+mn-ea"/>
                <a:cs typeface="+mn-cs"/>
              </a:rPr>
              <a:t> in the general case.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All deadlocks involve conflicting needs for resources by two or more processes. A common example is the traffic deadlock. Figure 6.1a shows a situation in which four cars have arrived at a four-way stop intersection at approximately the same time. The four quadrants of the intersection are the resources over which control is needed. In particular, if all four cars wish to go straight through the intersection, the resource requirements are as follows: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Car 1, traveling north, needs quadrants a and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a:t>
            </a:r>
          </a:p>
          <a:p>
            <a:r>
              <a:rPr lang="en-US" sz="1200" kern="1200" baseline="0" dirty="0">
                <a:solidFill>
                  <a:schemeClr val="tx1"/>
                </a:solidFill>
                <a:latin typeface="+mn-lt"/>
                <a:ea typeface="+mn-ea"/>
                <a:cs typeface="+mn-cs"/>
              </a:rPr>
              <a:t>• Car 2 needs quadrants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and c.</a:t>
            </a:r>
          </a:p>
          <a:p>
            <a:r>
              <a:rPr lang="en-US" sz="1200" kern="1200" baseline="0" dirty="0">
                <a:solidFill>
                  <a:schemeClr val="tx1"/>
                </a:solidFill>
                <a:latin typeface="+mn-lt"/>
                <a:ea typeface="+mn-ea"/>
                <a:cs typeface="+mn-cs"/>
              </a:rPr>
              <a:t>• Car 3 needs quadrants c and d.</a:t>
            </a:r>
          </a:p>
          <a:p>
            <a:r>
              <a:rPr lang="en-US" sz="1200" kern="1200" baseline="0" dirty="0">
                <a:solidFill>
                  <a:schemeClr val="tx1"/>
                </a:solidFill>
                <a:latin typeface="+mn-lt"/>
                <a:ea typeface="+mn-ea"/>
                <a:cs typeface="+mn-cs"/>
              </a:rPr>
              <a:t>• Car 4 needs quadrants d and a.</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rule of the road in the United States is that a car at a four-way stop should defer to a car immediately to its right. This rule works if there are only two or three cars at the intersection. For example, if only the northbound and westbound cars arrive at the intersection, the northbound car will wait and the westbound car proceeds. However, if all four cars arrive at about the same time, each will refrain from entering the intersection, this causes a </a:t>
            </a:r>
            <a:r>
              <a:rPr lang="en-US" sz="1200" b="1" kern="1200" baseline="0" dirty="0">
                <a:solidFill>
                  <a:schemeClr val="tx1"/>
                </a:solidFill>
                <a:latin typeface="+mn-lt"/>
                <a:ea typeface="+mn-ea"/>
                <a:cs typeface="+mn-cs"/>
              </a:rPr>
              <a:t>potential deadlock</a:t>
            </a:r>
            <a:r>
              <a:rPr lang="en-US" sz="1200" kern="1200" baseline="0" dirty="0">
                <a:solidFill>
                  <a:schemeClr val="tx1"/>
                </a:solidFill>
                <a:latin typeface="+mn-lt"/>
                <a:ea typeface="+mn-ea"/>
                <a:cs typeface="+mn-cs"/>
              </a:rPr>
              <a:t>. The deadlock is only potential, not actual, because the necessary resources are available for any of the cars to proceed. If one car eventually does proceed, it can do so.</a:t>
            </a:r>
          </a:p>
          <a:p>
            <a:endParaRPr lang="en-US" sz="1200" b="0" i="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However, if </a:t>
            </a:r>
            <a:r>
              <a:rPr lang="en-US" sz="1200" b="1" kern="1200" baseline="0" dirty="0">
                <a:solidFill>
                  <a:schemeClr val="tx1"/>
                </a:solidFill>
                <a:latin typeface="+mn-lt"/>
                <a:ea typeface="+mn-ea"/>
                <a:cs typeface="+mn-cs"/>
              </a:rPr>
              <a:t>all four cars ignore the rules and proceed </a:t>
            </a:r>
            <a:r>
              <a:rPr lang="en-US" sz="1200" kern="1200" baseline="0" dirty="0">
                <a:solidFill>
                  <a:schemeClr val="tx1"/>
                </a:solidFill>
                <a:latin typeface="+mn-lt"/>
                <a:ea typeface="+mn-ea"/>
                <a:cs typeface="+mn-cs"/>
              </a:rPr>
              <a:t>(cautiously) into the</a:t>
            </a:r>
          </a:p>
          <a:p>
            <a:r>
              <a:rPr lang="en-US" sz="1200" kern="1200" baseline="0" dirty="0">
                <a:solidFill>
                  <a:schemeClr val="tx1"/>
                </a:solidFill>
                <a:latin typeface="+mn-lt"/>
                <a:ea typeface="+mn-ea"/>
                <a:cs typeface="+mn-cs"/>
              </a:rPr>
              <a:t>intersection at the same time, then each car seizes one resource (one quadrant) but</a:t>
            </a:r>
          </a:p>
          <a:p>
            <a:r>
              <a:rPr lang="en-US" sz="1200" kern="1200" baseline="0" dirty="0">
                <a:solidFill>
                  <a:schemeClr val="tx1"/>
                </a:solidFill>
                <a:latin typeface="+mn-lt"/>
                <a:ea typeface="+mn-ea"/>
                <a:cs typeface="+mn-cs"/>
              </a:rPr>
              <a:t>cannot proceed because the required second resource has already been seized by</a:t>
            </a:r>
          </a:p>
          <a:p>
            <a:r>
              <a:rPr lang="en-US" sz="1200" kern="1200" baseline="0" dirty="0">
                <a:solidFill>
                  <a:schemeClr val="tx1"/>
                </a:solidFill>
                <a:latin typeface="+mn-lt"/>
                <a:ea typeface="+mn-ea"/>
                <a:cs typeface="+mn-cs"/>
              </a:rPr>
              <a:t>another car. This is an </a:t>
            </a:r>
            <a:r>
              <a:rPr lang="en-US" sz="1200" b="1" kern="1200" baseline="0" dirty="0">
                <a:solidFill>
                  <a:schemeClr val="tx1"/>
                </a:solidFill>
                <a:latin typeface="+mn-lt"/>
                <a:ea typeface="+mn-ea"/>
                <a:cs typeface="+mn-cs"/>
              </a:rPr>
              <a:t>actual deadlock</a:t>
            </a:r>
            <a:r>
              <a:rPr lang="en-US" sz="1200" kern="1200" baseline="0" dirty="0">
                <a:solidFill>
                  <a:schemeClr val="tx1"/>
                </a:solidFill>
                <a:latin typeface="+mn-lt"/>
                <a:ea typeface="+mn-ea"/>
                <a:cs typeface="+mn-cs"/>
              </a:rPr>
              <a:t>.</a:t>
            </a:r>
            <a:endParaRPr lang="en-NZ" sz="1200" b="0" i="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NZ" sz="1200" b="0" i="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extLst>
      <p:ext uri="{BB962C8B-B14F-4D97-AF65-F5344CB8AC3E}">
        <p14:creationId xmlns:p14="http://schemas.microsoft.com/office/powerpoint/2010/main" val="2501262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Let us now look at a depiction of deadlock involving processes and computer resources. Figure 6.2 (based on one in [BACO03]), which we refer to as a </a:t>
            </a:r>
            <a:r>
              <a:rPr lang="en-US" sz="1200" b="1" kern="1200" baseline="0" dirty="0">
                <a:solidFill>
                  <a:schemeClr val="tx1"/>
                </a:solidFill>
                <a:latin typeface="+mn-lt"/>
                <a:ea typeface="+mn-ea"/>
                <a:cs typeface="+mn-cs"/>
              </a:rPr>
              <a:t>joint progress diagram , </a:t>
            </a:r>
            <a:r>
              <a:rPr lang="en-US" sz="1200" b="0" kern="1200" baseline="0" dirty="0">
                <a:solidFill>
                  <a:schemeClr val="tx1"/>
                </a:solidFill>
                <a:latin typeface="+mn-lt"/>
                <a:ea typeface="+mn-ea"/>
                <a:cs typeface="+mn-cs"/>
              </a:rPr>
              <a:t>illustrates the progress of two processes competing for two </a:t>
            </a:r>
            <a:r>
              <a:rPr lang="en-US" sz="1200" kern="1200" baseline="0" dirty="0">
                <a:solidFill>
                  <a:schemeClr val="tx1"/>
                </a:solidFill>
                <a:latin typeface="+mn-lt"/>
                <a:ea typeface="+mn-ea"/>
                <a:cs typeface="+mn-cs"/>
              </a:rPr>
              <a:t>resources. Each process needs exclusive use of both resources for a certain period of time.</a:t>
            </a:r>
          </a:p>
          <a:p>
            <a:endParaRPr lang="en-US" sz="1200" b="0" i="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Figure 6.2 , the </a:t>
            </a:r>
            <a:r>
              <a:rPr lang="en-US" sz="1200" i="1" kern="1200" baseline="0" dirty="0" err="1">
                <a:solidFill>
                  <a:schemeClr val="tx1"/>
                </a:solidFill>
                <a:latin typeface="+mn-lt"/>
                <a:ea typeface="+mn-ea"/>
                <a:cs typeface="+mn-cs"/>
              </a:rPr>
              <a:t>x</a:t>
            </a:r>
            <a:r>
              <a:rPr lang="en-US" sz="1200" i="1" kern="1200" baseline="0" dirty="0">
                <a:solidFill>
                  <a:schemeClr val="tx1"/>
                </a:solidFill>
                <a:latin typeface="+mn-lt"/>
                <a:ea typeface="+mn-ea"/>
                <a:cs typeface="+mn-cs"/>
              </a:rPr>
              <a:t> -axis represents progress in the execution of P and the </a:t>
            </a:r>
            <a:r>
              <a:rPr lang="en-US" sz="1200" i="1" kern="1200" baseline="0" dirty="0" err="1">
                <a:solidFill>
                  <a:schemeClr val="tx1"/>
                </a:solidFill>
                <a:latin typeface="+mn-lt"/>
                <a:ea typeface="+mn-ea"/>
                <a:cs typeface="+mn-cs"/>
              </a:rPr>
              <a:t>y</a:t>
            </a:r>
            <a:r>
              <a:rPr lang="en-US" sz="1200" i="1" kern="1200" baseline="0" dirty="0">
                <a:solidFill>
                  <a:schemeClr val="tx1"/>
                </a:solidFill>
                <a:latin typeface="+mn-lt"/>
                <a:ea typeface="+mn-ea"/>
                <a:cs typeface="+mn-cs"/>
              </a:rPr>
              <a:t> –axis </a:t>
            </a:r>
            <a:r>
              <a:rPr lang="en-US" sz="1200" kern="1200" baseline="0" dirty="0">
                <a:solidFill>
                  <a:schemeClr val="tx1"/>
                </a:solidFill>
                <a:latin typeface="+mn-lt"/>
                <a:ea typeface="+mn-ea"/>
                <a:cs typeface="+mn-cs"/>
              </a:rPr>
              <a:t>represents progress in the execution of Q. The joint progress of the two processes is therefore represented by a path that progresses from the origin in a northeasterly direction. For a </a:t>
            </a:r>
            <a:r>
              <a:rPr lang="en-US" sz="1200" kern="1200" baseline="0" dirty="0" err="1">
                <a:solidFill>
                  <a:schemeClr val="tx1"/>
                </a:solidFill>
                <a:latin typeface="+mn-lt"/>
                <a:ea typeface="+mn-ea"/>
                <a:cs typeface="+mn-cs"/>
              </a:rPr>
              <a:t>uniprocessor</a:t>
            </a:r>
            <a:r>
              <a:rPr lang="en-US" sz="1200" kern="1200" baseline="0" dirty="0">
                <a:solidFill>
                  <a:schemeClr val="tx1"/>
                </a:solidFill>
                <a:latin typeface="+mn-lt"/>
                <a:ea typeface="+mn-ea"/>
                <a:cs typeface="+mn-cs"/>
              </a:rPr>
              <a:t> system, only one process at a time may execute, and the path consists of alternating horizontal and vertical segments, with a horizontal segment representing a period when P executes and Q waits and a vertical segment representing a period when Q executes and P waits. The figure indicates areas in which both P and Q require resource A (upward slanted lines); both P and Q require resource B (downward slanted lines); and both P and Q require both resources. Because we assume that each process requires </a:t>
            </a:r>
            <a:r>
              <a:rPr lang="en-US" sz="1200" b="1" kern="1200" baseline="0" dirty="0">
                <a:solidFill>
                  <a:schemeClr val="tx1"/>
                </a:solidFill>
                <a:latin typeface="+mn-lt"/>
                <a:ea typeface="+mn-ea"/>
                <a:cs typeface="+mn-cs"/>
              </a:rPr>
              <a:t>exclusive control of any resource</a:t>
            </a:r>
            <a:r>
              <a:rPr lang="en-US" sz="1200" kern="1200" baseline="0" dirty="0">
                <a:solidFill>
                  <a:schemeClr val="tx1"/>
                </a:solidFill>
                <a:latin typeface="+mn-lt"/>
                <a:ea typeface="+mn-ea"/>
                <a:cs typeface="+mn-cs"/>
              </a:rPr>
              <a:t>, these are all forbidden regions; that is, it is impossible for any path representing the</a:t>
            </a:r>
          </a:p>
          <a:p>
            <a:r>
              <a:rPr lang="en-US" sz="1200" kern="1200" baseline="0" dirty="0">
                <a:solidFill>
                  <a:schemeClr val="tx1"/>
                </a:solidFill>
                <a:latin typeface="+mn-lt"/>
                <a:ea typeface="+mn-ea"/>
                <a:cs typeface="+mn-cs"/>
              </a:rPr>
              <a:t>joint execution progress of P and Q to enter these regions.</a:t>
            </a:r>
          </a:p>
          <a:p>
            <a:endParaRPr lang="en-US" sz="1200" b="0" i="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figure shows six different execution paths. These can be summarized as</a:t>
            </a:r>
          </a:p>
          <a:p>
            <a:r>
              <a:rPr lang="en-US" sz="1200" kern="1200" baseline="0" dirty="0">
                <a:solidFill>
                  <a:schemeClr val="tx1"/>
                </a:solidFill>
                <a:latin typeface="+mn-lt"/>
                <a:ea typeface="+mn-ea"/>
                <a:cs typeface="+mn-cs"/>
              </a:rPr>
              <a:t>follows:</a:t>
            </a:r>
          </a:p>
          <a:p>
            <a:r>
              <a:rPr lang="en-US" sz="1200" b="1" kern="1200" baseline="0" dirty="0">
                <a:solidFill>
                  <a:schemeClr val="tx1"/>
                </a:solidFill>
                <a:latin typeface="+mn-lt"/>
                <a:ea typeface="+mn-ea"/>
                <a:cs typeface="+mn-cs"/>
              </a:rPr>
              <a:t>1. Q acquires B and then A and then releases B and A. When P resumes execution,</a:t>
            </a:r>
          </a:p>
          <a:p>
            <a:r>
              <a:rPr lang="en-US" sz="1200" kern="1200" baseline="0" dirty="0">
                <a:solidFill>
                  <a:schemeClr val="tx1"/>
                </a:solidFill>
                <a:latin typeface="+mn-lt"/>
                <a:ea typeface="+mn-ea"/>
                <a:cs typeface="+mn-cs"/>
              </a:rPr>
              <a:t>it will be able to acquire both resources.</a:t>
            </a:r>
          </a:p>
          <a:p>
            <a:r>
              <a:rPr lang="en-US" sz="1200" b="1" kern="1200" baseline="0" dirty="0">
                <a:solidFill>
                  <a:schemeClr val="tx1"/>
                </a:solidFill>
                <a:latin typeface="+mn-lt"/>
                <a:ea typeface="+mn-ea"/>
                <a:cs typeface="+mn-cs"/>
              </a:rPr>
              <a:t>2. Q acquires B and then A. P executes and blocks on a request for A. Q releases</a:t>
            </a:r>
          </a:p>
          <a:p>
            <a:r>
              <a:rPr lang="en-US" sz="1200" kern="1200" baseline="0" dirty="0">
                <a:solidFill>
                  <a:schemeClr val="tx1"/>
                </a:solidFill>
                <a:latin typeface="+mn-lt"/>
                <a:ea typeface="+mn-ea"/>
                <a:cs typeface="+mn-cs"/>
              </a:rPr>
              <a:t>B and A. When P resumes execution, it will be able to acquire both resources.</a:t>
            </a:r>
          </a:p>
          <a:p>
            <a:r>
              <a:rPr lang="en-US" sz="1200" b="1" kern="1200" baseline="0" dirty="0">
                <a:solidFill>
                  <a:schemeClr val="tx1"/>
                </a:solidFill>
                <a:latin typeface="+mn-lt"/>
                <a:ea typeface="+mn-ea"/>
                <a:cs typeface="+mn-cs"/>
              </a:rPr>
              <a:t>3. Q acquires B and then P acquires A. Deadlock is inevitable, because as execution</a:t>
            </a:r>
          </a:p>
          <a:p>
            <a:r>
              <a:rPr lang="en-US" sz="1200" kern="1200" baseline="0" dirty="0">
                <a:solidFill>
                  <a:schemeClr val="tx1"/>
                </a:solidFill>
                <a:latin typeface="+mn-lt"/>
                <a:ea typeface="+mn-ea"/>
                <a:cs typeface="+mn-cs"/>
              </a:rPr>
              <a:t>proceeds, Q will block on A and P will block on B.</a:t>
            </a:r>
          </a:p>
          <a:p>
            <a:r>
              <a:rPr lang="en-US" sz="1200" b="1" kern="1200" baseline="0" dirty="0">
                <a:solidFill>
                  <a:schemeClr val="tx1"/>
                </a:solidFill>
                <a:latin typeface="+mn-lt"/>
                <a:ea typeface="+mn-ea"/>
                <a:cs typeface="+mn-cs"/>
              </a:rPr>
              <a:t>4. P acquires A and then Q acquires B. Deadlock is inevitable, because as execution</a:t>
            </a:r>
          </a:p>
          <a:p>
            <a:r>
              <a:rPr lang="en-US" sz="1200" kern="1200" baseline="0" dirty="0">
                <a:solidFill>
                  <a:schemeClr val="tx1"/>
                </a:solidFill>
                <a:latin typeface="+mn-lt"/>
                <a:ea typeface="+mn-ea"/>
                <a:cs typeface="+mn-cs"/>
              </a:rPr>
              <a:t>proceeds, Q will block on A and P will block on B.</a:t>
            </a:r>
          </a:p>
          <a:p>
            <a:r>
              <a:rPr lang="en-US" sz="1200" b="1" kern="1200" baseline="0" dirty="0">
                <a:solidFill>
                  <a:schemeClr val="tx1"/>
                </a:solidFill>
                <a:latin typeface="+mn-lt"/>
                <a:ea typeface="+mn-ea"/>
                <a:cs typeface="+mn-cs"/>
              </a:rPr>
              <a:t>5. P acquires A and then B. Q executes and blocks on a request for B. P releases</a:t>
            </a:r>
          </a:p>
          <a:p>
            <a:r>
              <a:rPr lang="en-US" sz="1200" kern="1200" baseline="0" dirty="0">
                <a:solidFill>
                  <a:schemeClr val="tx1"/>
                </a:solidFill>
                <a:latin typeface="+mn-lt"/>
                <a:ea typeface="+mn-ea"/>
                <a:cs typeface="+mn-cs"/>
              </a:rPr>
              <a:t>A and B. When Q resumes execution, it will be able to acquire both resources.</a:t>
            </a:r>
          </a:p>
          <a:p>
            <a:r>
              <a:rPr lang="en-US" sz="1200" b="1" kern="1200" baseline="0" dirty="0">
                <a:solidFill>
                  <a:schemeClr val="tx1"/>
                </a:solidFill>
                <a:latin typeface="+mn-lt"/>
                <a:ea typeface="+mn-ea"/>
                <a:cs typeface="+mn-cs"/>
              </a:rPr>
              <a:t>6. P acquires A and then B and then releases A and B. When Q resumes execution,</a:t>
            </a:r>
          </a:p>
          <a:p>
            <a:r>
              <a:rPr lang="en-US" sz="1200" kern="1200" baseline="0" dirty="0">
                <a:solidFill>
                  <a:schemeClr val="tx1"/>
                </a:solidFill>
                <a:latin typeface="+mn-lt"/>
                <a:ea typeface="+mn-ea"/>
                <a:cs typeface="+mn-cs"/>
              </a:rPr>
              <a:t>it will be able to acquire both resources.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gray-shaded area of Figure 6.2 , which can be referred to as a </a:t>
            </a:r>
            <a:r>
              <a:rPr lang="en-US" sz="1200" b="1" kern="1200" baseline="0" dirty="0">
                <a:solidFill>
                  <a:schemeClr val="tx1"/>
                </a:solidFill>
                <a:latin typeface="+mn-lt"/>
                <a:ea typeface="+mn-ea"/>
                <a:cs typeface="+mn-cs"/>
              </a:rPr>
              <a:t>fatal region , </a:t>
            </a:r>
            <a:r>
              <a:rPr lang="en-US" sz="1200" kern="1200" baseline="0" dirty="0">
                <a:solidFill>
                  <a:schemeClr val="tx1"/>
                </a:solidFill>
                <a:latin typeface="+mn-lt"/>
                <a:ea typeface="+mn-ea"/>
                <a:cs typeface="+mn-cs"/>
              </a:rPr>
              <a:t>applies to the commentary on paths 3 and 4. If an execution path enters this fatal region, then deadlock is inevitable. Note that the existence of a fatal region depends on the logic of the two processes. However, deadlock is only inevitable if the </a:t>
            </a:r>
            <a:r>
              <a:rPr lang="en-US" sz="1200" b="1" kern="1200" baseline="0" dirty="0">
                <a:solidFill>
                  <a:schemeClr val="accent1"/>
                </a:solidFill>
                <a:latin typeface="+mn-lt"/>
                <a:ea typeface="+mn-ea"/>
                <a:cs typeface="+mn-cs"/>
              </a:rPr>
              <a:t>joint progress </a:t>
            </a:r>
            <a:r>
              <a:rPr lang="en-US" sz="1200" kern="1200" baseline="0" dirty="0">
                <a:solidFill>
                  <a:schemeClr val="tx1"/>
                </a:solidFill>
                <a:latin typeface="+mn-lt"/>
                <a:ea typeface="+mn-ea"/>
                <a:cs typeface="+mn-cs"/>
              </a:rPr>
              <a:t>of the two processes creates a path that enters the fatal region.</a:t>
            </a:r>
            <a:endParaRPr lang="en-US" b="0" i="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NZ" sz="1200" b="0" i="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extLst>
      <p:ext uri="{BB962C8B-B14F-4D97-AF65-F5344CB8AC3E}">
        <p14:creationId xmlns:p14="http://schemas.microsoft.com/office/powerpoint/2010/main" val="522909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Whether or not deadlock occurs depends on both the </a:t>
            </a:r>
            <a:r>
              <a:rPr lang="en-US" sz="1200" b="1" kern="1200" baseline="0" dirty="0">
                <a:solidFill>
                  <a:schemeClr val="tx1"/>
                </a:solidFill>
                <a:latin typeface="+mn-lt"/>
                <a:ea typeface="+mn-ea"/>
                <a:cs typeface="+mn-cs"/>
              </a:rPr>
              <a:t>dynamics of the execution </a:t>
            </a:r>
            <a:r>
              <a:rPr lang="en-US" sz="1200" kern="1200" baseline="0" dirty="0">
                <a:solidFill>
                  <a:schemeClr val="tx1"/>
                </a:solidFill>
                <a:latin typeface="+mn-lt"/>
                <a:ea typeface="+mn-ea"/>
                <a:cs typeface="+mn-cs"/>
              </a:rPr>
              <a:t>and on the details of the application.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situation is reflected in Figure 6.3 . Some thought should convince you that regardless of the relative timing of the two processes, </a:t>
            </a:r>
            <a:r>
              <a:rPr lang="en-US" sz="1200" b="1" kern="1200" baseline="0" dirty="0">
                <a:solidFill>
                  <a:schemeClr val="tx1"/>
                </a:solidFill>
                <a:latin typeface="+mn-lt"/>
                <a:ea typeface="+mn-ea"/>
                <a:cs typeface="+mn-cs"/>
              </a:rPr>
              <a:t>deadlock cannot occur</a:t>
            </a:r>
            <a:r>
              <a:rPr lang="en-US" sz="1200" kern="1200" baseline="0" dirty="0">
                <a:solidFill>
                  <a:schemeClr val="tx1"/>
                </a:solidFill>
                <a:latin typeface="+mn-lt"/>
                <a:ea typeface="+mn-ea"/>
                <a:cs typeface="+mn-cs"/>
              </a:rPr>
              <a: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shown, the joint progress diagram can be used to record the execution history of two processes that share resources. In cases where more than two processes may compete for the same resource, a higher-dimensional diagram would be required. The principles concerning fatal regions and deadlock would remain the same.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Two general categories of resources can be distinguished: reusable and consumable. A reusable resource is one that can be safely used by only one process at a time and is not depleted by that use. Processes obtain resource units that they later release for reuse by other processes. Examples of reusable resources include processors; I/O channels; main and secondary memory; devices; and data structures such as files, databases, and semaphores.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consumable resource is one that can be created (produced) and destroyed (consumed). Examples of consumable resources are interrupts, signals, messages, and information in I/O buffers.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an example of deadlock involving reusable resources, consider two processes that compete for exclusive access to a </a:t>
            </a:r>
            <a:r>
              <a:rPr lang="en-US" sz="1200" b="1" kern="1200" baseline="0" dirty="0">
                <a:solidFill>
                  <a:schemeClr val="tx1"/>
                </a:solidFill>
                <a:latin typeface="+mn-lt"/>
                <a:ea typeface="+mn-ea"/>
                <a:cs typeface="+mn-cs"/>
              </a:rPr>
              <a:t>disk file D </a:t>
            </a:r>
            <a:r>
              <a:rPr lang="en-US" sz="1200" kern="1200" baseline="0" dirty="0">
                <a:solidFill>
                  <a:schemeClr val="tx1"/>
                </a:solidFill>
                <a:latin typeface="+mn-lt"/>
                <a:ea typeface="+mn-ea"/>
                <a:cs typeface="+mn-cs"/>
              </a:rPr>
              <a:t>and a </a:t>
            </a:r>
            <a:r>
              <a:rPr lang="en-US" sz="1200" b="1" kern="1200" baseline="0" dirty="0">
                <a:solidFill>
                  <a:schemeClr val="tx1"/>
                </a:solidFill>
                <a:latin typeface="+mn-lt"/>
                <a:ea typeface="+mn-ea"/>
                <a:cs typeface="+mn-cs"/>
              </a:rPr>
              <a:t>tape drive T</a:t>
            </a:r>
            <a:r>
              <a:rPr lang="en-US" sz="1200" kern="1200" baseline="0" dirty="0">
                <a:solidFill>
                  <a:schemeClr val="tx1"/>
                </a:solidFill>
                <a:latin typeface="+mn-lt"/>
                <a:ea typeface="+mn-ea"/>
                <a:cs typeface="+mn-cs"/>
              </a:rPr>
              <a:t>. The programs engage in the operations depicted in Figure 6.4 . Deadlock occurs if each process holds one resource and requests the other. For example, deadlock occurs if the multiprogramming system interleaves the execution of the two processes as follows: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p0 p1 q0 q1       p2       q2</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It may appear that this is a programming error rather than a problem for the OS designer. However, we have seen that concurrent program design is challenging. Such deadlocks do occur, and the cause is often embedded in </a:t>
            </a:r>
            <a:r>
              <a:rPr lang="en-US" sz="1200" b="1" kern="1200" baseline="0" dirty="0">
                <a:solidFill>
                  <a:schemeClr val="tx1"/>
                </a:solidFill>
                <a:latin typeface="+mn-lt"/>
                <a:ea typeface="+mn-ea"/>
                <a:cs typeface="+mn-cs"/>
              </a:rPr>
              <a:t>complex program logic</a:t>
            </a:r>
            <a:r>
              <a:rPr lang="en-US" sz="1200" kern="1200" baseline="0" dirty="0">
                <a:solidFill>
                  <a:schemeClr val="tx1"/>
                </a:solidFill>
                <a:latin typeface="+mn-lt"/>
                <a:ea typeface="+mn-ea"/>
                <a:cs typeface="+mn-cs"/>
              </a:rPr>
              <a:t>, making detection difficult. One strategy for dealing with such a deadlock is to impose system </a:t>
            </a:r>
            <a:r>
              <a:rPr lang="en-US" sz="1200" b="1" kern="1200" baseline="0" dirty="0">
                <a:solidFill>
                  <a:schemeClr val="tx1"/>
                </a:solidFill>
                <a:latin typeface="+mn-lt"/>
                <a:ea typeface="+mn-ea"/>
                <a:cs typeface="+mn-cs"/>
              </a:rPr>
              <a:t>design constraints </a:t>
            </a:r>
            <a:r>
              <a:rPr lang="en-US" sz="1200" kern="1200" baseline="0" dirty="0">
                <a:solidFill>
                  <a:schemeClr val="tx1"/>
                </a:solidFill>
                <a:latin typeface="+mn-lt"/>
                <a:ea typeface="+mn-ea"/>
                <a:cs typeface="+mn-cs"/>
              </a:rPr>
              <a:t>concerning the order in which resources can be requested.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Another example of deadlock with a reusable resource has to do with requests for main memory. Suppose the space available for allocation is 200 Kbytes, and the following sequence of requests occurs:  (see diagram)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Deadlock occurs if both processes progress to their second request. If the amount of memory to be requested is not known ahead of time, it is difficult to deal with this type of deadlock by means of system design constraints. The best way to deal with this particular problem is, in effect, to eliminate the possibility by using </a:t>
            </a:r>
            <a:r>
              <a:rPr lang="en-US" sz="1200" b="1" kern="1200" baseline="0" dirty="0">
                <a:solidFill>
                  <a:schemeClr val="tx1"/>
                </a:solidFill>
                <a:latin typeface="+mn-lt"/>
                <a:ea typeface="+mn-ea"/>
                <a:cs typeface="+mn-cs"/>
              </a:rPr>
              <a:t>virtual memory</a:t>
            </a:r>
            <a:r>
              <a:rPr lang="en-US" sz="1200" kern="1200" baseline="0" dirty="0">
                <a:solidFill>
                  <a:schemeClr val="tx1"/>
                </a:solidFill>
                <a:latin typeface="+mn-lt"/>
                <a:ea typeface="+mn-ea"/>
                <a:cs typeface="+mn-cs"/>
              </a:rPr>
              <a:t>, which is discussed in Chapter 8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Communication : As an example of deadlock involving consumable resources, consider the following pair of processes, in which each process attempts to receive a message</a:t>
            </a:r>
          </a:p>
          <a:p>
            <a:r>
              <a:rPr lang="en-US" sz="1200" kern="1200" baseline="0" dirty="0">
                <a:solidFill>
                  <a:schemeClr val="tx1"/>
                </a:solidFill>
                <a:latin typeface="+mn-lt"/>
                <a:ea typeface="+mn-ea"/>
                <a:cs typeface="+mn-cs"/>
              </a:rPr>
              <a:t>from the other process and then send a message to the other process: (see diagram)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Deadlock occurs if the </a:t>
            </a:r>
            <a:r>
              <a:rPr lang="en-US" sz="1200" b="1" kern="1200" baseline="0" dirty="0">
                <a:solidFill>
                  <a:schemeClr val="tx1"/>
                </a:solidFill>
                <a:latin typeface="+mn-lt"/>
                <a:ea typeface="+mn-ea"/>
                <a:cs typeface="+mn-cs"/>
              </a:rPr>
              <a:t>Receive is blocking </a:t>
            </a:r>
            <a:r>
              <a:rPr lang="en-US" sz="1200" kern="1200" baseline="0" dirty="0">
                <a:solidFill>
                  <a:schemeClr val="tx1"/>
                </a:solidFill>
                <a:latin typeface="+mn-lt"/>
                <a:ea typeface="+mn-ea"/>
                <a:cs typeface="+mn-cs"/>
              </a:rPr>
              <a:t>(i.e., the receiving process is blocked until the message is received). Once again, a design error is the cause of the deadlock. Such errors may be quite subtle and difficult to detect. Furthermore, it may take a rare combination of events to cause the deadlock; thus a program could be in use for a considerable period of time, even years, before the deadlock actually occurs.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is no single effective strategy that can deal with all types of deadlock. Table 6.1 summarizes the key elements of the most important approaches that have been developed: </a:t>
            </a:r>
            <a:r>
              <a:rPr lang="en-US" sz="1200" b="1" kern="1200" baseline="0" dirty="0">
                <a:solidFill>
                  <a:schemeClr val="tx1"/>
                </a:solidFill>
                <a:latin typeface="+mn-lt"/>
                <a:ea typeface="+mn-ea"/>
                <a:cs typeface="+mn-cs"/>
              </a:rPr>
              <a:t>prevention, avoidance, and detection</a:t>
            </a:r>
            <a:r>
              <a:rPr lang="en-US" sz="1200" kern="1200" baseline="0" dirty="0">
                <a:solidFill>
                  <a:schemeClr val="tx1"/>
                </a:solidFill>
                <a:latin typeface="+mn-lt"/>
                <a:ea typeface="+mn-ea"/>
                <a:cs typeface="+mn-cs"/>
              </a:rPr>
              <a:t>. We examine each of these in turn, after first introducing resource allocation graphs and then discussing the conditions for deadlock.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useful tool in characterizing the allocation of resources to processes is the </a:t>
            </a:r>
            <a:r>
              <a:rPr lang="en-US" sz="1200" b="1" kern="1200" baseline="0" dirty="0">
                <a:solidFill>
                  <a:schemeClr val="tx1"/>
                </a:solidFill>
                <a:latin typeface="+mn-lt"/>
                <a:ea typeface="+mn-ea"/>
                <a:cs typeface="+mn-cs"/>
              </a:rPr>
              <a:t>resource allocation graph , introduced by Holt [HOLT72]. The resource allocation </a:t>
            </a:r>
            <a:r>
              <a:rPr lang="en-US" sz="1200" kern="1200" baseline="0" dirty="0">
                <a:solidFill>
                  <a:schemeClr val="tx1"/>
                </a:solidFill>
                <a:latin typeface="+mn-lt"/>
                <a:ea typeface="+mn-ea"/>
                <a:cs typeface="+mn-cs"/>
              </a:rPr>
              <a:t>graph is a directed graph that depicts a state of the system of resources and processes, with each process and each resource represented by a node. A graph edge directed from a process to a resource indicates a resource that has been requested by the process but not yet granted ( Figure 6.5a ). Within a resource node, a dot is shown for each instance of that resource. Examples of resource types that may have </a:t>
            </a:r>
            <a:r>
              <a:rPr lang="en-US" sz="1200" b="1" kern="1200" baseline="0" dirty="0">
                <a:solidFill>
                  <a:schemeClr val="accent1">
                    <a:lumMod val="60000"/>
                    <a:lumOff val="40000"/>
                  </a:schemeClr>
                </a:solidFill>
                <a:latin typeface="+mn-lt"/>
                <a:ea typeface="+mn-ea"/>
                <a:cs typeface="+mn-cs"/>
              </a:rPr>
              <a:t>multiple instances </a:t>
            </a:r>
            <a:r>
              <a:rPr lang="en-US" sz="1200" kern="1200" baseline="0" dirty="0">
                <a:solidFill>
                  <a:schemeClr val="tx1"/>
                </a:solidFill>
                <a:latin typeface="+mn-lt"/>
                <a:ea typeface="+mn-ea"/>
                <a:cs typeface="+mn-cs"/>
              </a:rPr>
              <a:t>are I/O devices that are allocated by a resource management module in the OS. A graph edge directed from a reusable resource node dot to a process indicates a request that has been granted ( Figure 6.5b ); that is, the process has been assigned one unit of that resource. A graph edge directed from a consumable</a:t>
            </a:r>
          </a:p>
          <a:p>
            <a:r>
              <a:rPr lang="en-US" sz="1200" kern="1200" baseline="0" dirty="0">
                <a:solidFill>
                  <a:schemeClr val="tx1"/>
                </a:solidFill>
                <a:latin typeface="+mn-lt"/>
                <a:ea typeface="+mn-ea"/>
                <a:cs typeface="+mn-cs"/>
              </a:rPr>
              <a:t>resource node dot to a process indicates that the process is the producer of that</a:t>
            </a:r>
          </a:p>
          <a:p>
            <a:r>
              <a:rPr lang="en-US" sz="1200" kern="1200" baseline="0" dirty="0">
                <a:solidFill>
                  <a:schemeClr val="tx1"/>
                </a:solidFill>
                <a:latin typeface="+mn-lt"/>
                <a:ea typeface="+mn-ea"/>
                <a:cs typeface="+mn-cs"/>
              </a:rPr>
              <a:t>resource.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6.5c shows an example deadlock. There is only one unit each of resources Ra and </a:t>
            </a:r>
            <a:r>
              <a:rPr lang="en-US" sz="1200" kern="1200" baseline="0" dirty="0" err="1">
                <a:solidFill>
                  <a:schemeClr val="tx1"/>
                </a:solidFill>
                <a:latin typeface="+mn-lt"/>
                <a:ea typeface="+mn-ea"/>
                <a:cs typeface="+mn-cs"/>
              </a:rPr>
              <a:t>Rb</a:t>
            </a:r>
            <a:r>
              <a:rPr lang="en-US" sz="1200" kern="1200" baseline="0" dirty="0">
                <a:solidFill>
                  <a:schemeClr val="tx1"/>
                </a:solidFill>
                <a:latin typeface="+mn-lt"/>
                <a:ea typeface="+mn-ea"/>
                <a:cs typeface="+mn-cs"/>
              </a:rPr>
              <a:t>. Process P1 holds </a:t>
            </a:r>
            <a:r>
              <a:rPr lang="en-US" sz="1200" kern="1200" baseline="0" dirty="0" err="1">
                <a:solidFill>
                  <a:schemeClr val="tx1"/>
                </a:solidFill>
                <a:latin typeface="+mn-lt"/>
                <a:ea typeface="+mn-ea"/>
                <a:cs typeface="+mn-cs"/>
              </a:rPr>
              <a:t>Rb</a:t>
            </a:r>
            <a:r>
              <a:rPr lang="en-US" sz="1200" kern="1200" baseline="0" dirty="0">
                <a:solidFill>
                  <a:schemeClr val="tx1"/>
                </a:solidFill>
                <a:latin typeface="+mn-lt"/>
                <a:ea typeface="+mn-ea"/>
                <a:cs typeface="+mn-cs"/>
              </a:rPr>
              <a:t> and requests Ra, while P2 holds Ra but requests </a:t>
            </a:r>
            <a:r>
              <a:rPr lang="en-US" sz="1200" kern="1200" baseline="0" dirty="0" err="1">
                <a:solidFill>
                  <a:schemeClr val="tx1"/>
                </a:solidFill>
                <a:latin typeface="+mn-lt"/>
                <a:ea typeface="+mn-ea"/>
                <a:cs typeface="+mn-cs"/>
              </a:rPr>
              <a:t>Rb</a:t>
            </a:r>
            <a:r>
              <a:rPr lang="en-US" sz="1200" kern="1200" baseline="0" dirty="0">
                <a:solidFill>
                  <a:schemeClr val="tx1"/>
                </a:solidFill>
                <a:latin typeface="+mn-lt"/>
                <a:ea typeface="+mn-ea"/>
                <a:cs typeface="+mn-cs"/>
              </a:rPr>
              <a:t>. Figure 6.5d has the same topology as Figure 6.5c , but there is no deadlock because multiple units of each resource are available.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resource allocation graph of Figure 6.6 corresponds to the deadlock situation in Figure 6.1b . Note that in this case, we do not have a simple situation in which two processes each have one resource the other needs. Rather, in this case, there is a </a:t>
            </a:r>
            <a:r>
              <a:rPr lang="en-US" sz="1200" b="1" kern="1200" baseline="0" dirty="0">
                <a:solidFill>
                  <a:schemeClr val="tx1"/>
                </a:solidFill>
                <a:latin typeface="+mn-lt"/>
                <a:ea typeface="+mn-ea"/>
                <a:cs typeface="+mn-cs"/>
              </a:rPr>
              <a:t>circular</a:t>
            </a:r>
            <a:r>
              <a:rPr lang="en-US" sz="1200" kern="1200" baseline="0" dirty="0">
                <a:solidFill>
                  <a:schemeClr val="tx1"/>
                </a:solidFill>
                <a:latin typeface="+mn-lt"/>
                <a:ea typeface="+mn-ea"/>
                <a:cs typeface="+mn-cs"/>
              </a:rPr>
              <a:t> chain of processes and resources that results in deadlock.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Three conditions of policy must be present for a deadlock to be possible:</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Mutual exclusion . Only one process may use a resource at a time. No process </a:t>
            </a:r>
            <a:r>
              <a:rPr lang="en-US" sz="1200" kern="1200" baseline="0" dirty="0">
                <a:solidFill>
                  <a:schemeClr val="tx1"/>
                </a:solidFill>
                <a:latin typeface="+mn-lt"/>
                <a:ea typeface="+mn-ea"/>
                <a:cs typeface="+mn-cs"/>
              </a:rPr>
              <a:t>may access a resource unit that has been allocated to another process.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Hold and wait . A process may hold allocated resources while awaiting assignment </a:t>
            </a:r>
            <a:r>
              <a:rPr lang="en-US" sz="1200" kern="1200" baseline="0" dirty="0">
                <a:solidFill>
                  <a:schemeClr val="tx1"/>
                </a:solidFill>
                <a:latin typeface="+mn-lt"/>
                <a:ea typeface="+mn-ea"/>
                <a:cs typeface="+mn-cs"/>
              </a:rPr>
              <a:t>of other resources.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3. No preemption . No resource can be forcibly removed from a process holding it.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many ways these conditions are quite desirable. For example, mutual exclusion is needed to ensure consistency of results and the integrity of a database. Similarly, preemption should not be done arbitrarily. For example, when data resources are involved, preemption must be supported by a rollback recovery mechanism, which restores a process and its resources to a suitable previous state from which the process can eventually repeat its actions.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first three conditions are </a:t>
            </a:r>
            <a:r>
              <a:rPr lang="en-US" sz="1200" i="1" kern="1200" baseline="0" dirty="0">
                <a:solidFill>
                  <a:schemeClr val="tx1"/>
                </a:solidFill>
                <a:latin typeface="+mn-lt"/>
                <a:ea typeface="+mn-ea"/>
                <a:cs typeface="+mn-cs"/>
              </a:rPr>
              <a:t>necessary</a:t>
            </a:r>
            <a:r>
              <a:rPr lang="en-US" sz="1200" kern="1200" baseline="0" dirty="0">
                <a:solidFill>
                  <a:schemeClr val="tx1"/>
                </a:solidFill>
                <a:latin typeface="+mn-lt"/>
                <a:ea typeface="+mn-ea"/>
                <a:cs typeface="+mn-cs"/>
              </a:rPr>
              <a:t> but not </a:t>
            </a:r>
            <a:r>
              <a:rPr lang="en-US" sz="1200" i="1" kern="1200" baseline="0" dirty="0">
                <a:solidFill>
                  <a:schemeClr val="tx1"/>
                </a:solidFill>
                <a:latin typeface="+mn-lt"/>
                <a:ea typeface="+mn-ea"/>
                <a:cs typeface="+mn-cs"/>
              </a:rPr>
              <a:t>sufficient</a:t>
            </a:r>
            <a:r>
              <a:rPr lang="en-US" sz="1200" kern="1200" baseline="0" dirty="0">
                <a:solidFill>
                  <a:schemeClr val="tx1"/>
                </a:solidFill>
                <a:latin typeface="+mn-lt"/>
                <a:ea typeface="+mn-ea"/>
                <a:cs typeface="+mn-cs"/>
              </a:rPr>
              <a:t> for a deadlock to exist. For deadlock to actually take place, a fourth condition is required:</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4. Circular wait . </a:t>
            </a:r>
            <a:r>
              <a:rPr lang="en-US" sz="1200" b="0" kern="1200" baseline="0" dirty="0">
                <a:solidFill>
                  <a:schemeClr val="tx1"/>
                </a:solidFill>
                <a:latin typeface="+mn-lt"/>
                <a:ea typeface="+mn-ea"/>
                <a:cs typeface="+mn-cs"/>
              </a:rPr>
              <a:t>A closed chain of processes exists, such that each process holds</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at least one resource needed by the next process in the chain (e.g., Figure 6.5c</a:t>
            </a:r>
          </a:p>
          <a:p>
            <a:r>
              <a:rPr lang="en-US" sz="1200" kern="1200" baseline="0" dirty="0">
                <a:solidFill>
                  <a:schemeClr val="tx1"/>
                </a:solidFill>
                <a:latin typeface="+mn-lt"/>
                <a:ea typeface="+mn-ea"/>
                <a:cs typeface="+mn-cs"/>
              </a:rPr>
              <a:t>and Figure 6.6 ).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fourth condition is, actually, a potential consequence of the first three. That is, given that the first three conditions exist, a sequence of events may occur that lead to an </a:t>
            </a:r>
            <a:r>
              <a:rPr lang="en-US" sz="1200" kern="1200" baseline="0" dirty="0" err="1">
                <a:solidFill>
                  <a:schemeClr val="tx1"/>
                </a:solidFill>
                <a:latin typeface="+mn-lt"/>
                <a:ea typeface="+mn-ea"/>
                <a:cs typeface="+mn-cs"/>
              </a:rPr>
              <a:t>unresolvable</a:t>
            </a:r>
            <a:r>
              <a:rPr lang="en-US" sz="1200" kern="1200" baseline="0" dirty="0">
                <a:solidFill>
                  <a:schemeClr val="tx1"/>
                </a:solidFill>
                <a:latin typeface="+mn-lt"/>
                <a:ea typeface="+mn-ea"/>
                <a:cs typeface="+mn-cs"/>
              </a:rPr>
              <a:t> circular wait. The </a:t>
            </a:r>
            <a:r>
              <a:rPr lang="en-US" sz="1200" kern="1200" baseline="0" dirty="0" err="1">
                <a:solidFill>
                  <a:schemeClr val="tx1"/>
                </a:solidFill>
                <a:latin typeface="+mn-lt"/>
                <a:ea typeface="+mn-ea"/>
                <a:cs typeface="+mn-cs"/>
              </a:rPr>
              <a:t>unresolvable</a:t>
            </a:r>
            <a:r>
              <a:rPr lang="en-US" sz="1200" kern="1200" baseline="0" dirty="0">
                <a:solidFill>
                  <a:schemeClr val="tx1"/>
                </a:solidFill>
                <a:latin typeface="+mn-lt"/>
                <a:ea typeface="+mn-ea"/>
                <a:cs typeface="+mn-cs"/>
              </a:rPr>
              <a:t> circular wait is in fact the definition of deadlock. The circular wait listed as condition 4 is </a:t>
            </a:r>
            <a:r>
              <a:rPr lang="en-US" sz="1200" kern="1200" baseline="0" dirty="0" err="1">
                <a:solidFill>
                  <a:schemeClr val="tx1"/>
                </a:solidFill>
                <a:latin typeface="+mn-lt"/>
                <a:ea typeface="+mn-ea"/>
                <a:cs typeface="+mn-cs"/>
              </a:rPr>
              <a:t>unresolvable</a:t>
            </a:r>
            <a:r>
              <a:rPr lang="en-US" sz="1200" kern="1200" baseline="0" dirty="0">
                <a:solidFill>
                  <a:schemeClr val="tx1"/>
                </a:solidFill>
                <a:latin typeface="+mn-lt"/>
                <a:ea typeface="+mn-ea"/>
                <a:cs typeface="+mn-cs"/>
              </a:rPr>
              <a:t> because the first three conditions hold. Thus, the four conditions, taken together, constitute necessary and sufficient conditions for deadlock.</a:t>
            </a: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Three general approaches exist for dealing with deadlock. First, one can </a:t>
            </a:r>
            <a:r>
              <a:rPr lang="en-US" sz="1200" b="1" kern="1200" baseline="0" dirty="0">
                <a:solidFill>
                  <a:schemeClr val="tx1"/>
                </a:solidFill>
                <a:latin typeface="+mn-lt"/>
                <a:ea typeface="+mn-ea"/>
                <a:cs typeface="+mn-cs"/>
              </a:rPr>
              <a:t>prevent deadlock </a:t>
            </a:r>
            <a:r>
              <a:rPr lang="en-US" sz="1200" b="0" kern="1200" baseline="0" dirty="0">
                <a:solidFill>
                  <a:schemeClr val="tx1"/>
                </a:solidFill>
                <a:latin typeface="+mn-lt"/>
                <a:ea typeface="+mn-ea"/>
                <a:cs typeface="+mn-cs"/>
              </a:rPr>
              <a:t>by adopting a policy that eliminates one of the conditions </a:t>
            </a:r>
            <a:r>
              <a:rPr lang="en-US" sz="1200" kern="1200" baseline="0" dirty="0">
                <a:solidFill>
                  <a:schemeClr val="tx1"/>
                </a:solidFill>
                <a:latin typeface="+mn-lt"/>
                <a:ea typeface="+mn-ea"/>
                <a:cs typeface="+mn-cs"/>
              </a:rPr>
              <a:t>(conditions 1 through 4). Second, one can </a:t>
            </a:r>
            <a:r>
              <a:rPr lang="en-US" sz="1200" b="1" kern="1200" baseline="0" dirty="0">
                <a:solidFill>
                  <a:schemeClr val="tx1"/>
                </a:solidFill>
                <a:latin typeface="+mn-lt"/>
                <a:ea typeface="+mn-ea"/>
                <a:cs typeface="+mn-cs"/>
              </a:rPr>
              <a:t>avoid deadlock </a:t>
            </a:r>
            <a:r>
              <a:rPr lang="en-US" sz="1200" b="0" kern="1200" baseline="0" dirty="0">
                <a:solidFill>
                  <a:schemeClr val="tx1"/>
                </a:solidFill>
                <a:latin typeface="+mn-lt"/>
                <a:ea typeface="+mn-ea"/>
                <a:cs typeface="+mn-cs"/>
              </a:rPr>
              <a:t>by making the appropriate </a:t>
            </a:r>
            <a:r>
              <a:rPr lang="en-US" sz="1200" i="1" kern="1200" baseline="0" dirty="0">
                <a:solidFill>
                  <a:schemeClr val="tx1"/>
                </a:solidFill>
                <a:latin typeface="+mn-lt"/>
                <a:ea typeface="+mn-ea"/>
                <a:cs typeface="+mn-cs"/>
              </a:rPr>
              <a:t>dynamic</a:t>
            </a:r>
            <a:r>
              <a:rPr lang="en-US" sz="1200" kern="1200" baseline="0" dirty="0">
                <a:solidFill>
                  <a:schemeClr val="tx1"/>
                </a:solidFill>
                <a:latin typeface="+mn-lt"/>
                <a:ea typeface="+mn-ea"/>
                <a:cs typeface="+mn-cs"/>
              </a:rPr>
              <a:t> choices based on the current state of resource allocation. Third, one can attempt to </a:t>
            </a:r>
            <a:r>
              <a:rPr lang="en-US" sz="1200" b="1" kern="1200" baseline="0" dirty="0">
                <a:solidFill>
                  <a:schemeClr val="tx1"/>
                </a:solidFill>
                <a:latin typeface="+mn-lt"/>
                <a:ea typeface="+mn-ea"/>
                <a:cs typeface="+mn-cs"/>
              </a:rPr>
              <a:t>detect </a:t>
            </a:r>
            <a:r>
              <a:rPr lang="en-US" sz="1200" b="0" kern="1200" baseline="0" dirty="0">
                <a:solidFill>
                  <a:schemeClr val="tx1"/>
                </a:solidFill>
                <a:latin typeface="+mn-lt"/>
                <a:ea typeface="+mn-ea"/>
                <a:cs typeface="+mn-cs"/>
              </a:rPr>
              <a:t>the presence of deadlock (conditions 1 through 4 hold) and </a:t>
            </a:r>
            <a:r>
              <a:rPr lang="en-US" sz="1200" kern="1200" baseline="0" dirty="0">
                <a:solidFill>
                  <a:schemeClr val="tx1"/>
                </a:solidFill>
                <a:latin typeface="+mn-lt"/>
                <a:ea typeface="+mn-ea"/>
                <a:cs typeface="+mn-cs"/>
              </a:rPr>
              <a:t>take action to recover.</a:t>
            </a:r>
            <a:endParaRPr lang="en-NZ"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strategy of deadlock prevention is, simply put, to design a system in such a way that the possibility of deadlock is excluded. We can view deadlock prevention methods as falling into two classes. An </a:t>
            </a:r>
            <a:r>
              <a:rPr lang="en-US" sz="1200" b="1" kern="1200" baseline="0" dirty="0">
                <a:solidFill>
                  <a:schemeClr val="tx1"/>
                </a:solidFill>
                <a:latin typeface="+mn-lt"/>
                <a:ea typeface="+mn-ea"/>
                <a:cs typeface="+mn-cs"/>
              </a:rPr>
              <a:t>indirect</a:t>
            </a:r>
            <a:r>
              <a:rPr lang="en-US" sz="1200" kern="1200" baseline="0" dirty="0">
                <a:solidFill>
                  <a:schemeClr val="tx1"/>
                </a:solidFill>
                <a:latin typeface="+mn-lt"/>
                <a:ea typeface="+mn-ea"/>
                <a:cs typeface="+mn-cs"/>
              </a:rPr>
              <a:t> method of deadlock prevention is to prevent the occurrence of one of the three necessary conditions listed previously (items </a:t>
            </a:r>
            <a:r>
              <a:rPr lang="en-US" sz="1200" b="1" kern="1200" baseline="0" dirty="0">
                <a:solidFill>
                  <a:schemeClr val="tx1"/>
                </a:solidFill>
                <a:latin typeface="+mn-lt"/>
                <a:ea typeface="+mn-ea"/>
                <a:cs typeface="+mn-cs"/>
              </a:rPr>
              <a:t>1 through 3</a:t>
            </a:r>
            <a:r>
              <a:rPr lang="en-US" sz="1200" kern="1200" baseline="0" dirty="0">
                <a:solidFill>
                  <a:schemeClr val="tx1"/>
                </a:solidFill>
                <a:latin typeface="+mn-lt"/>
                <a:ea typeface="+mn-ea"/>
                <a:cs typeface="+mn-cs"/>
              </a:rPr>
              <a:t>). A </a:t>
            </a:r>
            <a:r>
              <a:rPr lang="en-US" sz="1200" b="1" kern="1200" baseline="0" dirty="0">
                <a:solidFill>
                  <a:schemeClr val="tx1"/>
                </a:solidFill>
                <a:latin typeface="+mn-lt"/>
                <a:ea typeface="+mn-ea"/>
                <a:cs typeface="+mn-cs"/>
              </a:rPr>
              <a:t>direct</a:t>
            </a:r>
            <a:r>
              <a:rPr lang="en-US" sz="1200" kern="1200" baseline="0" dirty="0">
                <a:solidFill>
                  <a:schemeClr val="tx1"/>
                </a:solidFill>
                <a:latin typeface="+mn-lt"/>
                <a:ea typeface="+mn-ea"/>
                <a:cs typeface="+mn-cs"/>
              </a:rPr>
              <a:t> method of deadlock prevention is to prevent the occurrence of a </a:t>
            </a:r>
            <a:r>
              <a:rPr lang="en-US" sz="1200" b="1" kern="1200" baseline="0" dirty="0">
                <a:solidFill>
                  <a:schemeClr val="tx1"/>
                </a:solidFill>
                <a:latin typeface="+mn-lt"/>
                <a:ea typeface="+mn-ea"/>
                <a:cs typeface="+mn-cs"/>
              </a:rPr>
              <a:t>circular wait </a:t>
            </a:r>
            <a:r>
              <a:rPr lang="en-US" sz="1200" kern="1200" baseline="0" dirty="0">
                <a:solidFill>
                  <a:schemeClr val="tx1"/>
                </a:solidFill>
                <a:latin typeface="+mn-lt"/>
                <a:ea typeface="+mn-ea"/>
                <a:cs typeface="+mn-cs"/>
              </a:rPr>
              <a:t>(item 4).</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n-US" sz="1200" b="1" kern="1200" baseline="0" dirty="0">
                <a:solidFill>
                  <a:schemeClr val="tx1"/>
                </a:solidFill>
                <a:latin typeface="+mn-lt"/>
                <a:ea typeface="+mn-ea"/>
                <a:cs typeface="+mn-cs"/>
              </a:rPr>
              <a:t>Mutual Exclusion</a:t>
            </a:r>
          </a:p>
          <a:p>
            <a:r>
              <a:rPr lang="en-US" sz="1200" kern="1200" baseline="0" dirty="0">
                <a:solidFill>
                  <a:schemeClr val="tx1"/>
                </a:solidFill>
                <a:latin typeface="+mn-lt"/>
                <a:ea typeface="+mn-ea"/>
                <a:cs typeface="+mn-cs"/>
              </a:rPr>
              <a:t>In general, the first of the four listed conditions </a:t>
            </a:r>
            <a:r>
              <a:rPr lang="en-US" sz="1200" b="1" kern="1200" baseline="0" dirty="0">
                <a:solidFill>
                  <a:schemeClr val="tx1"/>
                </a:solidFill>
                <a:latin typeface="+mn-lt"/>
                <a:ea typeface="+mn-ea"/>
                <a:cs typeface="+mn-cs"/>
              </a:rPr>
              <a:t>cannot be disallowed</a:t>
            </a:r>
            <a:r>
              <a:rPr lang="en-US" sz="1200" kern="1200" baseline="0" dirty="0">
                <a:solidFill>
                  <a:schemeClr val="tx1"/>
                </a:solidFill>
                <a:latin typeface="+mn-lt"/>
                <a:ea typeface="+mn-ea"/>
                <a:cs typeface="+mn-cs"/>
              </a:rPr>
              <a:t>. If access to a resource requires mutual exclusion, then mutual exclusion must be supported by the OS. Some resources, such as files, may allow multiple accesses for reads but only exclusive access for writes. Even in this case, deadlock can occur if more than one process requires write permission.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Hold and Wait</a:t>
            </a:r>
          </a:p>
          <a:p>
            <a:r>
              <a:rPr lang="en-US" sz="1200" kern="1200" baseline="0" dirty="0">
                <a:solidFill>
                  <a:schemeClr val="tx1"/>
                </a:solidFill>
                <a:latin typeface="+mn-lt"/>
                <a:ea typeface="+mn-ea"/>
                <a:cs typeface="+mn-cs"/>
              </a:rPr>
              <a:t>The hold-and-wait condition can be prevented by requiring that a process </a:t>
            </a:r>
            <a:r>
              <a:rPr lang="en-US" sz="1200" i="1" kern="1200" baseline="0" dirty="0">
                <a:solidFill>
                  <a:schemeClr val="tx1"/>
                </a:solidFill>
                <a:latin typeface="+mn-lt"/>
                <a:ea typeface="+mn-ea"/>
                <a:cs typeface="+mn-cs"/>
              </a:rPr>
              <a:t>request all of its required resources at one time </a:t>
            </a:r>
            <a:r>
              <a:rPr lang="en-US" sz="1200" kern="1200" baseline="0" dirty="0">
                <a:solidFill>
                  <a:schemeClr val="tx1"/>
                </a:solidFill>
                <a:latin typeface="+mn-lt"/>
                <a:ea typeface="+mn-ea"/>
                <a:cs typeface="+mn-cs"/>
              </a:rPr>
              <a:t>and blocking the process until all requests can be granted simultaneously. This approach is inefficient in two ways. First, a process may be held up for a long time waiting for all of its resource requests to be filled, when in fact it could have proceeded with only some of the resources. Second, resources allocated to a process may remain unused for a considerable period, during which time they are denied to other processes. Another problem is that a process </a:t>
            </a:r>
            <a:r>
              <a:rPr lang="en-US" sz="1200" i="1" kern="1200" baseline="0" dirty="0">
                <a:solidFill>
                  <a:schemeClr val="tx1"/>
                </a:solidFill>
                <a:latin typeface="+mn-lt"/>
                <a:ea typeface="+mn-ea"/>
                <a:cs typeface="+mn-cs"/>
              </a:rPr>
              <a:t>may not know in advance</a:t>
            </a:r>
            <a:r>
              <a:rPr lang="en-US" sz="1200" kern="1200" baseline="0" dirty="0">
                <a:solidFill>
                  <a:schemeClr val="tx1"/>
                </a:solidFill>
                <a:latin typeface="+mn-lt"/>
                <a:ea typeface="+mn-ea"/>
                <a:cs typeface="+mn-cs"/>
              </a:rPr>
              <a:t> all of the resources that it will require.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is also the practical problem created by the use of modular programming or a multithreaded structure for an application. An application would need to be aware of all resources that will be requested at all levels or in all modules to make the simultaneous request.</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r>
              <a:rPr lang="en-US" sz="1200" b="1" kern="1200" baseline="0" dirty="0">
                <a:solidFill>
                  <a:schemeClr val="tx1"/>
                </a:solidFill>
                <a:latin typeface="+mn-lt"/>
                <a:ea typeface="+mn-ea"/>
                <a:cs typeface="+mn-cs"/>
              </a:rPr>
              <a:t>No Preemption</a:t>
            </a:r>
          </a:p>
          <a:p>
            <a:r>
              <a:rPr lang="en-US" sz="1200" kern="1200" baseline="0" dirty="0">
                <a:solidFill>
                  <a:schemeClr val="tx1"/>
                </a:solidFill>
                <a:latin typeface="+mn-lt"/>
                <a:ea typeface="+mn-ea"/>
                <a:cs typeface="+mn-cs"/>
              </a:rPr>
              <a:t>This condition can be prevented in several ways. First, if a process holding certain resources is denied a further request, that process </a:t>
            </a:r>
            <a:r>
              <a:rPr lang="en-US" sz="1200" b="1" kern="1200" baseline="0" dirty="0">
                <a:solidFill>
                  <a:schemeClr val="tx1"/>
                </a:solidFill>
                <a:latin typeface="+mn-lt"/>
                <a:ea typeface="+mn-ea"/>
                <a:cs typeface="+mn-cs"/>
              </a:rPr>
              <a:t>must release its original resources </a:t>
            </a:r>
            <a:r>
              <a:rPr lang="en-US" sz="1200" kern="1200" baseline="0" dirty="0">
                <a:solidFill>
                  <a:schemeClr val="tx1"/>
                </a:solidFill>
                <a:latin typeface="+mn-lt"/>
                <a:ea typeface="+mn-ea"/>
                <a:cs typeface="+mn-cs"/>
              </a:rPr>
              <a:t>and, if necessary, request them again together with the additional resource. Alternatively, if a process requests a resource that is currently held by another process, the </a:t>
            </a:r>
            <a:r>
              <a:rPr lang="en-US" sz="1200" b="1" kern="1200" baseline="0" dirty="0">
                <a:solidFill>
                  <a:schemeClr val="tx1"/>
                </a:solidFill>
                <a:latin typeface="+mn-lt"/>
                <a:ea typeface="+mn-ea"/>
                <a:cs typeface="+mn-cs"/>
              </a:rPr>
              <a:t>OS may preempt the second process and require it to release its resources</a:t>
            </a:r>
            <a:r>
              <a:rPr lang="en-US" sz="1200" kern="1200" baseline="0" dirty="0">
                <a:solidFill>
                  <a:schemeClr val="tx1"/>
                </a:solidFill>
                <a:latin typeface="+mn-lt"/>
                <a:ea typeface="+mn-ea"/>
                <a:cs typeface="+mn-cs"/>
              </a:rPr>
              <a:t>. This latter scheme would prevent deadlock only if no two processes possessed the same priority.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approach is practical only when applied to resources whose state can be easily saved and restored later, as is the case with a processor.</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Circular Wait</a:t>
            </a:r>
          </a:p>
          <a:p>
            <a:r>
              <a:rPr lang="en-US" sz="1200" kern="1200" baseline="0" dirty="0">
                <a:solidFill>
                  <a:schemeClr val="tx1"/>
                </a:solidFill>
                <a:latin typeface="+mn-lt"/>
                <a:ea typeface="+mn-ea"/>
                <a:cs typeface="+mn-cs"/>
              </a:rPr>
              <a:t>The circular-wait condition can be prevented by defining a </a:t>
            </a:r>
            <a:r>
              <a:rPr lang="en-US" sz="1200" b="1" kern="1200" baseline="0" dirty="0">
                <a:solidFill>
                  <a:schemeClr val="tx1"/>
                </a:solidFill>
                <a:latin typeface="+mn-lt"/>
                <a:ea typeface="+mn-ea"/>
                <a:cs typeface="+mn-cs"/>
              </a:rPr>
              <a:t>linear ordering of resource types</a:t>
            </a:r>
            <a:r>
              <a:rPr lang="en-US" sz="1200" kern="1200" baseline="0" dirty="0">
                <a:solidFill>
                  <a:schemeClr val="tx1"/>
                </a:solidFill>
                <a:latin typeface="+mn-lt"/>
                <a:ea typeface="+mn-ea"/>
                <a:cs typeface="+mn-cs"/>
              </a:rPr>
              <a:t>. If a process has been allocated resources of type </a:t>
            </a:r>
            <a:r>
              <a:rPr lang="en-US" sz="1200" i="1" kern="1200" baseline="0" dirty="0">
                <a:solidFill>
                  <a:schemeClr val="tx1"/>
                </a:solidFill>
                <a:latin typeface="+mn-lt"/>
                <a:ea typeface="+mn-ea"/>
                <a:cs typeface="+mn-cs"/>
              </a:rPr>
              <a:t>R , then it may </a:t>
            </a:r>
            <a:r>
              <a:rPr lang="en-US" sz="1200" kern="1200" baseline="0" dirty="0">
                <a:solidFill>
                  <a:schemeClr val="tx1"/>
                </a:solidFill>
                <a:latin typeface="+mn-lt"/>
                <a:ea typeface="+mn-ea"/>
                <a:cs typeface="+mn-cs"/>
              </a:rPr>
              <a:t>subsequently request only those resources of types following </a:t>
            </a:r>
            <a:r>
              <a:rPr lang="en-US" sz="1200" i="1" kern="1200" baseline="0" dirty="0">
                <a:solidFill>
                  <a:schemeClr val="tx1"/>
                </a:solidFill>
                <a:latin typeface="+mn-lt"/>
                <a:ea typeface="+mn-ea"/>
                <a:cs typeface="+mn-cs"/>
              </a:rPr>
              <a:t>R in the ordering. </a:t>
            </a:r>
            <a:r>
              <a:rPr lang="en-US" sz="1200" kern="1200" baseline="0" dirty="0">
                <a:solidFill>
                  <a:schemeClr val="tx1"/>
                </a:solidFill>
                <a:latin typeface="+mn-lt"/>
                <a:ea typeface="+mn-ea"/>
                <a:cs typeface="+mn-cs"/>
              </a:rPr>
              <a:t>To see that this strategy works, let us associate an index with each resource type. Then resource </a:t>
            </a:r>
            <a:r>
              <a:rPr lang="en-US" sz="1200" i="1" kern="1200" baseline="0" dirty="0">
                <a:solidFill>
                  <a:schemeClr val="tx1"/>
                </a:solidFill>
                <a:latin typeface="+mn-lt"/>
                <a:ea typeface="+mn-ea"/>
                <a:cs typeface="+mn-cs"/>
              </a:rPr>
              <a:t>R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precedes R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in the ordering if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&lt;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 Now suppose that two </a:t>
            </a:r>
            <a:r>
              <a:rPr lang="en-US" sz="1200" kern="1200" baseline="0" dirty="0">
                <a:solidFill>
                  <a:schemeClr val="tx1"/>
                </a:solidFill>
                <a:latin typeface="+mn-lt"/>
                <a:ea typeface="+mn-ea"/>
                <a:cs typeface="+mn-cs"/>
              </a:rPr>
              <a:t>processes, A and B, are deadlocked because A has acquired </a:t>
            </a:r>
            <a:r>
              <a:rPr lang="en-US" sz="1200" i="1" kern="1200" baseline="0" dirty="0">
                <a:solidFill>
                  <a:schemeClr val="tx1"/>
                </a:solidFill>
                <a:latin typeface="+mn-lt"/>
                <a:ea typeface="+mn-ea"/>
                <a:cs typeface="+mn-cs"/>
              </a:rPr>
              <a:t>R </a:t>
            </a:r>
            <a:r>
              <a:rPr lang="en-US" sz="1200" i="1" kern="1200" baseline="-25000" dirty="0" err="1">
                <a:solidFill>
                  <a:schemeClr val="tx1"/>
                </a:solidFill>
                <a:latin typeface="+mn-lt"/>
                <a:ea typeface="+mn-ea"/>
                <a:cs typeface="+mn-cs"/>
              </a:rPr>
              <a:t>i</a:t>
            </a:r>
            <a:r>
              <a:rPr lang="en-US" sz="1200" i="1" kern="1200" baseline="0" dirty="0">
                <a:solidFill>
                  <a:schemeClr val="tx1"/>
                </a:solidFill>
                <a:latin typeface="+mn-lt"/>
                <a:ea typeface="+mn-ea"/>
                <a:cs typeface="+mn-cs"/>
              </a:rPr>
              <a:t> and requested R </a:t>
            </a:r>
            <a:r>
              <a:rPr lang="en-US" sz="1200" i="1" kern="1200" baseline="-25000" dirty="0" err="1">
                <a:solidFill>
                  <a:schemeClr val="tx1"/>
                </a:solidFill>
                <a:latin typeface="+mn-lt"/>
                <a:ea typeface="+mn-ea"/>
                <a:cs typeface="+mn-cs"/>
              </a:rPr>
              <a:t>j</a:t>
            </a:r>
            <a:r>
              <a:rPr lang="en-US" sz="1200" i="1" kern="1200" baseline="-25000" dirty="0">
                <a:solidFill>
                  <a:schemeClr val="tx1"/>
                </a:solidFill>
                <a:latin typeface="+mn-lt"/>
                <a:ea typeface="+mn-ea"/>
                <a:cs typeface="+mn-cs"/>
              </a:rPr>
              <a:t> </a:t>
            </a:r>
            <a:r>
              <a:rPr lang="en-US" sz="1200" i="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and B has acquired </a:t>
            </a:r>
            <a:r>
              <a:rPr lang="en-US" sz="1200" i="1" kern="1200" baseline="0" dirty="0">
                <a:solidFill>
                  <a:schemeClr val="tx1"/>
                </a:solidFill>
                <a:latin typeface="+mn-lt"/>
                <a:ea typeface="+mn-ea"/>
                <a:cs typeface="+mn-cs"/>
              </a:rPr>
              <a:t>R </a:t>
            </a:r>
            <a:r>
              <a:rPr lang="en-US" sz="1200" i="1" kern="1200" baseline="-25000" dirty="0" err="1">
                <a:solidFill>
                  <a:schemeClr val="tx1"/>
                </a:solidFill>
                <a:latin typeface="+mn-lt"/>
                <a:ea typeface="+mn-ea"/>
                <a:cs typeface="+mn-cs"/>
              </a:rPr>
              <a:t>j</a:t>
            </a:r>
            <a:r>
              <a:rPr lang="en-US" sz="1200" i="1" kern="1200" baseline="0" dirty="0">
                <a:solidFill>
                  <a:schemeClr val="tx1"/>
                </a:solidFill>
                <a:latin typeface="+mn-lt"/>
                <a:ea typeface="+mn-ea"/>
                <a:cs typeface="+mn-cs"/>
              </a:rPr>
              <a:t> and requested R</a:t>
            </a:r>
            <a:r>
              <a:rPr lang="en-US" sz="1200" i="1" kern="1200" baseline="-25000" dirty="0">
                <a:solidFill>
                  <a:schemeClr val="tx1"/>
                </a:solidFill>
                <a:latin typeface="+mn-lt"/>
                <a:ea typeface="+mn-ea"/>
                <a:cs typeface="+mn-cs"/>
              </a:rPr>
              <a:t> </a:t>
            </a:r>
            <a:r>
              <a:rPr lang="en-US" sz="1200" i="1" kern="1200" baseline="-25000" dirty="0" err="1">
                <a:solidFill>
                  <a:schemeClr val="tx1"/>
                </a:solidFill>
                <a:latin typeface="+mn-lt"/>
                <a:ea typeface="+mn-ea"/>
                <a:cs typeface="+mn-cs"/>
              </a:rPr>
              <a:t>i</a:t>
            </a:r>
            <a:r>
              <a:rPr lang="en-US" sz="1200" i="1" kern="1200" baseline="-25000" dirty="0">
                <a:solidFill>
                  <a:schemeClr val="tx1"/>
                </a:solidFill>
                <a:latin typeface="+mn-lt"/>
                <a:ea typeface="+mn-ea"/>
                <a:cs typeface="+mn-cs"/>
              </a:rPr>
              <a:t> </a:t>
            </a:r>
            <a:r>
              <a:rPr lang="en-US" sz="1200" i="1" kern="1200" baseline="0" dirty="0">
                <a:solidFill>
                  <a:schemeClr val="tx1"/>
                </a:solidFill>
                <a:latin typeface="+mn-lt"/>
                <a:ea typeface="+mn-ea"/>
                <a:cs typeface="+mn-cs"/>
              </a:rPr>
              <a:t>. This condition is impossible because it </a:t>
            </a:r>
            <a:r>
              <a:rPr lang="en-US" sz="1200" kern="1200" baseline="0" dirty="0">
                <a:solidFill>
                  <a:schemeClr val="tx1"/>
                </a:solidFill>
                <a:latin typeface="+mn-lt"/>
                <a:ea typeface="+mn-ea"/>
                <a:cs typeface="+mn-cs"/>
              </a:rPr>
              <a:t>implies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&lt;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and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&lt;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has R1 and requests R2   </a:t>
            </a:r>
            <a:r>
              <a:rPr lang="en-US" sz="1200" kern="1200" baseline="0" dirty="0">
                <a:solidFill>
                  <a:schemeClr val="tx1"/>
                </a:solidFill>
                <a:latin typeface="+mn-lt"/>
                <a:ea typeface="+mn-ea"/>
                <a:cs typeface="+mn-cs"/>
                <a:sym typeface="Wingdings" panose="05000000000000000000" pitchFamily="2" charset="2"/>
              </a:rPr>
              <a:t> ok</a:t>
            </a:r>
          </a:p>
          <a:p>
            <a:r>
              <a:rPr lang="en-US" sz="1200" kern="1200" baseline="0" dirty="0">
                <a:solidFill>
                  <a:schemeClr val="tx1"/>
                </a:solidFill>
                <a:latin typeface="+mn-lt"/>
                <a:ea typeface="+mn-ea"/>
                <a:cs typeface="+mn-cs"/>
                <a:sym typeface="Wingdings" panose="05000000000000000000" pitchFamily="2" charset="2"/>
              </a:rPr>
              <a:t>B: has R2 and requests R1    not ok</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with hold-and-wait prevention, circular-wait prevention may be inefficient, slowing down processes and denying resource access unnecessarily.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 approach to solving the deadlock problem that differs subtly from deadlock prevention is deadlock avoidance.  In </a:t>
            </a:r>
            <a:r>
              <a:rPr lang="en-US" sz="1200" b="1" kern="1200" baseline="0" dirty="0">
                <a:solidFill>
                  <a:schemeClr val="tx1"/>
                </a:solidFill>
                <a:latin typeface="+mn-lt"/>
                <a:ea typeface="+mn-ea"/>
                <a:cs typeface="+mn-cs"/>
              </a:rPr>
              <a:t>deadlock prevention , </a:t>
            </a:r>
            <a:r>
              <a:rPr lang="en-US" sz="1200" b="0" kern="1200" baseline="0" dirty="0">
                <a:solidFill>
                  <a:schemeClr val="tx1"/>
                </a:solidFill>
                <a:latin typeface="+mn-lt"/>
                <a:ea typeface="+mn-ea"/>
                <a:cs typeface="+mn-cs"/>
              </a:rPr>
              <a:t>we constrain resource </a:t>
            </a:r>
            <a:r>
              <a:rPr lang="en-US" sz="1200" kern="1200" baseline="0" dirty="0">
                <a:solidFill>
                  <a:schemeClr val="tx1"/>
                </a:solidFill>
                <a:latin typeface="+mn-lt"/>
                <a:ea typeface="+mn-ea"/>
                <a:cs typeface="+mn-cs"/>
              </a:rPr>
              <a:t>requests to prevent at least one of the four conditions of deadlock. This is either done indirectly, by preventing one of the three necessary policy conditions (mutual exclusion, hold and wait, no preemption), or directly, by preventing circular wait. This leads to inefficient use of resources and inefficient execution of processes. </a:t>
            </a:r>
            <a:r>
              <a:rPr lang="en-US" sz="1200" b="1" kern="1200" baseline="0" dirty="0">
                <a:solidFill>
                  <a:schemeClr val="tx1"/>
                </a:solidFill>
                <a:latin typeface="+mn-lt"/>
                <a:ea typeface="+mn-ea"/>
                <a:cs typeface="+mn-cs"/>
              </a:rPr>
              <a:t>Deadlock avoidance , </a:t>
            </a:r>
            <a:r>
              <a:rPr lang="en-US" sz="1200" b="0" kern="1200" baseline="0" dirty="0">
                <a:solidFill>
                  <a:schemeClr val="tx1"/>
                </a:solidFill>
                <a:latin typeface="+mn-lt"/>
                <a:ea typeface="+mn-ea"/>
                <a:cs typeface="+mn-cs"/>
              </a:rPr>
              <a:t>on the other hand, allows the three necessary</a:t>
            </a:r>
            <a:r>
              <a:rPr lang="en-US" sz="1200" b="1" kern="1200" baseline="0" dirty="0">
                <a:solidFill>
                  <a:schemeClr val="tx1"/>
                </a:solidFill>
                <a:latin typeface="+mn-lt"/>
                <a:ea typeface="+mn-ea"/>
                <a:cs typeface="+mn-cs"/>
              </a:rPr>
              <a:t> </a:t>
            </a:r>
            <a:r>
              <a:rPr lang="en-US" sz="1200" b="0" kern="1200" baseline="0" dirty="0">
                <a:solidFill>
                  <a:schemeClr val="tx1"/>
                </a:solidFill>
                <a:latin typeface="+mn-lt"/>
                <a:ea typeface="+mn-ea"/>
                <a:cs typeface="+mn-cs"/>
              </a:rPr>
              <a:t>conditions but </a:t>
            </a:r>
            <a:r>
              <a:rPr lang="en-US" sz="1200" kern="1200" baseline="0" dirty="0">
                <a:solidFill>
                  <a:schemeClr val="tx1"/>
                </a:solidFill>
                <a:latin typeface="+mn-lt"/>
                <a:ea typeface="+mn-ea"/>
                <a:cs typeface="+mn-cs"/>
              </a:rPr>
              <a:t>makes </a:t>
            </a:r>
            <a:r>
              <a:rPr lang="en-US" sz="1200" b="1" kern="1200" baseline="0" dirty="0">
                <a:solidFill>
                  <a:schemeClr val="tx1"/>
                </a:solidFill>
                <a:latin typeface="+mn-lt"/>
                <a:ea typeface="+mn-ea"/>
                <a:cs typeface="+mn-cs"/>
              </a:rPr>
              <a:t>judicious choices </a:t>
            </a:r>
            <a:r>
              <a:rPr lang="en-US" sz="1200" kern="1200" baseline="0" dirty="0">
                <a:solidFill>
                  <a:schemeClr val="tx1"/>
                </a:solidFill>
                <a:latin typeface="+mn-lt"/>
                <a:ea typeface="+mn-ea"/>
                <a:cs typeface="+mn-cs"/>
              </a:rPr>
              <a:t>to assure that the deadlock point is never reached. As such, avoidance allows more concurrency than prevention. With deadlock avoidance, a decision is made </a:t>
            </a:r>
            <a:r>
              <a:rPr lang="en-US" sz="1200" b="1" kern="1200" baseline="0" dirty="0">
                <a:solidFill>
                  <a:schemeClr val="tx1"/>
                </a:solidFill>
                <a:latin typeface="+mn-lt"/>
                <a:ea typeface="+mn-ea"/>
                <a:cs typeface="+mn-cs"/>
              </a:rPr>
              <a:t>dynamically</a:t>
            </a:r>
            <a:r>
              <a:rPr lang="en-US" sz="1200" kern="1200" baseline="0" dirty="0">
                <a:solidFill>
                  <a:schemeClr val="tx1"/>
                </a:solidFill>
                <a:latin typeface="+mn-lt"/>
                <a:ea typeface="+mn-ea"/>
                <a:cs typeface="+mn-cs"/>
              </a:rPr>
              <a:t> whether the current resource allocation request will, if granted, potentially lead to a deadlock. Deadlock avoidance thus requires </a:t>
            </a:r>
            <a:r>
              <a:rPr lang="en-US" sz="1200" b="1" kern="1200" baseline="0" dirty="0">
                <a:solidFill>
                  <a:schemeClr val="tx1"/>
                </a:solidFill>
                <a:latin typeface="+mn-lt"/>
                <a:ea typeface="+mn-ea"/>
                <a:cs typeface="+mn-cs"/>
              </a:rPr>
              <a:t>knowledge</a:t>
            </a:r>
          </a:p>
          <a:p>
            <a:r>
              <a:rPr lang="en-US" sz="1200" b="1" kern="1200" baseline="0" dirty="0">
                <a:solidFill>
                  <a:schemeClr val="tx1"/>
                </a:solidFill>
                <a:latin typeface="+mn-lt"/>
                <a:ea typeface="+mn-ea"/>
                <a:cs typeface="+mn-cs"/>
              </a:rPr>
              <a:t>of future process resource requests</a:t>
            </a:r>
            <a:r>
              <a:rPr lang="en-US" sz="1200" kern="1200" baseline="0" dirty="0">
                <a:solidFill>
                  <a:schemeClr val="tx1"/>
                </a:solidFill>
                <a:latin typeface="+mn-lt"/>
                <a:ea typeface="+mn-ea"/>
                <a:cs typeface="+mn-cs"/>
              </a:rPr>
              <a:t>. </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this section, we describe two approaches to deadlock avoidance:</a:t>
            </a:r>
          </a:p>
          <a:p>
            <a:r>
              <a:rPr lang="en-US" sz="1200" kern="1200" baseline="0" dirty="0">
                <a:solidFill>
                  <a:schemeClr val="tx1"/>
                </a:solidFill>
                <a:latin typeface="+mn-lt"/>
                <a:ea typeface="+mn-ea"/>
                <a:cs typeface="+mn-cs"/>
              </a:rPr>
              <a:t>• Do not </a:t>
            </a:r>
            <a:r>
              <a:rPr lang="en-US" sz="1200" b="1" kern="1200" baseline="0" dirty="0">
                <a:solidFill>
                  <a:schemeClr val="tx1"/>
                </a:solidFill>
                <a:latin typeface="+mn-lt"/>
                <a:ea typeface="+mn-ea"/>
                <a:cs typeface="+mn-cs"/>
              </a:rPr>
              <a:t>start</a:t>
            </a:r>
            <a:r>
              <a:rPr lang="en-US" sz="1200" kern="1200" baseline="0" dirty="0">
                <a:solidFill>
                  <a:schemeClr val="tx1"/>
                </a:solidFill>
                <a:latin typeface="+mn-lt"/>
                <a:ea typeface="+mn-ea"/>
                <a:cs typeface="+mn-cs"/>
              </a:rPr>
              <a:t> a process if its demands might lead to deadlock.</a:t>
            </a:r>
          </a:p>
          <a:p>
            <a:r>
              <a:rPr lang="en-US" sz="1200" kern="1200" baseline="0" dirty="0">
                <a:solidFill>
                  <a:schemeClr val="tx1"/>
                </a:solidFill>
                <a:latin typeface="+mn-lt"/>
                <a:ea typeface="+mn-ea"/>
                <a:cs typeface="+mn-cs"/>
              </a:rPr>
              <a:t>• Do not grant an </a:t>
            </a:r>
            <a:r>
              <a:rPr lang="en-US" sz="1200" b="1" kern="1200" baseline="0" dirty="0">
                <a:solidFill>
                  <a:schemeClr val="tx1"/>
                </a:solidFill>
                <a:latin typeface="+mn-lt"/>
                <a:ea typeface="+mn-ea"/>
                <a:cs typeface="+mn-cs"/>
              </a:rPr>
              <a:t>incremental </a:t>
            </a:r>
            <a:r>
              <a:rPr lang="en-US" sz="1200" kern="1200" baseline="0" dirty="0">
                <a:solidFill>
                  <a:schemeClr val="tx1"/>
                </a:solidFill>
                <a:latin typeface="+mn-lt"/>
                <a:ea typeface="+mn-ea"/>
                <a:cs typeface="+mn-cs"/>
              </a:rPr>
              <a:t>resource request to a process if this allocation might lead to deadlock.</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strategy of resource allocation denial, referred to as the </a:t>
            </a:r>
            <a:r>
              <a:rPr lang="en-US" sz="1200" b="1" kern="1200" baseline="0" dirty="0">
                <a:solidFill>
                  <a:schemeClr val="tx1"/>
                </a:solidFill>
                <a:latin typeface="+mn-lt"/>
                <a:ea typeface="+mn-ea"/>
                <a:cs typeface="+mn-cs"/>
              </a:rPr>
              <a:t>banker’s algorithm,  </a:t>
            </a:r>
            <a:r>
              <a:rPr lang="en-US" sz="1200" kern="1200" baseline="0" dirty="0">
                <a:solidFill>
                  <a:schemeClr val="tx1"/>
                </a:solidFill>
                <a:latin typeface="+mn-lt"/>
                <a:ea typeface="+mn-ea"/>
                <a:cs typeface="+mn-cs"/>
              </a:rPr>
              <a:t>was first proposed in [DIJK65]. Let us begin by defining the concepts of state and safe state. Consider a system with a fixed number of processes and a fixed number of resources. At any time a process may have zero or more resources allocated to it. The </a:t>
            </a:r>
            <a:r>
              <a:rPr lang="en-US" sz="1200" b="1" kern="1200" baseline="0" dirty="0">
                <a:solidFill>
                  <a:schemeClr val="tx1"/>
                </a:solidFill>
                <a:latin typeface="+mn-lt"/>
                <a:ea typeface="+mn-ea"/>
                <a:cs typeface="+mn-cs"/>
              </a:rPr>
              <a:t>state </a:t>
            </a:r>
            <a:r>
              <a:rPr lang="en-US" sz="1200" b="0" kern="1200" baseline="0" dirty="0">
                <a:solidFill>
                  <a:schemeClr val="tx1"/>
                </a:solidFill>
                <a:latin typeface="+mn-lt"/>
                <a:ea typeface="+mn-ea"/>
                <a:cs typeface="+mn-cs"/>
              </a:rPr>
              <a:t>of the system reflects the current allocation of resources to processes. Thus, </a:t>
            </a:r>
            <a:r>
              <a:rPr lang="en-US" sz="1200" kern="1200" baseline="0" dirty="0">
                <a:solidFill>
                  <a:schemeClr val="tx1"/>
                </a:solidFill>
                <a:latin typeface="+mn-lt"/>
                <a:ea typeface="+mn-ea"/>
                <a:cs typeface="+mn-cs"/>
              </a:rPr>
              <a:t>the state consists of the two vectors, Resource and Available, and the two matrices, Claim and Allocation, defined earlier. A </a:t>
            </a:r>
            <a:r>
              <a:rPr lang="en-US" sz="1200" b="1" kern="1200" baseline="0" dirty="0">
                <a:solidFill>
                  <a:schemeClr val="tx1"/>
                </a:solidFill>
                <a:latin typeface="+mn-lt"/>
                <a:ea typeface="+mn-ea"/>
                <a:cs typeface="+mn-cs"/>
              </a:rPr>
              <a:t>safe state </a:t>
            </a:r>
            <a:r>
              <a:rPr lang="en-US" sz="1200" b="0" kern="1200" baseline="0" dirty="0">
                <a:solidFill>
                  <a:schemeClr val="tx1"/>
                </a:solidFill>
                <a:latin typeface="+mn-lt"/>
                <a:ea typeface="+mn-ea"/>
                <a:cs typeface="+mn-cs"/>
              </a:rPr>
              <a:t>is one in which there is at least </a:t>
            </a:r>
            <a:r>
              <a:rPr lang="en-US" sz="1200" b="1" kern="1200" baseline="0" dirty="0">
                <a:solidFill>
                  <a:schemeClr val="tx1"/>
                </a:solidFill>
                <a:latin typeface="+mn-lt"/>
                <a:ea typeface="+mn-ea"/>
                <a:cs typeface="+mn-cs"/>
              </a:rPr>
              <a:t>one sequence </a:t>
            </a:r>
            <a:r>
              <a:rPr lang="en-US" sz="1200" kern="1200" baseline="0" dirty="0">
                <a:solidFill>
                  <a:schemeClr val="tx1"/>
                </a:solidFill>
                <a:latin typeface="+mn-lt"/>
                <a:ea typeface="+mn-ea"/>
                <a:cs typeface="+mn-cs"/>
              </a:rPr>
              <a:t>of resource allocations to processes that does not result in a deadlock (i.e., all of the processes can be run to completion). An </a:t>
            </a:r>
            <a:r>
              <a:rPr lang="en-US" sz="1200" b="1" kern="1200" baseline="0" dirty="0">
                <a:solidFill>
                  <a:schemeClr val="tx1"/>
                </a:solidFill>
                <a:latin typeface="+mn-lt"/>
                <a:ea typeface="+mn-ea"/>
                <a:cs typeface="+mn-cs"/>
              </a:rPr>
              <a:t>unsafe state </a:t>
            </a:r>
            <a:r>
              <a:rPr lang="en-US" sz="1200" b="0" kern="1200" baseline="0" dirty="0">
                <a:solidFill>
                  <a:schemeClr val="tx1"/>
                </a:solidFill>
                <a:latin typeface="+mn-lt"/>
                <a:ea typeface="+mn-ea"/>
                <a:cs typeface="+mn-cs"/>
              </a:rPr>
              <a:t>is, of course, a </a:t>
            </a:r>
            <a:r>
              <a:rPr lang="en-US" sz="1200" kern="1200" baseline="0" dirty="0">
                <a:solidFill>
                  <a:schemeClr val="tx1"/>
                </a:solidFill>
                <a:latin typeface="+mn-lt"/>
                <a:ea typeface="+mn-ea"/>
                <a:cs typeface="+mn-cs"/>
              </a:rPr>
              <a:t>state that is not safe.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following example illustrates these concepts. Figure 6.7a shows the state of a system consisting of four processes and three resources. The total amount of resources R1, R2, and R3 are 9, 3, and 6 units, respectively. In the current state allocations have been made to the four processes, leaving 1 unit of R2 and 1 unit of R3 available. Is this a safe state? To answer this question, we ask an intermediate question: Can </a:t>
            </a:r>
            <a:r>
              <a:rPr lang="en-US" sz="1200" b="1" kern="1200" baseline="0" dirty="0">
                <a:solidFill>
                  <a:schemeClr val="tx1"/>
                </a:solidFill>
                <a:latin typeface="+mn-lt"/>
                <a:ea typeface="+mn-ea"/>
                <a:cs typeface="+mn-cs"/>
              </a:rPr>
              <a:t>any of the four processes be run to completion </a:t>
            </a:r>
            <a:r>
              <a:rPr lang="en-US" sz="1200" kern="1200" baseline="0" dirty="0">
                <a:solidFill>
                  <a:schemeClr val="tx1"/>
                </a:solidFill>
                <a:latin typeface="+mn-lt"/>
                <a:ea typeface="+mn-ea"/>
                <a:cs typeface="+mn-cs"/>
              </a:rPr>
              <a:t>with the resources available? That is, can the difference between the maximum requirement and current allocation for any process be met with the available resources? In terms of the matrices and vectors introduced earlier, the condition to be met</a:t>
            </a:r>
          </a:p>
          <a:p>
            <a:r>
              <a:rPr lang="en-US" sz="1200" kern="1200" baseline="0" dirty="0">
                <a:solidFill>
                  <a:schemeClr val="tx1"/>
                </a:solidFill>
                <a:latin typeface="+mn-lt"/>
                <a:ea typeface="+mn-ea"/>
                <a:cs typeface="+mn-cs"/>
              </a:rPr>
              <a:t>for process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is:</a:t>
            </a:r>
          </a:p>
          <a:p>
            <a:r>
              <a:rPr lang="en-US" sz="1200" i="1" kern="1200" baseline="0" dirty="0" err="1">
                <a:solidFill>
                  <a:schemeClr val="tx1"/>
                </a:solidFill>
                <a:latin typeface="+mn-lt"/>
                <a:ea typeface="+mn-ea"/>
                <a:cs typeface="+mn-cs"/>
              </a:rPr>
              <a:t>C</a:t>
            </a:r>
            <a:r>
              <a:rPr lang="en-US" sz="1200" i="1" kern="1200" baseline="-25000" dirty="0" err="1">
                <a:solidFill>
                  <a:schemeClr val="tx1"/>
                </a:solidFill>
                <a:latin typeface="+mn-lt"/>
                <a:ea typeface="+mn-ea"/>
                <a:cs typeface="+mn-cs"/>
              </a:rPr>
              <a:t>ij</a:t>
            </a:r>
            <a:r>
              <a:rPr lang="en-US" sz="1200" i="1" kern="1200" baseline="0" dirty="0">
                <a:solidFill>
                  <a:schemeClr val="tx1"/>
                </a:solidFill>
                <a:latin typeface="+mn-lt"/>
                <a:ea typeface="+mn-ea"/>
                <a:cs typeface="+mn-cs"/>
              </a:rPr>
              <a:t> - </a:t>
            </a:r>
            <a:r>
              <a:rPr lang="en-US" sz="1200" i="1" kern="1200" baseline="0" dirty="0" err="1">
                <a:solidFill>
                  <a:schemeClr val="tx1"/>
                </a:solidFill>
                <a:latin typeface="+mn-lt"/>
                <a:ea typeface="+mn-ea"/>
                <a:cs typeface="+mn-cs"/>
              </a:rPr>
              <a:t>A</a:t>
            </a:r>
            <a:r>
              <a:rPr lang="en-US" sz="1200" i="1" kern="1200" baseline="-25000" dirty="0" err="1">
                <a:solidFill>
                  <a:schemeClr val="tx1"/>
                </a:solidFill>
                <a:latin typeface="+mn-lt"/>
                <a:ea typeface="+mn-ea"/>
                <a:cs typeface="+mn-cs"/>
              </a:rPr>
              <a:t>ij</a:t>
            </a:r>
            <a:r>
              <a:rPr lang="en-US" sz="1200" i="1" kern="1200" baseline="0" dirty="0">
                <a:solidFill>
                  <a:schemeClr val="tx1"/>
                </a:solidFill>
                <a:latin typeface="+mn-lt"/>
                <a:ea typeface="+mn-ea"/>
                <a:cs typeface="+mn-cs"/>
              </a:rPr>
              <a:t> … </a:t>
            </a:r>
            <a:r>
              <a:rPr lang="en-US" sz="1200" i="1" kern="1200" baseline="0" dirty="0" err="1">
                <a:solidFill>
                  <a:schemeClr val="tx1"/>
                </a:solidFill>
                <a:latin typeface="+mn-lt"/>
                <a:ea typeface="+mn-ea"/>
                <a:cs typeface="+mn-cs"/>
              </a:rPr>
              <a:t>V</a:t>
            </a:r>
            <a:r>
              <a:rPr lang="en-US" sz="1200" i="1" kern="1200" baseline="-25000" dirty="0" err="1">
                <a:solidFill>
                  <a:schemeClr val="tx1"/>
                </a:solidFill>
                <a:latin typeface="+mn-lt"/>
                <a:ea typeface="+mn-ea"/>
                <a:cs typeface="+mn-cs"/>
              </a:rPr>
              <a:t>j</a:t>
            </a:r>
            <a:r>
              <a:rPr lang="en-US" sz="1200" i="1" kern="1200" baseline="0" dirty="0">
                <a:solidFill>
                  <a:schemeClr val="tx1"/>
                </a:solidFill>
                <a:latin typeface="+mn-lt"/>
                <a:ea typeface="+mn-ea"/>
                <a:cs typeface="+mn-cs"/>
              </a:rPr>
              <a:t>, for all </a:t>
            </a:r>
            <a:r>
              <a:rPr lang="en-US" sz="1200" i="1" kern="1200" baseline="0" dirty="0" err="1">
                <a:solidFill>
                  <a:schemeClr val="tx1"/>
                </a:solidFill>
                <a:latin typeface="+mn-lt"/>
                <a:ea typeface="+mn-ea"/>
                <a:cs typeface="+mn-cs"/>
              </a:rPr>
              <a:t>j</a:t>
            </a:r>
            <a:endParaRPr lang="en-NZ"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Clearly, this is not possible for P1, which has only 1 unit of R1 and requires 2 more units of R1, 2 units of R2, and 2 units of R3. However, by assigning one unit of R3 to process P2, </a:t>
            </a:r>
            <a:r>
              <a:rPr lang="en-US" sz="1200" b="1" kern="1200" baseline="0" dirty="0">
                <a:solidFill>
                  <a:schemeClr val="tx1"/>
                </a:solidFill>
                <a:latin typeface="+mn-lt"/>
                <a:ea typeface="+mn-ea"/>
                <a:cs typeface="+mn-cs"/>
              </a:rPr>
              <a:t>P2 </a:t>
            </a:r>
            <a:r>
              <a:rPr lang="en-US" sz="1200" kern="1200" baseline="0" dirty="0">
                <a:solidFill>
                  <a:schemeClr val="tx1"/>
                </a:solidFill>
                <a:latin typeface="+mn-lt"/>
                <a:ea typeface="+mn-ea"/>
                <a:cs typeface="+mn-cs"/>
              </a:rPr>
              <a:t>has its maximum required resources allocated and </a:t>
            </a:r>
            <a:r>
              <a:rPr lang="en-US" sz="1200" b="1" kern="1200" baseline="0" dirty="0">
                <a:solidFill>
                  <a:schemeClr val="tx1"/>
                </a:solidFill>
                <a:latin typeface="+mn-lt"/>
                <a:ea typeface="+mn-ea"/>
                <a:cs typeface="+mn-cs"/>
              </a:rPr>
              <a:t>can run to completion</a:t>
            </a:r>
            <a:r>
              <a:rPr lang="en-US" sz="1200" kern="1200" baseline="0" dirty="0">
                <a:solidFill>
                  <a:schemeClr val="tx1"/>
                </a:solidFill>
                <a:latin typeface="+mn-lt"/>
                <a:ea typeface="+mn-ea"/>
                <a:cs typeface="+mn-cs"/>
              </a:rPr>
              <a:t>. Let us assume that this is accomplished. When P2 completes, its </a:t>
            </a:r>
            <a:r>
              <a:rPr lang="en-US" sz="1200" b="1" kern="1200" baseline="0" dirty="0">
                <a:solidFill>
                  <a:schemeClr val="tx1"/>
                </a:solidFill>
                <a:latin typeface="+mn-lt"/>
                <a:ea typeface="+mn-ea"/>
                <a:cs typeface="+mn-cs"/>
              </a:rPr>
              <a:t>resources can be returned</a:t>
            </a:r>
            <a:r>
              <a:rPr lang="en-US" sz="1200" kern="1200" baseline="0" dirty="0">
                <a:solidFill>
                  <a:schemeClr val="tx1"/>
                </a:solidFill>
                <a:latin typeface="+mn-lt"/>
                <a:ea typeface="+mn-ea"/>
                <a:cs typeface="+mn-cs"/>
              </a:rPr>
              <a:t> to the pool of available resources. The resulting state is shown in Figure 6.7b . Now we can ask again if any of the remaining processes can be completed. In this case, each of the remaining processes could be completed.</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Suppose we choose P1, allocate the required resources, complete P1, and return all of P1’s resources to the available pool. We are left in the state shown in Figure 6.7c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Next, we can complete P3, resulting in the state of Figure 6.7d . Finally, we can complete P4. At this point, all of the processes have been run to completion. Thus, the state defined by Figure 6.7a is a safe state.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These concepts suggest the following deadlock avoidance strategy, which ensures that the system of processes and resources is always in a safe state. When a process makes a request for a set of resources, assume that the request is granted, update the system state accordingly, and then determine </a:t>
            </a:r>
            <a:r>
              <a:rPr lang="en-US" sz="1200" b="1" kern="1200" baseline="0" dirty="0">
                <a:solidFill>
                  <a:schemeClr val="tx1"/>
                </a:solidFill>
                <a:latin typeface="+mn-lt"/>
                <a:ea typeface="+mn-ea"/>
                <a:cs typeface="+mn-cs"/>
              </a:rPr>
              <a:t>if the result is a safe state</a:t>
            </a:r>
            <a:r>
              <a:rPr lang="en-US" sz="1200" kern="1200" baseline="0" dirty="0">
                <a:solidFill>
                  <a:schemeClr val="tx1"/>
                </a:solidFill>
                <a:latin typeface="+mn-lt"/>
                <a:ea typeface="+mn-ea"/>
                <a:cs typeface="+mn-cs"/>
              </a:rPr>
              <a:t>. If so, grant the request and, if not, block the process until it is safe to grant the request.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Consider the state defined in Figure 6.8a . S</a:t>
            </a:r>
            <a:r>
              <a:rPr lang="en-US" sz="1200" kern="1200" baseline="0" dirty="0">
                <a:solidFill>
                  <a:srgbClr val="FF0000"/>
                </a:solidFill>
                <a:latin typeface="+mn-lt"/>
                <a:ea typeface="+mn-ea"/>
                <a:cs typeface="+mn-cs"/>
              </a:rPr>
              <a:t>uppose P2 makes a request for one additional unit of R1 and one additional unit of R3. </a:t>
            </a:r>
            <a:r>
              <a:rPr lang="en-US" sz="1200" kern="1200" baseline="0" dirty="0">
                <a:solidFill>
                  <a:schemeClr val="tx1"/>
                </a:solidFill>
                <a:latin typeface="+mn-lt"/>
                <a:ea typeface="+mn-ea"/>
                <a:cs typeface="+mn-cs"/>
              </a:rPr>
              <a:t>If we assume the request is granted, then the resulting state is that of Figure 6.7a . We have already seen that this is a safe state; therefore, it is safe to grant the request. Now let us return to the state of Figure 6.8a and suppose that P1 makes the request for one additional unit each of R1 and R3; if we assume that the request is granted, we are left in the state of Figure 6.8b . Is this a safe state? The answer is no, because each process will need at least one additional unit of R1, and there are none available. Thus, on the basis of deadlock avoidance, the </a:t>
            </a:r>
            <a:r>
              <a:rPr lang="en-US" sz="1200" b="1" kern="1200" baseline="0" dirty="0">
                <a:solidFill>
                  <a:schemeClr val="tx1"/>
                </a:solidFill>
                <a:latin typeface="+mn-lt"/>
                <a:ea typeface="+mn-ea"/>
                <a:cs typeface="+mn-cs"/>
              </a:rPr>
              <a:t>request by P1 should be denied and P1 should be blocked</a:t>
            </a:r>
            <a:r>
              <a:rPr lang="en-US" sz="1200" kern="1200" baseline="0" dirty="0">
                <a:solidFill>
                  <a:schemeClr val="tx1"/>
                </a:solidFill>
                <a:latin typeface="+mn-lt"/>
                <a:ea typeface="+mn-ea"/>
                <a:cs typeface="+mn-cs"/>
              </a:rPr>
              <a: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It is important to point out that Figure 6.8b is not a deadlocked state. It merely has the </a:t>
            </a:r>
            <a:r>
              <a:rPr lang="en-US" sz="1200" b="1" kern="1200" baseline="0" dirty="0">
                <a:solidFill>
                  <a:schemeClr val="tx1"/>
                </a:solidFill>
                <a:latin typeface="+mn-lt"/>
                <a:ea typeface="+mn-ea"/>
                <a:cs typeface="+mn-cs"/>
              </a:rPr>
              <a:t>potential for deadlock</a:t>
            </a:r>
            <a:r>
              <a:rPr lang="en-US" sz="1200" kern="1200" baseline="0" dirty="0">
                <a:solidFill>
                  <a:schemeClr val="tx1"/>
                </a:solidFill>
                <a:latin typeface="+mn-lt"/>
                <a:ea typeface="+mn-ea"/>
                <a:cs typeface="+mn-cs"/>
              </a:rPr>
              <a:t>. It is possible, for example, that if P1 were run from this state it would subsequently release one unit of R1 and one unit of R3 prior to needing these resources again. If that happened, the system would return to a safe state. Thus, the deadlock avoidance strategy </a:t>
            </a:r>
            <a:r>
              <a:rPr lang="en-US" sz="1200" b="1" kern="1200" baseline="0" dirty="0">
                <a:solidFill>
                  <a:schemeClr val="tx1"/>
                </a:solidFill>
                <a:latin typeface="+mn-lt"/>
                <a:ea typeface="+mn-ea"/>
                <a:cs typeface="+mn-cs"/>
              </a:rPr>
              <a:t>does not predict deadlock with certainty</a:t>
            </a:r>
            <a:r>
              <a:rPr lang="en-US" sz="1200" kern="1200" baseline="0" dirty="0">
                <a:solidFill>
                  <a:schemeClr val="tx1"/>
                </a:solidFill>
                <a:latin typeface="+mn-lt"/>
                <a:ea typeface="+mn-ea"/>
                <a:cs typeface="+mn-cs"/>
              </a:rPr>
              <a:t>; it merely anticipates the possibility of deadlock and assures that there is never such a possibility.</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6.9 gives an abstract version of the deadlock avoidance logic. The main algorithm is shown in part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With the state of the system defined by the data structure state , request[*] is a vector defining the resources requested by process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 First, a check is made to assure that the request does not exceed the </a:t>
            </a:r>
            <a:r>
              <a:rPr lang="en-US" sz="1200" kern="1200" baseline="0" dirty="0">
                <a:solidFill>
                  <a:schemeClr val="tx1"/>
                </a:solidFill>
                <a:latin typeface="+mn-lt"/>
                <a:ea typeface="+mn-ea"/>
                <a:cs typeface="+mn-cs"/>
              </a:rPr>
              <a:t>original claim of the process. If the request is valid, the next step is to determine if it is possible to fulfill the request (i.e., there are sufficient resources available). If it is not possible, then the process is suspended. If it is possible, the final step is to</a:t>
            </a:r>
          </a:p>
          <a:p>
            <a:r>
              <a:rPr lang="en-US" sz="1200" kern="1200" baseline="0" dirty="0">
                <a:solidFill>
                  <a:schemeClr val="tx1"/>
                </a:solidFill>
                <a:latin typeface="+mn-lt"/>
                <a:ea typeface="+mn-ea"/>
                <a:cs typeface="+mn-cs"/>
              </a:rPr>
              <a:t>determine if it is safe to fulfill the request. To do this, the resources are tentatively assigned to process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to form </a:t>
            </a:r>
            <a:r>
              <a:rPr lang="en-US" sz="1200" i="1" kern="1200" baseline="0" dirty="0" err="1">
                <a:solidFill>
                  <a:schemeClr val="tx1"/>
                </a:solidFill>
                <a:latin typeface="+mn-lt"/>
                <a:ea typeface="+mn-ea"/>
                <a:cs typeface="+mn-cs"/>
              </a:rPr>
              <a:t>newstate</a:t>
            </a:r>
            <a:r>
              <a:rPr lang="en-US" sz="1200" i="1" kern="1200" baseline="0" dirty="0">
                <a:solidFill>
                  <a:schemeClr val="tx1"/>
                </a:solidFill>
                <a:latin typeface="+mn-lt"/>
                <a:ea typeface="+mn-ea"/>
                <a:cs typeface="+mn-cs"/>
              </a:rPr>
              <a:t> .</a:t>
            </a:r>
          </a:p>
          <a:p>
            <a:endParaRPr lang="en-US" sz="1200" i="1" kern="1200" baseline="0" dirty="0">
              <a:solidFill>
                <a:schemeClr val="tx1"/>
              </a:solidFill>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NZ" dirty="0"/>
              <a:t>Then a test for safety is made using the algorithm in Figure 6.9c.</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NZ" sz="1200" kern="1200" baseline="0" dirty="0">
                <a:solidFill>
                  <a:schemeClr val="tx1"/>
                </a:solidFill>
                <a:latin typeface="+mn-lt"/>
                <a:ea typeface="+mn-ea"/>
                <a:cs typeface="+mn-cs"/>
              </a:rPr>
              <a:t>Deadlock avoidance has the advantage that it is not necessary to preempt and</a:t>
            </a:r>
          </a:p>
          <a:p>
            <a:r>
              <a:rPr lang="en-NZ" sz="1200" kern="1200" baseline="0" dirty="0">
                <a:solidFill>
                  <a:schemeClr val="tx1"/>
                </a:solidFill>
                <a:latin typeface="+mn-lt"/>
                <a:ea typeface="+mn-ea"/>
                <a:cs typeface="+mn-cs"/>
              </a:rPr>
              <a:t>rollback processes, as in deadlock detection, and is less restrictive than deadlock</a:t>
            </a:r>
          </a:p>
          <a:p>
            <a:r>
              <a:rPr lang="en-NZ" sz="1200" kern="1200" baseline="0" dirty="0">
                <a:solidFill>
                  <a:schemeClr val="tx1"/>
                </a:solidFill>
                <a:latin typeface="+mn-lt"/>
                <a:ea typeface="+mn-ea"/>
                <a:cs typeface="+mn-cs"/>
              </a:rPr>
              <a:t>prevention.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NZ" sz="1200" kern="1200" baseline="0" dirty="0">
                <a:solidFill>
                  <a:schemeClr val="tx1"/>
                </a:solidFill>
                <a:latin typeface="+mn-lt"/>
                <a:ea typeface="+mn-ea"/>
                <a:cs typeface="+mn-cs"/>
              </a:rPr>
              <a:t>However, it does have a number of restrictions on its use:</a:t>
            </a:r>
          </a:p>
          <a:p>
            <a:r>
              <a:rPr lang="en-NZ" sz="1200" kern="1200" baseline="0" dirty="0">
                <a:solidFill>
                  <a:schemeClr val="tx1"/>
                </a:solidFill>
                <a:latin typeface="+mn-lt"/>
                <a:ea typeface="+mn-ea"/>
                <a:cs typeface="+mn-cs"/>
              </a:rPr>
              <a:t>• The maximum resource requirement for each process must be stated in advance.</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 The processes under consideration must be independent; that is, the </a:t>
            </a:r>
            <a:r>
              <a:rPr lang="en-NZ" sz="1200" b="1" kern="1200" baseline="0" dirty="0">
                <a:solidFill>
                  <a:schemeClr val="tx1"/>
                </a:solidFill>
                <a:latin typeface="+mn-lt"/>
                <a:ea typeface="+mn-ea"/>
                <a:cs typeface="+mn-cs"/>
              </a:rPr>
              <a:t>order in which they execute must be unconstrained </a:t>
            </a:r>
            <a:r>
              <a:rPr lang="en-NZ" sz="1200" kern="1200" baseline="0" dirty="0">
                <a:solidFill>
                  <a:schemeClr val="tx1"/>
                </a:solidFill>
                <a:latin typeface="+mn-lt"/>
                <a:ea typeface="+mn-ea"/>
                <a:cs typeface="+mn-cs"/>
              </a:rPr>
              <a:t>by any synchronization requirements.</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 There must be a fixed number of resources to allocate.</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 No process may exit while holding resources.</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Deadlock prevention strategies are very conservative; they solve the problem of deadlock by limiting access to resources and by imposing restrictions on processes. At the opposite extreme, deadlock detection strategies do not limit resource access or restrict process actions. With deadlock detection, requested resources are granted to processes whenever possible. Periodically, the OS performs an algorithm that allows it to detect the circular wait condition described earlier in condition (4) and illustrated in Figure 6.6 .</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check for deadlock can be made as frequently as each resource request or, less frequently, depending on how likely it is for a deadlock to occur. Checking at each resource request has two advantages: It leads to early detection, and the algorithm is relatively simple because it is based on incremental changes to the state of the system. On the other hand, such frequent checks consume considerable processor time.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We can use Figure 6.10 to illustrate the deadlock detection algorithm. The</a:t>
            </a:r>
          </a:p>
          <a:p>
            <a:r>
              <a:rPr lang="en-US" sz="1200" kern="1200" baseline="0" dirty="0">
                <a:solidFill>
                  <a:schemeClr val="tx1"/>
                </a:solidFill>
                <a:latin typeface="+mn-lt"/>
                <a:ea typeface="+mn-ea"/>
                <a:cs typeface="+mn-cs"/>
              </a:rPr>
              <a:t>algorithm proceeds as follows:</a:t>
            </a:r>
            <a:endParaRPr lang="en-NZ" sz="1200" b="0" kern="1200" baseline="0" dirty="0">
              <a:solidFill>
                <a:schemeClr val="tx1"/>
              </a:solidFill>
              <a:latin typeface="+mn-lt"/>
              <a:ea typeface="+mn-ea"/>
              <a:cs typeface="+mn-cs"/>
            </a:endParaRPr>
          </a:p>
          <a:p>
            <a:endParaRPr lang="en-NZ" sz="1200" b="0" kern="1200" baseline="0" dirty="0">
              <a:solidFill>
                <a:schemeClr val="tx1"/>
              </a:solidFill>
              <a:latin typeface="+mn-lt"/>
              <a:ea typeface="+mn-ea"/>
              <a:cs typeface="+mn-cs"/>
            </a:endParaRPr>
          </a:p>
          <a:p>
            <a:r>
              <a:rPr lang="en-NZ" sz="1200" b="0" kern="1200" baseline="0" dirty="0">
                <a:solidFill>
                  <a:schemeClr val="tx1"/>
                </a:solidFill>
                <a:latin typeface="+mn-lt"/>
                <a:ea typeface="+mn-ea"/>
                <a:cs typeface="+mn-cs"/>
              </a:rPr>
              <a:t>1.  Mark P4, because P4 has no allocated resources.</a:t>
            </a:r>
          </a:p>
          <a:p>
            <a:endParaRPr lang="en-NZ" sz="1200" b="0" kern="1200" baseline="0" dirty="0">
              <a:solidFill>
                <a:schemeClr val="tx1"/>
              </a:solidFill>
              <a:latin typeface="+mn-lt"/>
              <a:ea typeface="+mn-ea"/>
              <a:cs typeface="+mn-cs"/>
            </a:endParaRPr>
          </a:p>
          <a:p>
            <a:r>
              <a:rPr lang="pl-PL" sz="1200" b="0" kern="1200" baseline="0" dirty="0">
                <a:solidFill>
                  <a:schemeClr val="tx1"/>
                </a:solidFill>
                <a:latin typeface="+mn-lt"/>
                <a:ea typeface="+mn-ea"/>
                <a:cs typeface="+mn-cs"/>
              </a:rPr>
              <a:t>2. Set </a:t>
            </a:r>
            <a:r>
              <a:rPr lang="pl-PL" sz="1200" b="1" kern="1200" baseline="0" dirty="0">
                <a:solidFill>
                  <a:schemeClr val="tx1"/>
                </a:solidFill>
                <a:latin typeface="+mn-lt"/>
                <a:ea typeface="+mn-ea"/>
                <a:cs typeface="+mn-cs"/>
              </a:rPr>
              <a:t>W</a:t>
            </a:r>
            <a:r>
              <a:rPr lang="en-NZ" sz="1200" b="1" kern="1200" baseline="0" dirty="0">
                <a:solidFill>
                  <a:schemeClr val="tx1"/>
                </a:solidFill>
                <a:latin typeface="+mn-lt"/>
                <a:ea typeface="+mn-ea"/>
                <a:cs typeface="+mn-cs"/>
              </a:rPr>
              <a:t> </a:t>
            </a:r>
            <a:r>
              <a:rPr lang="en-NZ" sz="1200" b="0" kern="1200" baseline="0" dirty="0">
                <a:solidFill>
                  <a:schemeClr val="tx1"/>
                </a:solidFill>
                <a:latin typeface="+mn-lt"/>
                <a:ea typeface="+mn-ea"/>
                <a:cs typeface="+mn-cs"/>
              </a:rPr>
              <a:t>=</a:t>
            </a:r>
            <a:r>
              <a:rPr lang="pl-PL" sz="1200" b="0" kern="1200" baseline="0" dirty="0">
                <a:solidFill>
                  <a:schemeClr val="tx1"/>
                </a:solidFill>
                <a:latin typeface="+mn-lt"/>
                <a:ea typeface="+mn-ea"/>
                <a:cs typeface="+mn-cs"/>
              </a:rPr>
              <a:t> (0 0 0 0 1).</a:t>
            </a:r>
          </a:p>
          <a:p>
            <a:endParaRPr lang="en-NZ" sz="1200" b="0" kern="1200" baseline="0" dirty="0">
              <a:solidFill>
                <a:schemeClr val="tx1"/>
              </a:solidFill>
              <a:latin typeface="+mn-lt"/>
              <a:ea typeface="+mn-ea"/>
              <a:cs typeface="+mn-cs"/>
            </a:endParaRPr>
          </a:p>
          <a:p>
            <a:r>
              <a:rPr lang="en-NZ" sz="1200" b="0" kern="1200" baseline="0" dirty="0">
                <a:solidFill>
                  <a:schemeClr val="tx1"/>
                </a:solidFill>
                <a:latin typeface="+mn-lt"/>
                <a:ea typeface="+mn-ea"/>
                <a:cs typeface="+mn-cs"/>
              </a:rPr>
              <a:t>3. The request of process P3 is less than or equal to </a:t>
            </a:r>
            <a:r>
              <a:rPr lang="en-NZ" sz="1200" b="1" kern="1200" baseline="0" dirty="0">
                <a:solidFill>
                  <a:schemeClr val="tx1"/>
                </a:solidFill>
                <a:latin typeface="+mn-lt"/>
                <a:ea typeface="+mn-ea"/>
                <a:cs typeface="+mn-cs"/>
              </a:rPr>
              <a:t>W</a:t>
            </a:r>
            <a:r>
              <a:rPr lang="en-NZ" sz="1200" b="0" kern="1200" baseline="0" dirty="0">
                <a:solidFill>
                  <a:schemeClr val="tx1"/>
                </a:solidFill>
                <a:latin typeface="+mn-lt"/>
                <a:ea typeface="+mn-ea"/>
                <a:cs typeface="+mn-cs"/>
              </a:rPr>
              <a:t>, so mark P3 and set W=W + (0 0 0 1 0) = (0 0 0 1 1).</a:t>
            </a:r>
          </a:p>
          <a:p>
            <a:endParaRPr lang="en-NZ" sz="1200" b="0" kern="1200" baseline="0" dirty="0">
              <a:solidFill>
                <a:schemeClr val="tx1"/>
              </a:solidFill>
              <a:latin typeface="+mn-lt"/>
              <a:ea typeface="+mn-ea"/>
              <a:cs typeface="+mn-cs"/>
            </a:endParaRPr>
          </a:p>
          <a:p>
            <a:r>
              <a:rPr lang="en-NZ" sz="1200" b="0" kern="1200" baseline="0" dirty="0">
                <a:solidFill>
                  <a:schemeClr val="tx1"/>
                </a:solidFill>
                <a:latin typeface="+mn-lt"/>
                <a:ea typeface="+mn-ea"/>
                <a:cs typeface="+mn-cs"/>
              </a:rPr>
              <a:t>4. No other unmarked process has a row in Q that is less than or equal to W.</a:t>
            </a:r>
          </a:p>
          <a:p>
            <a:pPr lvl="1"/>
            <a:r>
              <a:rPr lang="en-NZ" sz="1200" b="0" kern="1200" baseline="0" dirty="0">
                <a:solidFill>
                  <a:schemeClr val="tx1"/>
                </a:solidFill>
                <a:latin typeface="+mn-lt"/>
                <a:ea typeface="+mn-ea"/>
                <a:cs typeface="+mn-cs"/>
              </a:rPr>
              <a:t>Therefore, terminate the algorithm.</a:t>
            </a:r>
          </a:p>
          <a:p>
            <a:pPr lvl="1"/>
            <a:endParaRPr lang="en-NZ" sz="1200" b="0" kern="1200" baseline="0" dirty="0">
              <a:solidFill>
                <a:schemeClr val="tx1"/>
              </a:solidFill>
              <a:latin typeface="+mn-lt"/>
              <a:ea typeface="+mn-ea"/>
              <a:cs typeface="+mn-cs"/>
            </a:endParaRPr>
          </a:p>
          <a:p>
            <a:r>
              <a:rPr lang="en-NZ" sz="1200" b="0" kern="1200" baseline="0" dirty="0">
                <a:solidFill>
                  <a:schemeClr val="tx1"/>
                </a:solidFill>
                <a:latin typeface="+mn-lt"/>
                <a:ea typeface="+mn-ea"/>
                <a:cs typeface="+mn-cs"/>
              </a:rPr>
              <a:t>The algorithm concludes with P1 and P2 unmarked, indicating that these processes are deadlocked.</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Once deadlock has been detected, some strategy is needed for recovery. The following are possible approaches, listed in order of increasing sophistication: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Abort all deadlocked processes. </a:t>
            </a:r>
            <a:r>
              <a:rPr lang="en-US" sz="1200" b="0" kern="1200" baseline="0" dirty="0">
                <a:solidFill>
                  <a:schemeClr val="tx1"/>
                </a:solidFill>
                <a:latin typeface="+mn-lt"/>
                <a:ea typeface="+mn-ea"/>
                <a:cs typeface="+mn-cs"/>
              </a:rPr>
              <a:t>This is, believe it or not, one of the most </a:t>
            </a:r>
            <a:r>
              <a:rPr lang="en-US" sz="1200" kern="1200" baseline="0" dirty="0">
                <a:solidFill>
                  <a:schemeClr val="tx1"/>
                </a:solidFill>
                <a:latin typeface="+mn-lt"/>
                <a:ea typeface="+mn-ea"/>
                <a:cs typeface="+mn-cs"/>
              </a:rPr>
              <a:t>common, if not the most common, solution adopted in operating systems.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Back up each deadlocked process to some previously defined checkpoint, and restart all processes</a:t>
            </a:r>
            <a:r>
              <a:rPr lang="en-US" sz="1200" kern="1200" baseline="0" dirty="0">
                <a:solidFill>
                  <a:schemeClr val="tx1"/>
                </a:solidFill>
                <a:latin typeface="+mn-lt"/>
                <a:ea typeface="+mn-ea"/>
                <a:cs typeface="+mn-cs"/>
              </a:rPr>
              <a:t>. This requires that rollback and restart mechanisms be built in to the system. The risk in this approach is that the original deadlock may recur. However, the </a:t>
            </a:r>
            <a:r>
              <a:rPr lang="en-US" sz="1200" kern="1200" baseline="0" dirty="0" err="1">
                <a:solidFill>
                  <a:schemeClr val="tx1"/>
                </a:solidFill>
                <a:latin typeface="+mn-lt"/>
                <a:ea typeface="+mn-ea"/>
                <a:cs typeface="+mn-cs"/>
              </a:rPr>
              <a:t>nondeterminancy</a:t>
            </a:r>
            <a:r>
              <a:rPr lang="en-US" sz="1200" kern="1200" baseline="0" dirty="0">
                <a:solidFill>
                  <a:schemeClr val="tx1"/>
                </a:solidFill>
                <a:latin typeface="+mn-lt"/>
                <a:ea typeface="+mn-ea"/>
                <a:cs typeface="+mn-cs"/>
              </a:rPr>
              <a:t> of concurrent processing may ensure that this does not happen.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3. Successively abort deadlocked processes until deadlock no longer exists. </a:t>
            </a:r>
            <a:r>
              <a:rPr lang="en-US" sz="1200" b="0" kern="1200" baseline="0" dirty="0">
                <a:solidFill>
                  <a:schemeClr val="tx1"/>
                </a:solidFill>
                <a:latin typeface="+mn-lt"/>
                <a:ea typeface="+mn-ea"/>
                <a:cs typeface="+mn-cs"/>
              </a:rPr>
              <a:t>The </a:t>
            </a:r>
            <a:r>
              <a:rPr lang="en-US" sz="1200" kern="1200" baseline="0" dirty="0">
                <a:solidFill>
                  <a:schemeClr val="tx1"/>
                </a:solidFill>
                <a:latin typeface="+mn-lt"/>
                <a:ea typeface="+mn-ea"/>
                <a:cs typeface="+mn-cs"/>
              </a:rPr>
              <a:t>order in which processes are selected for abortion should be on the basis of some criterion of minimum cost. After each abortion, the detection algorithm must be </a:t>
            </a:r>
            <a:r>
              <a:rPr lang="en-US" sz="1200" kern="1200" baseline="0" dirty="0" err="1">
                <a:solidFill>
                  <a:schemeClr val="tx1"/>
                </a:solidFill>
                <a:latin typeface="+mn-lt"/>
                <a:ea typeface="+mn-ea"/>
                <a:cs typeface="+mn-cs"/>
              </a:rPr>
              <a:t>reinvoked</a:t>
            </a:r>
            <a:r>
              <a:rPr lang="en-US" sz="1200" kern="1200" baseline="0" dirty="0">
                <a:solidFill>
                  <a:schemeClr val="tx1"/>
                </a:solidFill>
                <a:latin typeface="+mn-lt"/>
                <a:ea typeface="+mn-ea"/>
                <a:cs typeface="+mn-cs"/>
              </a:rPr>
              <a:t> to see whether deadlock still exists.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4. Successively preempt resources until deadlock no longer exists. </a:t>
            </a:r>
            <a:r>
              <a:rPr lang="en-US" sz="1200" b="0" kern="1200" baseline="0" dirty="0">
                <a:solidFill>
                  <a:schemeClr val="tx1"/>
                </a:solidFill>
                <a:latin typeface="+mn-lt"/>
                <a:ea typeface="+mn-ea"/>
                <a:cs typeface="+mn-cs"/>
              </a:rPr>
              <a:t>As in (3), a </a:t>
            </a:r>
            <a:r>
              <a:rPr lang="en-US" sz="1200" b="0" kern="1200" baseline="0" dirty="0" err="1">
                <a:solidFill>
                  <a:schemeClr val="tx1"/>
                </a:solidFill>
                <a:latin typeface="+mn-lt"/>
                <a:ea typeface="+mn-ea"/>
                <a:cs typeface="+mn-cs"/>
              </a:rPr>
              <a:t>costbased</a:t>
            </a:r>
            <a:r>
              <a:rPr lang="en-US" sz="1200" b="0"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selection should be used, and </a:t>
            </a:r>
            <a:r>
              <a:rPr lang="en-US" sz="1200" kern="1200" baseline="0" dirty="0" err="1">
                <a:solidFill>
                  <a:schemeClr val="tx1"/>
                </a:solidFill>
                <a:latin typeface="+mn-lt"/>
                <a:ea typeface="+mn-ea"/>
                <a:cs typeface="+mn-cs"/>
              </a:rPr>
              <a:t>reinvocation</a:t>
            </a:r>
            <a:r>
              <a:rPr lang="en-US" sz="1200" kern="1200" baseline="0" dirty="0">
                <a:solidFill>
                  <a:schemeClr val="tx1"/>
                </a:solidFill>
                <a:latin typeface="+mn-lt"/>
                <a:ea typeface="+mn-ea"/>
                <a:cs typeface="+mn-cs"/>
              </a:rPr>
              <a:t> of the detection algorithm is required after each preemption. A process that has a resource preempted from it must be rolled back to a point prior to its acquisition of that resource.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(3) and (4), the selection criteria could be one of the following. Choose the process with the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least amount of processor time consumed so far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least amount of output produced so far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most estimated time remaining</a:t>
            </a:r>
          </a:p>
          <a:p>
            <a:pPr>
              <a:buFont typeface="Arial"/>
              <a:buChar char="•"/>
            </a:pPr>
            <a:endParaRPr lang="en-US" sz="1200" kern="1200" baseline="0" dirty="0">
              <a:solidFill>
                <a:schemeClr val="tx1"/>
              </a:solidFill>
              <a:latin typeface="+mn-lt"/>
              <a:ea typeface="+mn-ea"/>
              <a:cs typeface="+mn-cs"/>
            </a:endParaRPr>
          </a:p>
          <a:p>
            <a:pPr>
              <a:buFont typeface="Arial"/>
              <a:buChar char="•"/>
            </a:pPr>
            <a:r>
              <a:rPr lang="en-US" sz="1200" kern="1200" baseline="0" dirty="0">
                <a:solidFill>
                  <a:schemeClr val="tx1"/>
                </a:solidFill>
                <a:latin typeface="+mn-lt"/>
                <a:ea typeface="+mn-ea"/>
                <a:cs typeface="+mn-cs"/>
              </a:rPr>
              <a:t> least total resources allocated so far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lowest priority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Some of these quantities are easier to measure than others. Estimated time remaining is particularly suspect. Also, other than by means of the priority measure, there is no indication of the “cost” to the user, as opposed to the cost to the system as a whole.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Table 6.1 suggests, there are strengths and weaknesses to all of the strategies for dealing with deadlock. Rather than attempting to design an OS facility that employs only one of these strategies, it might be more efficient to use different strategies in different situations.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We now turn to the dining philosophers problem, introduced by </a:t>
            </a:r>
            <a:r>
              <a:rPr lang="en-US" sz="1200" kern="1200" baseline="0" dirty="0" err="1">
                <a:solidFill>
                  <a:schemeClr val="tx1"/>
                </a:solidFill>
                <a:latin typeface="+mn-lt"/>
                <a:ea typeface="+mn-ea"/>
                <a:cs typeface="+mn-cs"/>
              </a:rPr>
              <a:t>Dijkstra</a:t>
            </a:r>
            <a:r>
              <a:rPr lang="en-US" sz="1200" kern="1200" baseline="0" dirty="0">
                <a:solidFill>
                  <a:schemeClr val="tx1"/>
                </a:solidFill>
                <a:latin typeface="+mn-lt"/>
                <a:ea typeface="+mn-ea"/>
                <a:cs typeface="+mn-cs"/>
              </a:rPr>
              <a:t> [DIJK71]. Five philosophers live in a house, where a table is laid for them. The life of each philosopher consists principally of thinking and eating, and through years of thought, all of the philosophers had agreed that the only food that contributed to their thinking efforts was spaghetti. Due to a lack of manual skill, each philosopher requires two forks to eat spaghetti.</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eating arrangements are simple ( Figure 6.11 ): a round table on which is set a large serving bowl of spaghetti, five plates, one for each philosopher, and five forks. A philosopher wishing to eat goes to his or her assigned place at the table and, using the two forks on either side of the plate, takes and eats some spaghetti. The problem: Devise a ritual (algorithm) that will allow the philosophers to eat. The algorithm must satisfy mutual exclusion (no two philosophers can use the same fork at the same time) while avoiding deadlock and </a:t>
            </a:r>
            <a:r>
              <a:rPr lang="en-US" sz="1200" i="1" kern="1200" baseline="0" dirty="0">
                <a:solidFill>
                  <a:schemeClr val="tx1"/>
                </a:solidFill>
                <a:latin typeface="+mn-lt"/>
                <a:ea typeface="+mn-ea"/>
                <a:cs typeface="+mn-cs"/>
              </a:rPr>
              <a:t>starvation (in this case, the term has </a:t>
            </a:r>
            <a:r>
              <a:rPr lang="en-US" sz="1200" kern="1200" baseline="0" dirty="0">
                <a:solidFill>
                  <a:schemeClr val="tx1"/>
                </a:solidFill>
                <a:latin typeface="+mn-lt"/>
                <a:ea typeface="+mn-ea"/>
                <a:cs typeface="+mn-cs"/>
              </a:rPr>
              <a:t>literal as well as algorithmic meaning!).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problem may not seem important or relevant in itself. However, it does illustrate basic problems in deadlock and starvation. Furthermore, attempts to develop solutions reveal many of the difficulties in concurrent programming (e.g., see [GING90]). In addition, the dining philosophers problem can be seen as representative of problems dealing with the coordination of shared resources, which may occur when an application includes concurrent threads of execution. Accordingly, this problem is a standard test case for evaluating approaches to synchronization.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39</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6.12 suggests a solution using semaphores. Each philosopher picks up first the fork on the left and then the fork on the right. After the philosopher is finished eating, the two forks are replaced on the table. This solution, alas, leads to deadlock: If all of the philosophers are hungry at the same time, they all sit down, they all pick up the fork on their left, and they all reach out for the other fork, which is not there. In this undignified position, all philosophers starve.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overcome the risk of deadlock, we could buy five additional forks (a more sanitary solution!) or teach the philosophers to eat spaghetti with just one fork. As another approach, we could consider adding an attendant who only allows four philosophers at a time into the dining room. With at most four seated philosophers, at least one philosopher will have access to two forks.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6.13 shows such a solution, again using semaphores. This solution is free of deadlock and starvation.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41</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At the user level, Linux provides a semaphore interface corresponding to that in UNIX SVR4. Internally, Linux provides an implementation of semaphores for its own use. That is, code that is part of the kernel can invoke kernel semaphores. These kernel semaphores cannot be accessed directly by the user program via system calls. They are implemented as functions within the kernel and are thus more efficient than user-visible semaphores.</a:t>
            </a:r>
          </a:p>
          <a:p>
            <a:endParaRPr lang="en-US" sz="1200" kern="1200" baseline="0" dirty="0">
              <a:solidFill>
                <a:schemeClr val="tx1"/>
              </a:solidFill>
              <a:latin typeface="+mn-lt"/>
              <a:ea typeface="+mn-ea"/>
              <a:cs typeface="+mn-cs"/>
            </a:endParaRPr>
          </a:p>
          <a:p>
            <a:r>
              <a:rPr lang="en-NZ" dirty="0"/>
              <a:t>Linux provides three types of semaphore facilities in the kernel: </a:t>
            </a:r>
          </a:p>
          <a:p>
            <a:pPr lvl="1">
              <a:buFont typeface="Arial" pitchFamily="34" charset="0"/>
              <a:buChar char="•"/>
            </a:pPr>
            <a:r>
              <a:rPr lang="en-NZ" dirty="0"/>
              <a:t> binary semaphores,</a:t>
            </a:r>
          </a:p>
          <a:p>
            <a:pPr lvl="1">
              <a:buFont typeface="Arial" pitchFamily="34" charset="0"/>
              <a:buChar char="•"/>
            </a:pPr>
            <a:r>
              <a:rPr lang="en-NZ" dirty="0"/>
              <a:t> counting semaphores, and </a:t>
            </a:r>
          </a:p>
          <a:p>
            <a:pPr lvl="1">
              <a:buFont typeface="Arial" pitchFamily="34" charset="0"/>
              <a:buChar char="•"/>
            </a:pPr>
            <a:r>
              <a:rPr lang="en-NZ" dirty="0"/>
              <a:t> reader-writer semaphores.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42</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Chapter 6 summary.</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56CD45C-81C4-4E27-A18A-8835B7066D8D}" type="datetimeFigureOut">
              <a:rPr lang="en-US"/>
              <a:pPr>
                <a:defRPr/>
              </a:pPr>
              <a:t>08-Jul-24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4DF4F1D-9F1B-4CA4-932E-311654E99826}" type="datetimeFigureOut">
              <a:rPr lang="en-US"/>
              <a:pPr>
                <a:defRPr/>
              </a:pPr>
              <a:t>08-Jul-24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A0E4233-E030-4D82-AE1D-06E871FCE686}" type="datetimeFigureOut">
              <a:rPr lang="en-US"/>
              <a:pPr>
                <a:defRPr/>
              </a:pPr>
              <a:t>08-Jul-24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7C5EE9E-C85E-43CC-91D6-50F7B4961BB7}" type="datetimeFigureOut">
              <a:rPr lang="en-US"/>
              <a:pPr>
                <a:defRPr/>
              </a:pPr>
              <a:t>08-Jul-24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19F8884-1DEA-4C84-A489-E724713CC95E}" type="datetimeFigureOut">
              <a:rPr lang="en-US"/>
              <a:pPr>
                <a:defRPr/>
              </a:pPr>
              <a:t>08-Jul-24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02DFE5A-BFC9-454A-A87C-69BA4FE25A0F}" type="datetimeFigureOut">
              <a:rPr lang="en-US"/>
              <a:pPr>
                <a:defRPr/>
              </a:pPr>
              <a:t>08-Jul-24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B4A6603-BAC9-4FFA-BE72-57B7C0EDA50D}" type="datetimeFigureOut">
              <a:rPr lang="en-US"/>
              <a:pPr>
                <a:defRPr/>
              </a:pPr>
              <a:t>08-Jul-24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56F2E53-C0F0-49CC-8B3F-6BA3D019B99D}" type="datetimeFigureOut">
              <a:rPr lang="en-US"/>
              <a:pPr>
                <a:defRPr/>
              </a:pPr>
              <a:t>08-Jul-24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44AA9AB-7925-475F-87E4-57F6EF092961}" type="datetimeFigureOut">
              <a:rPr lang="en-US"/>
              <a:pPr>
                <a:defRPr/>
              </a:pPr>
              <a:t>08-Jul-24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A9C3780-DD3C-46A5-8303-4579155A8DB3}" type="datetimeFigureOut">
              <a:rPr lang="en-US"/>
              <a:pPr>
                <a:defRPr/>
              </a:pPr>
              <a:t>08-Jul-24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33C4502-BF88-49E9-A189-5718D68C95C9}" type="datetimeFigureOut">
              <a:rPr lang="en-US"/>
              <a:pPr>
                <a:defRPr/>
              </a:pPr>
              <a:t>08-Jul-24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454782" y="928914"/>
            <a:ext cx="11243733"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914277" y="968189"/>
            <a:ext cx="10399183"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914277" y="2209800"/>
            <a:ext cx="10399183"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EF5D2D3F-B0F1-446B-B7CC-19B90EB0017B}" type="datetimeFigureOut">
              <a:rPr lang="en-US" smtClean="0"/>
              <a:pPr>
                <a:defRPr/>
              </a:pPr>
              <a:t>08-Jul-24</a:t>
            </a:fld>
            <a:endParaRPr lang="en-US" dirty="0"/>
          </a:p>
        </p:txBody>
      </p:sp>
      <p:sp>
        <p:nvSpPr>
          <p:cNvPr id="6" name="Slide Number Placeholder 5"/>
          <p:cNvSpPr>
            <a:spLocks noGrp="1"/>
          </p:cNvSpPr>
          <p:nvPr>
            <p:ph type="sldNum" sz="quarter" idx="12"/>
          </p:nvPr>
        </p:nvSpPr>
        <p:spPr>
          <a:xfrm>
            <a:off x="5740400" y="6492876"/>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09600" y="816802"/>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609600" y="457200"/>
            <a:ext cx="10972800" cy="356646"/>
          </a:xfrm>
          <a:prstGeom prst="rect">
            <a:avLst/>
          </a:prstGeom>
        </p:spPr>
      </p:pic>
      <p:pic>
        <p:nvPicPr>
          <p:cNvPr id="10" name="Picture 9" descr="TitleSlideBottom.jpg"/>
          <p:cNvPicPr>
            <a:picLocks noChangeAspect="1"/>
          </p:cNvPicPr>
          <p:nvPr/>
        </p:nvPicPr>
        <p:blipFill>
          <a:blip r:embed="rId3"/>
          <a:stretch>
            <a:fillRect/>
          </a:stretch>
        </p:blipFill>
        <p:spPr>
          <a:xfrm>
            <a:off x="609600" y="2700602"/>
            <a:ext cx="10972800" cy="3700199"/>
          </a:xfrm>
          <a:prstGeom prst="rect">
            <a:avLst/>
          </a:prstGeom>
        </p:spPr>
      </p:pic>
      <p:sp>
        <p:nvSpPr>
          <p:cNvPr id="11"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120D744-A176-4DCB-9147-2AE7B7E87481}" type="datetimeFigureOut">
              <a:rPr lang="en-US"/>
              <a:pPr/>
              <a:t>08-Jul-24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a:srcRect/>
          <a:stretch>
            <a:fillRect/>
          </a:stretch>
        </p:blipFill>
        <p:spPr bwMode="auto">
          <a:xfrm>
            <a:off x="11239501" y="5562600"/>
            <a:ext cx="952500"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1" y="6115050"/>
            <a:ext cx="1587500" cy="742950"/>
          </a:xfrm>
          <a:prstGeom prst="rect">
            <a:avLst/>
          </a:prstGeom>
          <a:noFill/>
          <a:ln w="9525">
            <a:noFill/>
            <a:miter lim="800000"/>
            <a:headEnd/>
            <a:tailEnd/>
          </a:ln>
        </p:spPr>
      </p:pic>
      <p:sp>
        <p:nvSpPr>
          <p:cNvPr id="9" name="Freeform 8"/>
          <p:cNvSpPr/>
          <p:nvPr userDrawn="1"/>
        </p:nvSpPr>
        <p:spPr>
          <a:xfrm>
            <a:off x="1562101" y="6124576"/>
            <a:ext cx="9715500"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25942" y="155575"/>
            <a:ext cx="2000250" cy="1397000"/>
          </a:xfrm>
          <a:prstGeom prst="rect">
            <a:avLst/>
          </a:prstGeom>
          <a:noFill/>
          <a:ln w="9525">
            <a:noFill/>
            <a:miter lim="800000"/>
            <a:headEnd/>
            <a:tailEnd/>
          </a:ln>
        </p:spPr>
      </p:pic>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435428" y="362858"/>
            <a:ext cx="11253411"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30722" y="3575713"/>
            <a:ext cx="719556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4130722" y="4980297"/>
            <a:ext cx="719556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60F29AB0-274B-47BE-985F-46164E2F9B8D}" type="datetimeFigureOut">
              <a:rPr lang="en-US" smtClean="0"/>
              <a:pPr>
                <a:defRPr/>
              </a:pPr>
              <a:t>08-Jul-24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a:xfrm>
            <a:off x="5742432" y="6492241"/>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627530" y="457200"/>
            <a:ext cx="2955415" cy="5943600"/>
          </a:xfrm>
          <a:prstGeom prst="rect">
            <a:avLst/>
          </a:prstGeom>
        </p:spPr>
      </p:pic>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69411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878539" y="2286001"/>
            <a:ext cx="48768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441744" y="2286001"/>
            <a:ext cx="48768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76F0B030-1580-4866-BCBB-5B9DCBDFAB68}" type="datetimeFigureOut">
              <a:rPr lang="en-US" smtClean="0"/>
              <a:pPr>
                <a:defRPr/>
              </a:pPr>
              <a:t>08-Jul-24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884517" y="2040082"/>
            <a:ext cx="48768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84517" y="2797175"/>
            <a:ext cx="48768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37376" y="2040082"/>
            <a:ext cx="48768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37376" y="2797175"/>
            <a:ext cx="48768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70FF0F97-1060-4EBF-B543-874A8397FCDC}" type="datetimeFigureOut">
              <a:rPr lang="en-US" smtClean="0"/>
              <a:pPr>
                <a:defRPr/>
              </a:pPr>
              <a:t>08-Jul-24</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4408489" y="4484423"/>
            <a:ext cx="3375025" cy="2117"/>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872067" y="2286001"/>
            <a:ext cx="10464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08-Jul-24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872067" y="4302966"/>
            <a:ext cx="10464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437376"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08-Jul-24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437376"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872113" y="2286001"/>
            <a:ext cx="48768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437376"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08-Jul-24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437376"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878541"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878541"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E848A180-20FC-43E6-ACF2-E4D2D7D4238C}" type="datetimeFigureOut">
              <a:rPr lang="en-US" smtClean="0"/>
              <a:pPr>
                <a:defRPr/>
              </a:pPr>
              <a:t>08-Jul-24</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474133" y="566058"/>
            <a:ext cx="11195352"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5B242E86-E886-49FE-9E81-CBA74FDF21F4}" type="datetimeFigureOut">
              <a:rPr lang="en-US" smtClean="0"/>
              <a:pPr>
                <a:defRPr/>
              </a:pPr>
              <a:t>08-Jul-24</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445105" y="566058"/>
            <a:ext cx="1127276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77824" y="1644868"/>
            <a:ext cx="48768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6437376" y="654268"/>
            <a:ext cx="48768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877824" y="2774732"/>
            <a:ext cx="48768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5E854A5-A6D3-4FF2-A83D-4A92E35723B6}" type="datetimeFigureOut">
              <a:rPr lang="en-US" smtClean="0"/>
              <a:pPr>
                <a:defRPr/>
              </a:pPr>
              <a:t>08-Jul-24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474134" y="348343"/>
            <a:ext cx="11243733"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8454677" y="3270960"/>
            <a:ext cx="5943600" cy="31608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77824" y="1644868"/>
            <a:ext cx="48768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877824" y="2774732"/>
            <a:ext cx="48768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BFCA2E3-A4EC-4D3C-A723-C30C7527518B}" type="datetimeFigureOut">
              <a:rPr lang="en-US" smtClean="0"/>
              <a:pPr>
                <a:defRPr/>
              </a:pPr>
              <a:t>08-Jul-24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6437376" y="457200"/>
            <a:ext cx="4828032" cy="5943600"/>
          </a:xfrm>
        </p:spPr>
        <p:txBody>
          <a:bodyPr/>
          <a:lstStyle>
            <a:lvl1pPr>
              <a:buNone/>
              <a:defRPr/>
            </a:lvl1pPr>
          </a:lstStyle>
          <a:p>
            <a:r>
              <a:rPr lang="en-US"/>
              <a:t>Click icon to add picture</a:t>
            </a:r>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812800" y="2286001"/>
            <a:ext cx="10498667"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C2AEB11F-C391-4BDD-82EB-6F3E13A9F9E1}" type="datetimeFigureOut">
              <a:rPr lang="en-US" smtClean="0"/>
              <a:pPr>
                <a:defRPr/>
              </a:pPr>
              <a:t>08-Jul-24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464457" y="362857"/>
            <a:ext cx="11253409"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9482224" y="457200"/>
            <a:ext cx="2061640" cy="5943600"/>
          </a:xfrm>
          <a:prstGeom prst="rect">
            <a:avLst/>
          </a:prstGeom>
        </p:spPr>
      </p:pic>
      <p:sp>
        <p:nvSpPr>
          <p:cNvPr id="10" name="Rectangle 9"/>
          <p:cNvSpPr/>
          <p:nvPr/>
        </p:nvSpPr>
        <p:spPr>
          <a:xfrm rot="5400000">
            <a:off x="642315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9492776" y="693739"/>
            <a:ext cx="1988024"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609600" y="693739"/>
            <a:ext cx="80264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042669FE-0345-4152-A335-E3D8B60CD5FA}" type="datetimeFigureOut">
              <a:rPr lang="en-US" smtClean="0"/>
              <a:pPr>
                <a:defRPr/>
              </a:pPr>
              <a:t>08-Jul-24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56CD45C-81C4-4E27-A18A-8835B7066D8D}" type="datetimeFigureOut">
              <a:rPr lang="en-US"/>
              <a:pPr>
                <a:defRPr/>
              </a:pPr>
              <a:t>08-Jul-24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4DF4F1D-9F1B-4CA4-932E-311654E99826}" type="datetimeFigureOut">
              <a:rPr lang="en-US"/>
              <a:pPr>
                <a:defRPr/>
              </a:pPr>
              <a:t>08-Jul-24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A0E4233-E030-4D82-AE1D-06E871FCE686}" type="datetimeFigureOut">
              <a:rPr lang="en-US"/>
              <a:pPr>
                <a:defRPr/>
              </a:pPr>
              <a:t>08-Jul-24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7C5EE9E-C85E-43CC-91D6-50F7B4961BB7}" type="datetimeFigureOut">
              <a:rPr lang="en-US"/>
              <a:pPr>
                <a:defRPr/>
              </a:pPr>
              <a:t>08-Jul-24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19F8884-1DEA-4C84-A489-E724713CC95E}" type="datetimeFigureOut">
              <a:rPr lang="en-US"/>
              <a:pPr>
                <a:defRPr/>
              </a:pPr>
              <a:t>08-Jul-24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02DFE5A-BFC9-454A-A87C-69BA4FE25A0F}" type="datetimeFigureOut">
              <a:rPr lang="en-US"/>
              <a:pPr>
                <a:defRPr/>
              </a:pPr>
              <a:t>08-Jul-24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B4A6603-BAC9-4FFA-BE72-57B7C0EDA50D}" type="datetimeFigureOut">
              <a:rPr lang="en-US"/>
              <a:pPr>
                <a:defRPr/>
              </a:pPr>
              <a:t>08-Jul-24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56F2E53-C0F0-49CC-8B3F-6BA3D019B99D}" type="datetimeFigureOut">
              <a:rPr lang="en-US"/>
              <a:pPr>
                <a:defRPr/>
              </a:pPr>
              <a:t>08-Jul-24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44AA9AB-7925-475F-87E4-57F6EF092961}" type="datetimeFigureOut">
              <a:rPr lang="en-US"/>
              <a:pPr>
                <a:defRPr/>
              </a:pPr>
              <a:t>08-Jul-24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A9C3780-DD3C-46A5-8303-4579155A8DB3}" type="datetimeFigureOut">
              <a:rPr lang="en-US"/>
              <a:pPr>
                <a:defRPr/>
              </a:pPr>
              <a:t>08-Jul-24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33C4502-BF88-49E9-A189-5718D68C95C9}" type="datetimeFigureOut">
              <a:rPr lang="en-US"/>
              <a:pPr>
                <a:defRPr/>
              </a:pPr>
              <a:t>08-Jul-24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1.jpe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1CF5B1-68BC-4F44-89BE-2F24F67B5729}" type="datetimeFigureOut">
              <a:rPr lang="en-US"/>
              <a:pPr>
                <a:defRPr/>
              </a:pPr>
              <a:t>08-Jul-24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609600" y="457200"/>
            <a:ext cx="10972800" cy="1382002"/>
          </a:xfrm>
          <a:prstGeom prst="rect">
            <a:avLst/>
          </a:prstGeom>
        </p:spPr>
      </p:pic>
      <p:sp>
        <p:nvSpPr>
          <p:cNvPr id="2" name="Title Placeholder 1"/>
          <p:cNvSpPr>
            <a:spLocks noGrp="1"/>
          </p:cNvSpPr>
          <p:nvPr>
            <p:ph type="title"/>
          </p:nvPr>
        </p:nvSpPr>
        <p:spPr>
          <a:xfrm>
            <a:off x="878417" y="456253"/>
            <a:ext cx="10433051"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3048000" y="2286001"/>
            <a:ext cx="8263467"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8920480" y="6492876"/>
            <a:ext cx="28448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5E62B1BE-7229-4612-B077-302E9FB27D58}" type="datetimeFigureOut">
              <a:rPr lang="en-US" smtClean="0"/>
              <a:pPr>
                <a:defRPr/>
              </a:pPr>
              <a:t>08-Jul-24</a:t>
            </a:fld>
            <a:endParaRPr lang="en-US" dirty="0"/>
          </a:p>
        </p:txBody>
      </p:sp>
      <p:sp>
        <p:nvSpPr>
          <p:cNvPr id="5"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504888" y="6149789"/>
            <a:ext cx="7112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609600" y="184096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transition/>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1CF5B1-68BC-4F44-89BE-2F24F67B5729}" type="datetimeFigureOut">
              <a:rPr lang="en-US"/>
              <a:pPr>
                <a:defRPr/>
              </a:pPr>
              <a:t>08-Jul-24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8.xml"/><Relationship Id="rId1" Type="http://schemas.openxmlformats.org/officeDocument/2006/relationships/slideLayout" Target="../slideLayouts/slideLayout2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0.xml"/><Relationship Id="rId1" Type="http://schemas.openxmlformats.org/officeDocument/2006/relationships/slideLayout" Target="../slideLayouts/slideLayout20.xml"/><Relationship Id="rId4" Type="http://schemas.openxmlformats.org/officeDocument/2006/relationships/image" Target="../media/image21.wmf"/></Relationships>
</file>

<file path=ppt/slides/_rels/slide22.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2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29.xml"/><Relationship Id="rId1" Type="http://schemas.openxmlformats.org/officeDocument/2006/relationships/slideLayout" Target="../slideLayouts/slideLayout20.xml"/><Relationship Id="rId4" Type="http://schemas.openxmlformats.org/officeDocument/2006/relationships/image" Target="../media/image31.wmf"/></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0.xml"/><Relationship Id="rId1" Type="http://schemas.openxmlformats.org/officeDocument/2006/relationships/slideLayout" Target="../slideLayouts/slideLayout2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1.xml"/><Relationship Id="rId1" Type="http://schemas.openxmlformats.org/officeDocument/2006/relationships/slideLayout" Target="../slideLayouts/slideLayout2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2.xml"/><Relationship Id="rId1" Type="http://schemas.openxmlformats.org/officeDocument/2006/relationships/slideLayout" Target="../slideLayouts/slideLayout2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33.xml"/><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36.xml"/><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37.xm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a:xfrm>
            <a:off x="4094864" y="3204237"/>
            <a:ext cx="7195561" cy="1340467"/>
          </a:xfrm>
        </p:spPr>
        <p:txBody>
          <a:bodyPr/>
          <a:lstStyle/>
          <a:p>
            <a:pPr eaLnBrk="1" hangingPunct="1"/>
            <a:r>
              <a:rPr lang="en-US" dirty="0"/>
              <a:t>Chapter 6</a:t>
            </a:r>
            <a:br>
              <a:rPr lang="en-US" dirty="0"/>
            </a:br>
            <a:r>
              <a:rPr lang="en-US" dirty="0"/>
              <a:t>Concurrency: Deadlock and Starvation</a:t>
            </a:r>
          </a:p>
        </p:txBody>
      </p:sp>
      <p:sp>
        <p:nvSpPr>
          <p:cNvPr id="3" name="Subtitle 2"/>
          <p:cNvSpPr>
            <a:spLocks noGrp="1"/>
          </p:cNvSpPr>
          <p:nvPr>
            <p:ph type="body" idx="1"/>
          </p:nvPr>
        </p:nvSpPr>
        <p:spPr>
          <a:xfrm>
            <a:off x="870199" y="1371600"/>
            <a:ext cx="2057400" cy="3173104"/>
          </a:xfrm>
        </p:spPr>
        <p:txBody>
          <a:bodyPr rtlCol="0">
            <a:normAutofit/>
          </a:bodyPr>
          <a:lstStyle/>
          <a:p>
            <a:pPr lvl="0">
              <a:defRPr/>
            </a:pPr>
            <a:r>
              <a:rPr lang="en-US" sz="3200" i="1" dirty="0">
                <a:solidFill>
                  <a:schemeClr val="bg2">
                    <a:lumMod val="25000"/>
                  </a:schemeClr>
                </a:solidFill>
              </a:rPr>
              <a:t>Operating Systems:</a:t>
            </a:r>
            <a:br>
              <a:rPr lang="en-US" sz="3200" i="1" dirty="0">
                <a:solidFill>
                  <a:schemeClr val="bg2">
                    <a:lumMod val="25000"/>
                  </a:schemeClr>
                </a:solidFill>
              </a:rPr>
            </a:br>
            <a:r>
              <a:rPr lang="en-US" sz="3200" i="1" dirty="0">
                <a:solidFill>
                  <a:schemeClr val="bg2">
                    <a:lumMod val="25000"/>
                  </a:schemeClr>
                </a:solidFill>
              </a:rPr>
              <a:t>Internals and Design Principles</a:t>
            </a:r>
          </a:p>
          <a:p>
            <a:pPr>
              <a:defRPr/>
            </a:pPr>
            <a:endParaRPr lang="en-US" i="1" dirty="0"/>
          </a:p>
        </p:txBody>
      </p:sp>
      <p:sp>
        <p:nvSpPr>
          <p:cNvPr id="4" name="Footer Placeholder 3"/>
          <p:cNvSpPr>
            <a:spLocks noGrp="1"/>
          </p:cNvSpPr>
          <p:nvPr>
            <p:ph type="ftr" sz="quarter" idx="11"/>
          </p:nvPr>
        </p:nvSpPr>
        <p:spPr>
          <a:xfrm>
            <a:off x="6934200" y="4953000"/>
            <a:ext cx="3048000" cy="1066800"/>
          </a:xfrm>
        </p:spPr>
        <p:txBody>
          <a:bodyPr/>
          <a:lstStyle/>
          <a:p>
            <a:pPr algn="r"/>
            <a:r>
              <a:rPr lang="en-US" sz="1800" b="0" dirty="0">
                <a:solidFill>
                  <a:schemeClr val="tx2"/>
                </a:solidFill>
                <a:latin typeface="Calisto MT"/>
              </a:rPr>
              <a:t>Eighth Edition</a:t>
            </a:r>
          </a:p>
          <a:p>
            <a:pPr algn="r"/>
            <a:r>
              <a:rPr lang="en-US" sz="1800" b="0" dirty="0">
                <a:solidFill>
                  <a:schemeClr val="tx2"/>
                </a:solidFill>
                <a:latin typeface="Calisto MT"/>
              </a:rPr>
              <a:t>By William Stallings</a:t>
            </a:r>
          </a:p>
          <a:p>
            <a:pPr>
              <a:defRPr/>
            </a:pPr>
            <a:br>
              <a:rPr lang="en-US" dirty="0"/>
            </a:br>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2182813" y="456253"/>
            <a:ext cx="7824788" cy="1220147"/>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a:t>
            </a:r>
          </a:p>
        </p:txBody>
      </p:sp>
      <p:sp>
        <p:nvSpPr>
          <p:cNvPr id="4" name="Content Placeholder 3"/>
          <p:cNvSpPr>
            <a:spLocks noGrp="1"/>
          </p:cNvSpPr>
          <p:nvPr>
            <p:ph sz="half" idx="1"/>
          </p:nvPr>
        </p:nvSpPr>
        <p:spPr>
          <a:xfrm>
            <a:off x="2182904" y="2286001"/>
            <a:ext cx="7418296" cy="3840163"/>
          </a:xfrm>
        </p:spPr>
        <p:txBody>
          <a:bodyPr>
            <a:normAutofit fontScale="85000" lnSpcReduction="20000"/>
          </a:bodyPr>
          <a:lstStyle/>
          <a:p>
            <a:r>
              <a:rPr lang="en-NZ" sz="3000" dirty="0"/>
              <a:t>The permanent blocking of a set of processes that either compete for system resources or communicate with each other</a:t>
            </a:r>
          </a:p>
          <a:p>
            <a:r>
              <a:rPr lang="en-NZ" sz="3000" dirty="0"/>
              <a:t>A set of processes is deadlocked when each process in the set is blocked awaiting an event that can only be triggered by another blocked process in the set</a:t>
            </a:r>
          </a:p>
          <a:p>
            <a:r>
              <a:rPr lang="en-NZ" sz="3000" dirty="0"/>
              <a:t>Permanent</a:t>
            </a:r>
          </a:p>
          <a:p>
            <a:r>
              <a:rPr lang="en-US" sz="3000" dirty="0"/>
              <a:t>No efficient solution</a:t>
            </a:r>
          </a:p>
        </p:txBody>
      </p:sp>
      <p:pic>
        <p:nvPicPr>
          <p:cNvPr id="5" name="Picture 4"/>
          <p:cNvPicPr>
            <a:picLocks noChangeAspect="1"/>
          </p:cNvPicPr>
          <p:nvPr/>
        </p:nvPicPr>
        <p:blipFill>
          <a:blip r:embed="rId3"/>
          <a:stretch>
            <a:fillRect/>
          </a:stretch>
        </p:blipFill>
        <p:spPr>
          <a:xfrm>
            <a:off x="8458200" y="4824212"/>
            <a:ext cx="1752600" cy="1616835"/>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f1.pdf"/>
          <p:cNvPicPr>
            <a:picLocks noChangeAspect="1"/>
          </p:cNvPicPr>
          <p:nvPr/>
        </p:nvPicPr>
        <p:blipFill>
          <a:blip r:embed="rId3"/>
          <a:srcRect l="5455" t="11765" r="4545" b="11765"/>
          <a:stretch>
            <a:fillRect/>
          </a:stretch>
        </p:blipFill>
        <p:spPr>
          <a:xfrm>
            <a:off x="1696036" y="777544"/>
            <a:ext cx="8743364" cy="57405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xmlns:p14="http://schemas.microsoft.com/office/powerpoint/2010/mai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CB5F4D-1921-8542-AFE8-BB66411CAE71}"/>
              </a:ext>
            </a:extLst>
          </p:cNvPr>
          <p:cNvSpPr txBox="1">
            <a:spLocks/>
          </p:cNvSpPr>
          <p:nvPr/>
        </p:nvSpPr>
        <p:spPr>
          <a:xfrm>
            <a:off x="2286000" y="609600"/>
            <a:ext cx="3657600" cy="5867400"/>
          </a:xfrm>
          <a:prstGeom prst="rect">
            <a:avLst/>
          </a:prstGeom>
        </p:spPr>
        <p:txBody>
          <a:bodyPr>
            <a:noAutofit/>
          </a:bodyPr>
          <a:lst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None/>
            </a:pPr>
            <a:r>
              <a:rPr lang="en-US" sz="2800" dirty="0">
                <a:solidFill>
                  <a:srgbClr val="C00000"/>
                </a:solidFill>
              </a:rPr>
              <a:t>Process P</a:t>
            </a:r>
          </a:p>
          <a:p>
            <a:pPr marL="0" indent="0" fontAlgn="auto">
              <a:spcAft>
                <a:spcPts val="0"/>
              </a:spcAft>
              <a:buNone/>
            </a:pPr>
            <a:r>
              <a:rPr lang="en-US" sz="2800" dirty="0">
                <a:solidFill>
                  <a:srgbClr val="C00000"/>
                </a:solidFill>
              </a:rPr>
              <a:t>….</a:t>
            </a:r>
          </a:p>
          <a:p>
            <a:pPr marL="0" indent="0" fontAlgn="auto">
              <a:spcAft>
                <a:spcPts val="0"/>
              </a:spcAft>
              <a:buNone/>
            </a:pPr>
            <a:r>
              <a:rPr lang="en-US" sz="2800" dirty="0">
                <a:solidFill>
                  <a:srgbClr val="C00000"/>
                </a:solidFill>
              </a:rPr>
              <a:t>Get A</a:t>
            </a:r>
          </a:p>
          <a:p>
            <a:pPr marL="0" indent="0" fontAlgn="auto">
              <a:spcAft>
                <a:spcPts val="0"/>
              </a:spcAft>
              <a:buNone/>
            </a:pPr>
            <a:r>
              <a:rPr lang="en-US" sz="2800" dirty="0">
                <a:solidFill>
                  <a:srgbClr val="C00000"/>
                </a:solidFill>
              </a:rPr>
              <a:t>…</a:t>
            </a:r>
          </a:p>
          <a:p>
            <a:pPr marL="0" indent="0" fontAlgn="auto">
              <a:spcAft>
                <a:spcPts val="0"/>
              </a:spcAft>
              <a:buNone/>
            </a:pPr>
            <a:r>
              <a:rPr lang="en-US" sz="2800" dirty="0">
                <a:solidFill>
                  <a:srgbClr val="C00000"/>
                </a:solidFill>
              </a:rPr>
              <a:t>Get B</a:t>
            </a:r>
          </a:p>
          <a:p>
            <a:pPr marL="0" indent="0" fontAlgn="auto">
              <a:spcAft>
                <a:spcPts val="0"/>
              </a:spcAft>
              <a:buNone/>
            </a:pPr>
            <a:r>
              <a:rPr lang="en-US" sz="2800" dirty="0">
                <a:solidFill>
                  <a:srgbClr val="C00000"/>
                </a:solidFill>
              </a:rPr>
              <a:t>…</a:t>
            </a:r>
          </a:p>
          <a:p>
            <a:pPr marL="0" indent="0" fontAlgn="auto">
              <a:spcAft>
                <a:spcPts val="0"/>
              </a:spcAft>
              <a:buNone/>
            </a:pPr>
            <a:r>
              <a:rPr lang="en-US" sz="2800" dirty="0">
                <a:solidFill>
                  <a:srgbClr val="C00000"/>
                </a:solidFill>
              </a:rPr>
              <a:t>Release A</a:t>
            </a:r>
          </a:p>
          <a:p>
            <a:pPr marL="0" indent="0" fontAlgn="auto">
              <a:spcAft>
                <a:spcPts val="0"/>
              </a:spcAft>
              <a:buNone/>
            </a:pPr>
            <a:r>
              <a:rPr lang="en-US" sz="2800" dirty="0">
                <a:solidFill>
                  <a:srgbClr val="C00000"/>
                </a:solidFill>
              </a:rPr>
              <a:t>..</a:t>
            </a:r>
          </a:p>
          <a:p>
            <a:pPr marL="0" indent="0" fontAlgn="auto">
              <a:spcAft>
                <a:spcPts val="0"/>
              </a:spcAft>
              <a:buNone/>
            </a:pPr>
            <a:r>
              <a:rPr lang="en-US" sz="2800" dirty="0">
                <a:solidFill>
                  <a:srgbClr val="C00000"/>
                </a:solidFill>
              </a:rPr>
              <a:t>Release B</a:t>
            </a:r>
          </a:p>
          <a:p>
            <a:pPr marL="0" indent="0" fontAlgn="auto">
              <a:spcAft>
                <a:spcPts val="0"/>
              </a:spcAft>
              <a:buNone/>
            </a:pPr>
            <a:r>
              <a:rPr lang="en-US" sz="2800" dirty="0">
                <a:solidFill>
                  <a:srgbClr val="C00000"/>
                </a:solidFill>
              </a:rPr>
              <a:t>…</a:t>
            </a:r>
          </a:p>
        </p:txBody>
      </p:sp>
      <p:sp>
        <p:nvSpPr>
          <p:cNvPr id="4" name="Content Placeholder 3">
            <a:extLst>
              <a:ext uri="{FF2B5EF4-FFF2-40B4-BE49-F238E27FC236}">
                <a16:creationId xmlns:a16="http://schemas.microsoft.com/office/drawing/2014/main" id="{4C6BBC6F-DC66-434E-A133-A40ACD7BBE62}"/>
              </a:ext>
            </a:extLst>
          </p:cNvPr>
          <p:cNvSpPr txBox="1">
            <a:spLocks/>
          </p:cNvSpPr>
          <p:nvPr/>
        </p:nvSpPr>
        <p:spPr>
          <a:xfrm>
            <a:off x="6477000" y="609600"/>
            <a:ext cx="3657600" cy="5867400"/>
          </a:xfrm>
          <a:prstGeom prst="rect">
            <a:avLst/>
          </a:prstGeom>
        </p:spPr>
        <p:txBody>
          <a:bodyPr>
            <a:noAutofit/>
          </a:bodyPr>
          <a:lst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None/>
            </a:pPr>
            <a:r>
              <a:rPr lang="en-US" sz="2800" dirty="0">
                <a:solidFill>
                  <a:schemeClr val="accent3">
                    <a:lumMod val="50000"/>
                  </a:schemeClr>
                </a:solidFill>
              </a:rPr>
              <a:t>Process Q</a:t>
            </a:r>
          </a:p>
          <a:p>
            <a:pPr marL="0" indent="0" fontAlgn="auto">
              <a:spcAft>
                <a:spcPts val="0"/>
              </a:spcAft>
              <a:buNone/>
            </a:pPr>
            <a:r>
              <a:rPr lang="en-US" sz="2800" dirty="0">
                <a:solidFill>
                  <a:schemeClr val="accent3">
                    <a:lumMod val="50000"/>
                  </a:schemeClr>
                </a:solidFill>
              </a:rPr>
              <a:t>….</a:t>
            </a:r>
          </a:p>
          <a:p>
            <a:pPr marL="0" indent="0" fontAlgn="auto">
              <a:spcAft>
                <a:spcPts val="0"/>
              </a:spcAft>
              <a:buNone/>
            </a:pPr>
            <a:r>
              <a:rPr lang="en-US" sz="2800" dirty="0">
                <a:solidFill>
                  <a:schemeClr val="accent3">
                    <a:lumMod val="50000"/>
                  </a:schemeClr>
                </a:solidFill>
              </a:rPr>
              <a:t>Get B</a:t>
            </a:r>
          </a:p>
          <a:p>
            <a:pPr marL="0" indent="0" fontAlgn="auto">
              <a:spcAft>
                <a:spcPts val="0"/>
              </a:spcAft>
              <a:buNone/>
            </a:pPr>
            <a:r>
              <a:rPr lang="en-US" sz="2800" dirty="0">
                <a:solidFill>
                  <a:schemeClr val="accent3">
                    <a:lumMod val="50000"/>
                  </a:schemeClr>
                </a:solidFill>
              </a:rPr>
              <a:t>…..</a:t>
            </a:r>
          </a:p>
          <a:p>
            <a:pPr marL="0" indent="0" fontAlgn="auto">
              <a:spcAft>
                <a:spcPts val="0"/>
              </a:spcAft>
              <a:buNone/>
            </a:pPr>
            <a:r>
              <a:rPr lang="en-US" sz="2800" dirty="0">
                <a:solidFill>
                  <a:schemeClr val="accent3">
                    <a:lumMod val="50000"/>
                  </a:schemeClr>
                </a:solidFill>
              </a:rPr>
              <a:t>Get A</a:t>
            </a:r>
          </a:p>
          <a:p>
            <a:pPr marL="0" indent="0" fontAlgn="auto">
              <a:spcAft>
                <a:spcPts val="0"/>
              </a:spcAft>
              <a:buNone/>
            </a:pPr>
            <a:r>
              <a:rPr lang="en-US" sz="2800" dirty="0">
                <a:solidFill>
                  <a:schemeClr val="accent3">
                    <a:lumMod val="50000"/>
                  </a:schemeClr>
                </a:solidFill>
              </a:rPr>
              <a:t>…</a:t>
            </a:r>
          </a:p>
          <a:p>
            <a:pPr marL="0" indent="0" fontAlgn="auto">
              <a:spcAft>
                <a:spcPts val="0"/>
              </a:spcAft>
              <a:buNone/>
            </a:pPr>
            <a:r>
              <a:rPr lang="en-US" sz="2800" dirty="0">
                <a:solidFill>
                  <a:schemeClr val="accent3">
                    <a:lumMod val="50000"/>
                  </a:schemeClr>
                </a:solidFill>
              </a:rPr>
              <a:t>Release B</a:t>
            </a:r>
          </a:p>
          <a:p>
            <a:pPr marL="0" indent="0" fontAlgn="auto">
              <a:spcAft>
                <a:spcPts val="0"/>
              </a:spcAft>
              <a:buNone/>
            </a:pPr>
            <a:r>
              <a:rPr lang="en-US" sz="2800" dirty="0">
                <a:solidFill>
                  <a:schemeClr val="accent3">
                    <a:lumMod val="50000"/>
                  </a:schemeClr>
                </a:solidFill>
              </a:rPr>
              <a:t>..</a:t>
            </a:r>
          </a:p>
          <a:p>
            <a:pPr marL="0" indent="0" fontAlgn="auto">
              <a:spcAft>
                <a:spcPts val="0"/>
              </a:spcAft>
              <a:buNone/>
            </a:pPr>
            <a:r>
              <a:rPr lang="en-US" sz="2800" dirty="0">
                <a:solidFill>
                  <a:schemeClr val="accent3">
                    <a:lumMod val="50000"/>
                  </a:schemeClr>
                </a:solidFill>
              </a:rPr>
              <a:t>Release A</a:t>
            </a:r>
          </a:p>
          <a:p>
            <a:pPr marL="0" indent="0" fontAlgn="auto">
              <a:spcAft>
                <a:spcPts val="0"/>
              </a:spcAft>
              <a:buNone/>
            </a:pPr>
            <a:r>
              <a:rPr lang="en-US" sz="2800" dirty="0"/>
              <a:t>…</a:t>
            </a:r>
          </a:p>
        </p:txBody>
      </p:sp>
      <p:cxnSp>
        <p:nvCxnSpPr>
          <p:cNvPr id="5" name="Straight Connector 4">
            <a:extLst>
              <a:ext uri="{FF2B5EF4-FFF2-40B4-BE49-F238E27FC236}">
                <a16:creationId xmlns:a16="http://schemas.microsoft.com/office/drawing/2014/main" id="{8D0986A5-99F4-1C4F-AC52-755EF5FA98DB}"/>
              </a:ext>
            </a:extLst>
          </p:cNvPr>
          <p:cNvCxnSpPr/>
          <p:nvPr/>
        </p:nvCxnSpPr>
        <p:spPr>
          <a:xfrm flipV="1">
            <a:off x="3810000" y="2362200"/>
            <a:ext cx="2514600" cy="1143000"/>
          </a:xfrm>
          <a:prstGeom prst="line">
            <a:avLst/>
          </a:prstGeom>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2063E41B-9840-8E4E-BCEF-089DDFFECD1D}"/>
              </a:ext>
            </a:extLst>
          </p:cNvPr>
          <p:cNvCxnSpPr/>
          <p:nvPr/>
        </p:nvCxnSpPr>
        <p:spPr>
          <a:xfrm>
            <a:off x="3962400" y="2133600"/>
            <a:ext cx="2362200" cy="1371600"/>
          </a:xfrm>
          <a:prstGeom prst="line">
            <a:avLst/>
          </a:prstGeom>
        </p:spPr>
        <p:style>
          <a:lnRef idx="2">
            <a:schemeClr val="accent2"/>
          </a:lnRef>
          <a:fillRef idx="0">
            <a:schemeClr val="accent2"/>
          </a:fillRef>
          <a:effectRef idx="1">
            <a:schemeClr val="accent2"/>
          </a:effectRef>
          <a:fontRef idx="minor">
            <a:schemeClr val="tx1"/>
          </a:fontRef>
        </p:style>
      </p:cxnSp>
      <p:sp>
        <p:nvSpPr>
          <p:cNvPr id="8" name="TextBox 7">
            <a:extLst>
              <a:ext uri="{FF2B5EF4-FFF2-40B4-BE49-F238E27FC236}">
                <a16:creationId xmlns:a16="http://schemas.microsoft.com/office/drawing/2014/main" id="{2C846EA4-0B11-5443-90D6-2F09A1CA6DC2}"/>
              </a:ext>
            </a:extLst>
          </p:cNvPr>
          <p:cNvSpPr txBox="1"/>
          <p:nvPr/>
        </p:nvSpPr>
        <p:spPr>
          <a:xfrm>
            <a:off x="9144000" y="2362201"/>
            <a:ext cx="990600" cy="1200329"/>
          </a:xfrm>
          <a:prstGeom prst="rect">
            <a:avLst/>
          </a:prstGeom>
          <a:noFill/>
        </p:spPr>
        <p:txBody>
          <a:bodyPr wrap="square" rtlCol="0">
            <a:spAutoFit/>
          </a:bodyPr>
          <a:lstStyle/>
          <a:p>
            <a:pPr algn="ctr"/>
            <a:r>
              <a:rPr lang="en-US" sz="2400" i="1" dirty="0"/>
              <a:t>Hold</a:t>
            </a:r>
          </a:p>
          <a:p>
            <a:pPr algn="ctr"/>
            <a:r>
              <a:rPr lang="en-US" sz="2400" i="1" dirty="0"/>
              <a:t>&amp;</a:t>
            </a:r>
          </a:p>
          <a:p>
            <a:pPr algn="ctr"/>
            <a:r>
              <a:rPr lang="en-US" sz="2400" i="1" dirty="0"/>
              <a:t>Wait</a:t>
            </a:r>
          </a:p>
        </p:txBody>
      </p:sp>
      <p:sp>
        <p:nvSpPr>
          <p:cNvPr id="9" name="Right Brace 8">
            <a:extLst>
              <a:ext uri="{FF2B5EF4-FFF2-40B4-BE49-F238E27FC236}">
                <a16:creationId xmlns:a16="http://schemas.microsoft.com/office/drawing/2014/main" id="{35D2CA55-3697-5646-8FD7-DF942C9CC076}"/>
              </a:ext>
            </a:extLst>
          </p:cNvPr>
          <p:cNvSpPr/>
          <p:nvPr/>
        </p:nvSpPr>
        <p:spPr>
          <a:xfrm>
            <a:off x="8305800" y="1600200"/>
            <a:ext cx="990600" cy="2590800"/>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6973992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xmlns:p14="http://schemas.microsoft.com/office/powerpoint/2010/mai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pdf"/>
          <p:cNvPicPr>
            <a:picLocks noChangeAspect="1"/>
          </p:cNvPicPr>
          <p:nvPr/>
        </p:nvPicPr>
        <p:blipFill>
          <a:blip r:embed="rId3"/>
          <a:stretch>
            <a:fillRect/>
          </a:stretch>
        </p:blipFill>
        <p:spPr>
          <a:xfrm>
            <a:off x="1981201" y="367146"/>
            <a:ext cx="8399929" cy="6490854"/>
          </a:xfrm>
          <a:prstGeom prst="rect">
            <a:avLst/>
          </a:prstGeom>
        </p:spPr>
      </p:pic>
      <p:sp>
        <p:nvSpPr>
          <p:cNvPr id="2" name="TextBox 1">
            <a:extLst>
              <a:ext uri="{FF2B5EF4-FFF2-40B4-BE49-F238E27FC236}">
                <a16:creationId xmlns:a16="http://schemas.microsoft.com/office/drawing/2014/main" id="{804557EE-0B59-7F42-9BC1-6A6DCB43FAFD}"/>
              </a:ext>
            </a:extLst>
          </p:cNvPr>
          <p:cNvSpPr txBox="1"/>
          <p:nvPr/>
        </p:nvSpPr>
        <p:spPr>
          <a:xfrm>
            <a:off x="9144001" y="1219201"/>
            <a:ext cx="1237129" cy="2554545"/>
          </a:xfrm>
          <a:prstGeom prst="rect">
            <a:avLst/>
          </a:prstGeom>
          <a:noFill/>
        </p:spPr>
        <p:txBody>
          <a:bodyPr wrap="square" rtlCol="0">
            <a:spAutoFit/>
          </a:bodyPr>
          <a:lstStyle/>
          <a:p>
            <a:pPr fontAlgn="auto">
              <a:spcAft>
                <a:spcPts val="0"/>
              </a:spcAft>
            </a:pPr>
            <a:r>
              <a:rPr lang="en-US" sz="1600" dirty="0">
                <a:solidFill>
                  <a:schemeClr val="accent3">
                    <a:lumMod val="50000"/>
                  </a:schemeClr>
                </a:solidFill>
              </a:rPr>
              <a:t>Process P</a:t>
            </a:r>
          </a:p>
          <a:p>
            <a:pPr fontAlgn="auto">
              <a:spcAft>
                <a:spcPts val="0"/>
              </a:spcAft>
            </a:pPr>
            <a:r>
              <a:rPr lang="en-US" sz="1600" dirty="0">
                <a:solidFill>
                  <a:schemeClr val="accent3">
                    <a:lumMod val="50000"/>
                  </a:schemeClr>
                </a:solidFill>
              </a:rPr>
              <a:t>….</a:t>
            </a:r>
          </a:p>
          <a:p>
            <a:pPr fontAlgn="auto">
              <a:spcAft>
                <a:spcPts val="0"/>
              </a:spcAft>
            </a:pPr>
            <a:r>
              <a:rPr lang="en-US" sz="1600" dirty="0">
                <a:solidFill>
                  <a:schemeClr val="accent3">
                    <a:lumMod val="50000"/>
                  </a:schemeClr>
                </a:solidFill>
              </a:rPr>
              <a:t>Get A</a:t>
            </a:r>
          </a:p>
          <a:p>
            <a:pPr fontAlgn="auto">
              <a:spcAft>
                <a:spcPts val="0"/>
              </a:spcAft>
            </a:pPr>
            <a:r>
              <a:rPr lang="en-US" sz="1600" dirty="0">
                <a:solidFill>
                  <a:schemeClr val="accent3">
                    <a:lumMod val="50000"/>
                  </a:schemeClr>
                </a:solidFill>
              </a:rPr>
              <a:t>…</a:t>
            </a:r>
          </a:p>
          <a:p>
            <a:pPr fontAlgn="auto">
              <a:spcAft>
                <a:spcPts val="0"/>
              </a:spcAft>
            </a:pPr>
            <a:r>
              <a:rPr lang="en-US" sz="1600" dirty="0">
                <a:solidFill>
                  <a:schemeClr val="accent3">
                    <a:lumMod val="50000"/>
                  </a:schemeClr>
                </a:solidFill>
              </a:rPr>
              <a:t>Get B</a:t>
            </a:r>
          </a:p>
          <a:p>
            <a:pPr fontAlgn="auto">
              <a:spcAft>
                <a:spcPts val="0"/>
              </a:spcAft>
            </a:pPr>
            <a:r>
              <a:rPr lang="en-US" sz="1600" dirty="0">
                <a:solidFill>
                  <a:schemeClr val="accent3">
                    <a:lumMod val="50000"/>
                  </a:schemeClr>
                </a:solidFill>
              </a:rPr>
              <a:t>…</a:t>
            </a:r>
          </a:p>
          <a:p>
            <a:pPr fontAlgn="auto">
              <a:spcAft>
                <a:spcPts val="0"/>
              </a:spcAft>
            </a:pPr>
            <a:r>
              <a:rPr lang="en-US" sz="1600" dirty="0">
                <a:solidFill>
                  <a:schemeClr val="accent3">
                    <a:lumMod val="50000"/>
                  </a:schemeClr>
                </a:solidFill>
              </a:rPr>
              <a:t>Release A</a:t>
            </a:r>
          </a:p>
          <a:p>
            <a:pPr fontAlgn="auto">
              <a:spcAft>
                <a:spcPts val="0"/>
              </a:spcAft>
            </a:pPr>
            <a:r>
              <a:rPr lang="en-US" sz="1600" dirty="0">
                <a:solidFill>
                  <a:schemeClr val="accent3">
                    <a:lumMod val="50000"/>
                  </a:schemeClr>
                </a:solidFill>
              </a:rPr>
              <a:t>..</a:t>
            </a:r>
          </a:p>
          <a:p>
            <a:pPr fontAlgn="auto">
              <a:spcAft>
                <a:spcPts val="0"/>
              </a:spcAft>
            </a:pPr>
            <a:r>
              <a:rPr lang="en-US" sz="1600" dirty="0">
                <a:solidFill>
                  <a:schemeClr val="accent3">
                    <a:lumMod val="50000"/>
                  </a:schemeClr>
                </a:solidFill>
              </a:rPr>
              <a:t>Release B</a:t>
            </a:r>
          </a:p>
          <a:p>
            <a:pPr fontAlgn="auto">
              <a:spcAft>
                <a:spcPts val="0"/>
              </a:spcAft>
            </a:pPr>
            <a:r>
              <a:rPr lang="en-US" sz="1600" dirty="0">
                <a:solidFill>
                  <a:schemeClr val="accent3">
                    <a:lumMod val="50000"/>
                  </a:schemeClr>
                </a:solidFill>
              </a:rPr>
              <a:t>…</a:t>
            </a:r>
          </a:p>
        </p:txBody>
      </p:sp>
      <p:sp>
        <p:nvSpPr>
          <p:cNvPr id="8" name="TextBox 7">
            <a:extLst>
              <a:ext uri="{FF2B5EF4-FFF2-40B4-BE49-F238E27FC236}">
                <a16:creationId xmlns:a16="http://schemas.microsoft.com/office/drawing/2014/main" id="{6A8A7416-0964-9F49-87D2-020B6BACF107}"/>
              </a:ext>
            </a:extLst>
          </p:cNvPr>
          <p:cNvSpPr txBox="1"/>
          <p:nvPr/>
        </p:nvSpPr>
        <p:spPr>
          <a:xfrm>
            <a:off x="1524000" y="1219201"/>
            <a:ext cx="1371600" cy="2585323"/>
          </a:xfrm>
          <a:prstGeom prst="rect">
            <a:avLst/>
          </a:prstGeom>
          <a:noFill/>
        </p:spPr>
        <p:txBody>
          <a:bodyPr wrap="square" rtlCol="0">
            <a:spAutoFit/>
          </a:bodyPr>
          <a:lstStyle/>
          <a:p>
            <a:pPr fontAlgn="auto">
              <a:spcAft>
                <a:spcPts val="0"/>
              </a:spcAft>
            </a:pPr>
            <a:r>
              <a:rPr lang="en-US" sz="1600" dirty="0">
                <a:solidFill>
                  <a:srgbClr val="C00000"/>
                </a:solidFill>
              </a:rPr>
              <a:t>Process Q</a:t>
            </a:r>
          </a:p>
          <a:p>
            <a:pPr fontAlgn="auto">
              <a:spcAft>
                <a:spcPts val="0"/>
              </a:spcAft>
            </a:pPr>
            <a:r>
              <a:rPr lang="en-US" sz="1600" dirty="0">
                <a:solidFill>
                  <a:srgbClr val="C00000"/>
                </a:solidFill>
              </a:rPr>
              <a:t>….</a:t>
            </a:r>
          </a:p>
          <a:p>
            <a:pPr fontAlgn="auto">
              <a:spcAft>
                <a:spcPts val="0"/>
              </a:spcAft>
            </a:pPr>
            <a:r>
              <a:rPr lang="en-US" sz="1600" dirty="0">
                <a:solidFill>
                  <a:srgbClr val="C00000"/>
                </a:solidFill>
              </a:rPr>
              <a:t>Get B</a:t>
            </a:r>
          </a:p>
          <a:p>
            <a:pPr fontAlgn="auto">
              <a:spcAft>
                <a:spcPts val="0"/>
              </a:spcAft>
            </a:pPr>
            <a:r>
              <a:rPr lang="en-US" sz="1600" dirty="0">
                <a:solidFill>
                  <a:srgbClr val="C00000"/>
                </a:solidFill>
              </a:rPr>
              <a:t>…..</a:t>
            </a:r>
          </a:p>
          <a:p>
            <a:pPr fontAlgn="auto">
              <a:spcAft>
                <a:spcPts val="0"/>
              </a:spcAft>
            </a:pPr>
            <a:r>
              <a:rPr lang="en-US" sz="1600" dirty="0">
                <a:solidFill>
                  <a:srgbClr val="C00000"/>
                </a:solidFill>
              </a:rPr>
              <a:t>Get A</a:t>
            </a:r>
          </a:p>
          <a:p>
            <a:pPr fontAlgn="auto">
              <a:spcAft>
                <a:spcPts val="0"/>
              </a:spcAft>
            </a:pPr>
            <a:r>
              <a:rPr lang="en-US" sz="1600" dirty="0">
                <a:solidFill>
                  <a:srgbClr val="C00000"/>
                </a:solidFill>
              </a:rPr>
              <a:t>…</a:t>
            </a:r>
          </a:p>
          <a:p>
            <a:pPr fontAlgn="auto">
              <a:spcAft>
                <a:spcPts val="0"/>
              </a:spcAft>
            </a:pPr>
            <a:r>
              <a:rPr lang="en-US" sz="1600" dirty="0">
                <a:solidFill>
                  <a:srgbClr val="C00000"/>
                </a:solidFill>
              </a:rPr>
              <a:t>Release B</a:t>
            </a:r>
          </a:p>
          <a:p>
            <a:pPr fontAlgn="auto">
              <a:spcAft>
                <a:spcPts val="0"/>
              </a:spcAft>
            </a:pPr>
            <a:r>
              <a:rPr lang="en-US" sz="1600" dirty="0">
                <a:solidFill>
                  <a:srgbClr val="C00000"/>
                </a:solidFill>
              </a:rPr>
              <a:t>..</a:t>
            </a:r>
          </a:p>
          <a:p>
            <a:pPr fontAlgn="auto">
              <a:spcAft>
                <a:spcPts val="0"/>
              </a:spcAft>
            </a:pPr>
            <a:r>
              <a:rPr lang="en-US" sz="1600" dirty="0">
                <a:solidFill>
                  <a:srgbClr val="C00000"/>
                </a:solidFill>
              </a:rPr>
              <a:t>Release A</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xmlns:p14="http://schemas.microsoft.com/office/powerpoint/2010/mai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CB5F4D-1921-8542-AFE8-BB66411CAE71}"/>
              </a:ext>
            </a:extLst>
          </p:cNvPr>
          <p:cNvSpPr txBox="1">
            <a:spLocks/>
          </p:cNvSpPr>
          <p:nvPr/>
        </p:nvSpPr>
        <p:spPr>
          <a:xfrm>
            <a:off x="2286000" y="609600"/>
            <a:ext cx="3657600" cy="5867400"/>
          </a:xfrm>
          <a:prstGeom prst="rect">
            <a:avLst/>
          </a:prstGeom>
        </p:spPr>
        <p:txBody>
          <a:bodyPr>
            <a:noAutofit/>
          </a:bodyPr>
          <a:lst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None/>
            </a:pPr>
            <a:r>
              <a:rPr lang="en-US" sz="2800" dirty="0">
                <a:solidFill>
                  <a:srgbClr val="C00000"/>
                </a:solidFill>
              </a:rPr>
              <a:t>Process P</a:t>
            </a:r>
          </a:p>
          <a:p>
            <a:pPr marL="0" indent="0" fontAlgn="auto">
              <a:spcAft>
                <a:spcPts val="0"/>
              </a:spcAft>
              <a:buNone/>
            </a:pPr>
            <a:r>
              <a:rPr lang="en-US" sz="2800" dirty="0">
                <a:solidFill>
                  <a:srgbClr val="C00000"/>
                </a:solidFill>
              </a:rPr>
              <a:t>….</a:t>
            </a:r>
          </a:p>
          <a:p>
            <a:pPr marL="0" indent="0" fontAlgn="auto">
              <a:spcAft>
                <a:spcPts val="0"/>
              </a:spcAft>
              <a:buNone/>
            </a:pPr>
            <a:r>
              <a:rPr lang="en-US" sz="2800" dirty="0">
                <a:solidFill>
                  <a:srgbClr val="C00000"/>
                </a:solidFill>
              </a:rPr>
              <a:t>Get A</a:t>
            </a:r>
          </a:p>
          <a:p>
            <a:pPr marL="0" indent="0" fontAlgn="auto">
              <a:spcAft>
                <a:spcPts val="0"/>
              </a:spcAft>
              <a:buNone/>
            </a:pPr>
            <a:r>
              <a:rPr lang="en-US" sz="2800" dirty="0">
                <a:solidFill>
                  <a:srgbClr val="C00000"/>
                </a:solidFill>
              </a:rPr>
              <a:t>…</a:t>
            </a:r>
          </a:p>
          <a:p>
            <a:pPr marL="0" indent="0" fontAlgn="auto">
              <a:spcAft>
                <a:spcPts val="0"/>
              </a:spcAft>
              <a:buNone/>
            </a:pPr>
            <a:r>
              <a:rPr lang="en-US" sz="2800" dirty="0">
                <a:solidFill>
                  <a:srgbClr val="C00000"/>
                </a:solidFill>
              </a:rPr>
              <a:t>Release A</a:t>
            </a:r>
          </a:p>
          <a:p>
            <a:pPr marL="0" indent="0" fontAlgn="auto">
              <a:spcAft>
                <a:spcPts val="0"/>
              </a:spcAft>
              <a:buNone/>
            </a:pPr>
            <a:r>
              <a:rPr lang="en-US" sz="2800" dirty="0">
                <a:solidFill>
                  <a:srgbClr val="C00000"/>
                </a:solidFill>
              </a:rPr>
              <a:t>…</a:t>
            </a:r>
          </a:p>
          <a:p>
            <a:pPr marL="0" indent="0" fontAlgn="auto">
              <a:spcAft>
                <a:spcPts val="0"/>
              </a:spcAft>
              <a:buNone/>
            </a:pPr>
            <a:r>
              <a:rPr lang="en-US" sz="2800" dirty="0">
                <a:solidFill>
                  <a:srgbClr val="C00000"/>
                </a:solidFill>
              </a:rPr>
              <a:t>Get B</a:t>
            </a:r>
          </a:p>
          <a:p>
            <a:pPr marL="0" indent="0" fontAlgn="auto">
              <a:spcAft>
                <a:spcPts val="0"/>
              </a:spcAft>
              <a:buNone/>
            </a:pPr>
            <a:r>
              <a:rPr lang="en-US" sz="2800" dirty="0">
                <a:solidFill>
                  <a:srgbClr val="C00000"/>
                </a:solidFill>
              </a:rPr>
              <a:t>..</a:t>
            </a:r>
          </a:p>
          <a:p>
            <a:pPr marL="0" indent="0" fontAlgn="auto">
              <a:spcAft>
                <a:spcPts val="0"/>
              </a:spcAft>
              <a:buNone/>
            </a:pPr>
            <a:r>
              <a:rPr lang="en-US" sz="2800" dirty="0">
                <a:solidFill>
                  <a:srgbClr val="C00000"/>
                </a:solidFill>
              </a:rPr>
              <a:t>Release B</a:t>
            </a:r>
          </a:p>
          <a:p>
            <a:pPr marL="0" indent="0" fontAlgn="auto">
              <a:spcAft>
                <a:spcPts val="0"/>
              </a:spcAft>
              <a:buNone/>
            </a:pPr>
            <a:r>
              <a:rPr lang="en-US" sz="2800" dirty="0">
                <a:solidFill>
                  <a:srgbClr val="C00000"/>
                </a:solidFill>
              </a:rPr>
              <a:t>…</a:t>
            </a:r>
          </a:p>
        </p:txBody>
      </p:sp>
      <p:sp>
        <p:nvSpPr>
          <p:cNvPr id="4" name="Content Placeholder 3">
            <a:extLst>
              <a:ext uri="{FF2B5EF4-FFF2-40B4-BE49-F238E27FC236}">
                <a16:creationId xmlns:a16="http://schemas.microsoft.com/office/drawing/2014/main" id="{4C6BBC6F-DC66-434E-A133-A40ACD7BBE62}"/>
              </a:ext>
            </a:extLst>
          </p:cNvPr>
          <p:cNvSpPr txBox="1">
            <a:spLocks/>
          </p:cNvSpPr>
          <p:nvPr/>
        </p:nvSpPr>
        <p:spPr>
          <a:xfrm>
            <a:off x="6477000" y="609600"/>
            <a:ext cx="3657600" cy="5867400"/>
          </a:xfrm>
          <a:prstGeom prst="rect">
            <a:avLst/>
          </a:prstGeom>
        </p:spPr>
        <p:txBody>
          <a:bodyPr>
            <a:noAutofit/>
          </a:bodyPr>
          <a:lst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None/>
            </a:pPr>
            <a:r>
              <a:rPr lang="en-US" sz="2800" dirty="0">
                <a:solidFill>
                  <a:schemeClr val="accent3">
                    <a:lumMod val="50000"/>
                  </a:schemeClr>
                </a:solidFill>
              </a:rPr>
              <a:t>Process Q</a:t>
            </a:r>
          </a:p>
          <a:p>
            <a:pPr marL="0" indent="0" fontAlgn="auto">
              <a:spcAft>
                <a:spcPts val="0"/>
              </a:spcAft>
              <a:buNone/>
            </a:pPr>
            <a:r>
              <a:rPr lang="en-US" sz="2800" dirty="0">
                <a:solidFill>
                  <a:schemeClr val="accent3">
                    <a:lumMod val="50000"/>
                  </a:schemeClr>
                </a:solidFill>
              </a:rPr>
              <a:t>….</a:t>
            </a:r>
          </a:p>
          <a:p>
            <a:pPr marL="0" indent="0" fontAlgn="auto">
              <a:spcAft>
                <a:spcPts val="0"/>
              </a:spcAft>
              <a:buNone/>
            </a:pPr>
            <a:r>
              <a:rPr lang="en-US" sz="2800" dirty="0">
                <a:solidFill>
                  <a:schemeClr val="accent3">
                    <a:lumMod val="50000"/>
                  </a:schemeClr>
                </a:solidFill>
              </a:rPr>
              <a:t>Get B</a:t>
            </a:r>
          </a:p>
          <a:p>
            <a:pPr marL="0" indent="0" fontAlgn="auto">
              <a:spcAft>
                <a:spcPts val="0"/>
              </a:spcAft>
              <a:buNone/>
            </a:pPr>
            <a:r>
              <a:rPr lang="en-US" sz="2800" dirty="0">
                <a:solidFill>
                  <a:schemeClr val="accent3">
                    <a:lumMod val="50000"/>
                  </a:schemeClr>
                </a:solidFill>
              </a:rPr>
              <a:t>…..</a:t>
            </a:r>
          </a:p>
          <a:p>
            <a:pPr marL="0" indent="0" fontAlgn="auto">
              <a:spcAft>
                <a:spcPts val="0"/>
              </a:spcAft>
              <a:buNone/>
            </a:pPr>
            <a:r>
              <a:rPr lang="en-US" sz="2800" dirty="0">
                <a:solidFill>
                  <a:schemeClr val="accent3">
                    <a:lumMod val="50000"/>
                  </a:schemeClr>
                </a:solidFill>
              </a:rPr>
              <a:t>Get A</a:t>
            </a:r>
          </a:p>
          <a:p>
            <a:pPr marL="0" indent="0" fontAlgn="auto">
              <a:spcAft>
                <a:spcPts val="0"/>
              </a:spcAft>
              <a:buNone/>
            </a:pPr>
            <a:r>
              <a:rPr lang="en-US" sz="2800" dirty="0">
                <a:solidFill>
                  <a:schemeClr val="accent3">
                    <a:lumMod val="50000"/>
                  </a:schemeClr>
                </a:solidFill>
              </a:rPr>
              <a:t>…</a:t>
            </a:r>
          </a:p>
          <a:p>
            <a:pPr marL="0" indent="0" fontAlgn="auto">
              <a:spcAft>
                <a:spcPts val="0"/>
              </a:spcAft>
              <a:buNone/>
            </a:pPr>
            <a:r>
              <a:rPr lang="en-US" sz="2800" dirty="0">
                <a:solidFill>
                  <a:schemeClr val="accent3">
                    <a:lumMod val="50000"/>
                  </a:schemeClr>
                </a:solidFill>
              </a:rPr>
              <a:t>Release B</a:t>
            </a:r>
          </a:p>
          <a:p>
            <a:pPr marL="0" indent="0" fontAlgn="auto">
              <a:spcAft>
                <a:spcPts val="0"/>
              </a:spcAft>
              <a:buNone/>
            </a:pPr>
            <a:r>
              <a:rPr lang="en-US" sz="2800" dirty="0">
                <a:solidFill>
                  <a:schemeClr val="accent3">
                    <a:lumMod val="50000"/>
                  </a:schemeClr>
                </a:solidFill>
              </a:rPr>
              <a:t>..</a:t>
            </a:r>
          </a:p>
          <a:p>
            <a:pPr marL="0" indent="0" fontAlgn="auto">
              <a:spcAft>
                <a:spcPts val="0"/>
              </a:spcAft>
              <a:buNone/>
            </a:pPr>
            <a:r>
              <a:rPr lang="en-US" sz="2800" dirty="0">
                <a:solidFill>
                  <a:schemeClr val="accent3">
                    <a:lumMod val="50000"/>
                  </a:schemeClr>
                </a:solidFill>
              </a:rPr>
              <a:t>Release A</a:t>
            </a:r>
          </a:p>
          <a:p>
            <a:pPr marL="0" indent="0" fontAlgn="auto">
              <a:spcAft>
                <a:spcPts val="0"/>
              </a:spcAft>
              <a:buNone/>
            </a:pPr>
            <a:r>
              <a:rPr lang="en-US" sz="2800" dirty="0">
                <a:solidFill>
                  <a:schemeClr val="accent3">
                    <a:lumMod val="50000"/>
                  </a:schemeClr>
                </a:solidFill>
              </a:rPr>
              <a:t>…</a:t>
            </a:r>
          </a:p>
        </p:txBody>
      </p:sp>
      <p:cxnSp>
        <p:nvCxnSpPr>
          <p:cNvPr id="5" name="Straight Arrow Connector 4">
            <a:extLst>
              <a:ext uri="{FF2B5EF4-FFF2-40B4-BE49-F238E27FC236}">
                <a16:creationId xmlns:a16="http://schemas.microsoft.com/office/drawing/2014/main" id="{A7905FE4-BA50-2945-94EE-415E7443A503}"/>
              </a:ext>
            </a:extLst>
          </p:cNvPr>
          <p:cNvCxnSpPr/>
          <p:nvPr/>
        </p:nvCxnSpPr>
        <p:spPr>
          <a:xfrm>
            <a:off x="4343400" y="3505200"/>
            <a:ext cx="1981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E1FD712A-500C-1540-833A-7A9E53F9F3E0}"/>
              </a:ext>
            </a:extLst>
          </p:cNvPr>
          <p:cNvCxnSpPr>
            <a:cxnSpLocks/>
          </p:cNvCxnSpPr>
          <p:nvPr/>
        </p:nvCxnSpPr>
        <p:spPr>
          <a:xfrm flipH="1">
            <a:off x="4267200" y="4800600"/>
            <a:ext cx="20574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02889860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xmlns:p14="http://schemas.microsoft.com/office/powerpoint/2010/mai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3.pdf"/>
          <p:cNvPicPr>
            <a:picLocks noChangeAspect="1"/>
          </p:cNvPicPr>
          <p:nvPr/>
        </p:nvPicPr>
        <p:blipFill>
          <a:blip r:embed="rId3"/>
          <a:stretch>
            <a:fillRect/>
          </a:stretch>
        </p:blipFill>
        <p:spPr>
          <a:xfrm>
            <a:off x="1981201" y="249382"/>
            <a:ext cx="8552329" cy="6608618"/>
          </a:xfrm>
          <a:prstGeom prst="rect">
            <a:avLst/>
          </a:prstGeom>
        </p:spPr>
      </p:pic>
      <p:sp>
        <p:nvSpPr>
          <p:cNvPr id="3" name="TextBox 2">
            <a:extLst>
              <a:ext uri="{FF2B5EF4-FFF2-40B4-BE49-F238E27FC236}">
                <a16:creationId xmlns:a16="http://schemas.microsoft.com/office/drawing/2014/main" id="{F987F0FD-D257-5843-9A0E-8EF2885FA1D3}"/>
              </a:ext>
            </a:extLst>
          </p:cNvPr>
          <p:cNvSpPr txBox="1"/>
          <p:nvPr/>
        </p:nvSpPr>
        <p:spPr>
          <a:xfrm>
            <a:off x="1524000" y="1296889"/>
            <a:ext cx="1219200" cy="2554545"/>
          </a:xfrm>
          <a:prstGeom prst="rect">
            <a:avLst/>
          </a:prstGeom>
          <a:noFill/>
        </p:spPr>
        <p:txBody>
          <a:bodyPr wrap="square" rtlCol="0">
            <a:spAutoFit/>
          </a:bodyPr>
          <a:lstStyle/>
          <a:p>
            <a:pPr fontAlgn="auto">
              <a:spcAft>
                <a:spcPts val="0"/>
              </a:spcAft>
            </a:pPr>
            <a:r>
              <a:rPr lang="en-US" sz="1600" dirty="0">
                <a:solidFill>
                  <a:srgbClr val="FF0000"/>
                </a:solidFill>
              </a:rPr>
              <a:t>Process Q</a:t>
            </a:r>
          </a:p>
          <a:p>
            <a:pPr fontAlgn="auto">
              <a:spcAft>
                <a:spcPts val="0"/>
              </a:spcAft>
            </a:pPr>
            <a:r>
              <a:rPr lang="en-US" sz="1600" dirty="0">
                <a:solidFill>
                  <a:srgbClr val="FF0000"/>
                </a:solidFill>
              </a:rPr>
              <a:t>….</a:t>
            </a:r>
          </a:p>
          <a:p>
            <a:pPr fontAlgn="auto">
              <a:spcAft>
                <a:spcPts val="0"/>
              </a:spcAft>
            </a:pPr>
            <a:r>
              <a:rPr lang="en-US" sz="1600" dirty="0">
                <a:solidFill>
                  <a:srgbClr val="FF0000"/>
                </a:solidFill>
              </a:rPr>
              <a:t>Get B</a:t>
            </a:r>
          </a:p>
          <a:p>
            <a:pPr fontAlgn="auto">
              <a:spcAft>
                <a:spcPts val="0"/>
              </a:spcAft>
            </a:pPr>
            <a:r>
              <a:rPr lang="en-US" sz="1600" dirty="0">
                <a:solidFill>
                  <a:srgbClr val="FF0000"/>
                </a:solidFill>
              </a:rPr>
              <a:t>…..</a:t>
            </a:r>
          </a:p>
          <a:p>
            <a:pPr fontAlgn="auto">
              <a:spcAft>
                <a:spcPts val="0"/>
              </a:spcAft>
            </a:pPr>
            <a:r>
              <a:rPr lang="en-US" sz="1600" dirty="0">
                <a:solidFill>
                  <a:srgbClr val="FF0000"/>
                </a:solidFill>
              </a:rPr>
              <a:t>Get A</a:t>
            </a:r>
          </a:p>
          <a:p>
            <a:pPr fontAlgn="auto">
              <a:spcAft>
                <a:spcPts val="0"/>
              </a:spcAft>
            </a:pPr>
            <a:r>
              <a:rPr lang="en-US" sz="1600" dirty="0">
                <a:solidFill>
                  <a:srgbClr val="FF0000"/>
                </a:solidFill>
              </a:rPr>
              <a:t>…</a:t>
            </a:r>
          </a:p>
          <a:p>
            <a:pPr fontAlgn="auto">
              <a:spcAft>
                <a:spcPts val="0"/>
              </a:spcAft>
            </a:pPr>
            <a:r>
              <a:rPr lang="en-US" sz="1600" dirty="0">
                <a:solidFill>
                  <a:srgbClr val="FF0000"/>
                </a:solidFill>
              </a:rPr>
              <a:t>Release B</a:t>
            </a:r>
          </a:p>
          <a:p>
            <a:pPr fontAlgn="auto">
              <a:spcAft>
                <a:spcPts val="0"/>
              </a:spcAft>
            </a:pPr>
            <a:r>
              <a:rPr lang="en-US" sz="1600" dirty="0">
                <a:solidFill>
                  <a:srgbClr val="FF0000"/>
                </a:solidFill>
              </a:rPr>
              <a:t>..</a:t>
            </a:r>
          </a:p>
          <a:p>
            <a:pPr fontAlgn="auto">
              <a:spcAft>
                <a:spcPts val="0"/>
              </a:spcAft>
            </a:pPr>
            <a:r>
              <a:rPr lang="en-US" sz="1600" dirty="0">
                <a:solidFill>
                  <a:srgbClr val="FF0000"/>
                </a:solidFill>
              </a:rPr>
              <a:t>Release A</a:t>
            </a:r>
          </a:p>
          <a:p>
            <a:pPr fontAlgn="auto">
              <a:spcAft>
                <a:spcPts val="0"/>
              </a:spcAft>
            </a:pPr>
            <a:r>
              <a:rPr lang="en-US" sz="1600" dirty="0">
                <a:solidFill>
                  <a:srgbClr val="FF0000"/>
                </a:solidFill>
              </a:rPr>
              <a:t>…</a:t>
            </a:r>
          </a:p>
        </p:txBody>
      </p:sp>
      <p:sp>
        <p:nvSpPr>
          <p:cNvPr id="4" name="TextBox 3">
            <a:extLst>
              <a:ext uri="{FF2B5EF4-FFF2-40B4-BE49-F238E27FC236}">
                <a16:creationId xmlns:a16="http://schemas.microsoft.com/office/drawing/2014/main" id="{FEBF7836-489D-5A45-887F-06086DE178A2}"/>
              </a:ext>
            </a:extLst>
          </p:cNvPr>
          <p:cNvSpPr txBox="1"/>
          <p:nvPr/>
        </p:nvSpPr>
        <p:spPr>
          <a:xfrm>
            <a:off x="9144000" y="1143001"/>
            <a:ext cx="1524000" cy="2554545"/>
          </a:xfrm>
          <a:prstGeom prst="rect">
            <a:avLst/>
          </a:prstGeom>
          <a:noFill/>
        </p:spPr>
        <p:txBody>
          <a:bodyPr wrap="square" rtlCol="0">
            <a:spAutoFit/>
          </a:bodyPr>
          <a:lstStyle/>
          <a:p>
            <a:pPr fontAlgn="auto">
              <a:spcAft>
                <a:spcPts val="0"/>
              </a:spcAft>
            </a:pPr>
            <a:r>
              <a:rPr lang="en-US" sz="1600" dirty="0">
                <a:solidFill>
                  <a:schemeClr val="accent3">
                    <a:lumMod val="75000"/>
                  </a:schemeClr>
                </a:solidFill>
              </a:rPr>
              <a:t>Process P</a:t>
            </a:r>
          </a:p>
          <a:p>
            <a:pPr fontAlgn="auto">
              <a:spcAft>
                <a:spcPts val="0"/>
              </a:spcAft>
            </a:pPr>
            <a:r>
              <a:rPr lang="en-US" sz="1600" dirty="0">
                <a:solidFill>
                  <a:schemeClr val="accent3">
                    <a:lumMod val="75000"/>
                  </a:schemeClr>
                </a:solidFill>
              </a:rPr>
              <a:t>….</a:t>
            </a:r>
          </a:p>
          <a:p>
            <a:pPr fontAlgn="auto">
              <a:spcAft>
                <a:spcPts val="0"/>
              </a:spcAft>
            </a:pPr>
            <a:r>
              <a:rPr lang="en-US" sz="1600" dirty="0">
                <a:solidFill>
                  <a:schemeClr val="accent3">
                    <a:lumMod val="75000"/>
                  </a:schemeClr>
                </a:solidFill>
              </a:rPr>
              <a:t>Get A</a:t>
            </a:r>
          </a:p>
          <a:p>
            <a:pPr fontAlgn="auto">
              <a:spcAft>
                <a:spcPts val="0"/>
              </a:spcAft>
            </a:pPr>
            <a:r>
              <a:rPr lang="en-US" sz="1600" dirty="0">
                <a:solidFill>
                  <a:schemeClr val="accent3">
                    <a:lumMod val="75000"/>
                  </a:schemeClr>
                </a:solidFill>
              </a:rPr>
              <a:t>…</a:t>
            </a:r>
          </a:p>
          <a:p>
            <a:pPr fontAlgn="auto">
              <a:spcAft>
                <a:spcPts val="0"/>
              </a:spcAft>
            </a:pPr>
            <a:r>
              <a:rPr lang="en-US" sz="1600" dirty="0">
                <a:solidFill>
                  <a:schemeClr val="accent3">
                    <a:lumMod val="75000"/>
                  </a:schemeClr>
                </a:solidFill>
              </a:rPr>
              <a:t>Release A</a:t>
            </a:r>
          </a:p>
          <a:p>
            <a:pPr fontAlgn="auto">
              <a:spcAft>
                <a:spcPts val="0"/>
              </a:spcAft>
            </a:pPr>
            <a:r>
              <a:rPr lang="en-US" sz="1600" dirty="0">
                <a:solidFill>
                  <a:schemeClr val="accent3">
                    <a:lumMod val="75000"/>
                  </a:schemeClr>
                </a:solidFill>
              </a:rPr>
              <a:t>…</a:t>
            </a:r>
          </a:p>
          <a:p>
            <a:pPr fontAlgn="auto">
              <a:spcAft>
                <a:spcPts val="0"/>
              </a:spcAft>
            </a:pPr>
            <a:r>
              <a:rPr lang="en-US" sz="1600" dirty="0">
                <a:solidFill>
                  <a:schemeClr val="accent3">
                    <a:lumMod val="75000"/>
                  </a:schemeClr>
                </a:solidFill>
              </a:rPr>
              <a:t>Get B</a:t>
            </a:r>
          </a:p>
          <a:p>
            <a:pPr fontAlgn="auto">
              <a:spcAft>
                <a:spcPts val="0"/>
              </a:spcAft>
            </a:pPr>
            <a:r>
              <a:rPr lang="en-US" sz="1600" dirty="0">
                <a:solidFill>
                  <a:schemeClr val="accent3">
                    <a:lumMod val="75000"/>
                  </a:schemeClr>
                </a:solidFill>
              </a:rPr>
              <a:t>..</a:t>
            </a:r>
          </a:p>
          <a:p>
            <a:pPr fontAlgn="auto">
              <a:spcAft>
                <a:spcPts val="0"/>
              </a:spcAft>
            </a:pPr>
            <a:r>
              <a:rPr lang="en-US" sz="1600" dirty="0">
                <a:solidFill>
                  <a:schemeClr val="accent3">
                    <a:lumMod val="75000"/>
                  </a:schemeClr>
                </a:solidFill>
              </a:rPr>
              <a:t>Release B</a:t>
            </a:r>
          </a:p>
          <a:p>
            <a:pPr fontAlgn="auto">
              <a:spcAft>
                <a:spcPts val="0"/>
              </a:spcAft>
            </a:pPr>
            <a:r>
              <a:rPr lang="en-US" sz="1600" dirty="0">
                <a:solidFill>
                  <a:schemeClr val="accent3">
                    <a:lumMod val="75000"/>
                  </a:schemeClr>
                </a:solidFill>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457200"/>
            <a:ext cx="7824788" cy="1143948"/>
          </a:xfrm>
        </p:spPr>
        <p:txBody>
          <a:bodyPr/>
          <a:lstStyle/>
          <a:p>
            <a:pPr algn="l"/>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Resource Categories</a:t>
            </a:r>
          </a:p>
        </p:txBody>
      </p:sp>
      <p:graphicFrame>
        <p:nvGraphicFramePr>
          <p:cNvPr id="6" name="Diagram 5"/>
          <p:cNvGraphicFramePr/>
          <p:nvPr>
            <p:extLst>
              <p:ext uri="{D42A27DB-BD31-4B8C-83A1-F6EECF244321}">
                <p14:modId xmlns:p14="http://schemas.microsoft.com/office/powerpoint/2010/main" val="479577116"/>
              </p:ext>
            </p:extLst>
          </p:nvPr>
        </p:nvGraphicFramePr>
        <p:xfrm>
          <a:off x="2133600" y="2057400"/>
          <a:ext cx="7696200" cy="441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1295400" y="1143000"/>
            <a:ext cx="9724748" cy="4191000"/>
          </a:xfrm>
          <a:prstGeom prst="rect">
            <a:avLst/>
          </a:prstGeom>
        </p:spPr>
      </p:pic>
      <p:sp>
        <p:nvSpPr>
          <p:cNvPr id="6" name="TextBox 5"/>
          <p:cNvSpPr txBox="1"/>
          <p:nvPr/>
        </p:nvSpPr>
        <p:spPr>
          <a:xfrm>
            <a:off x="1905000" y="5638801"/>
            <a:ext cx="8458200" cy="646331"/>
          </a:xfrm>
          <a:prstGeom prst="rect">
            <a:avLst/>
          </a:prstGeom>
          <a:noFill/>
        </p:spPr>
        <p:txBody>
          <a:bodyPr wrap="square" rtlCol="0">
            <a:spAutoFit/>
          </a:bodyPr>
          <a:lstStyle/>
          <a:p>
            <a:pPr algn="ctr"/>
            <a:r>
              <a:rPr lang="en-US" b="1" dirty="0">
                <a:latin typeface="+mn-lt"/>
              </a:rPr>
              <a:t>Figure 6.4  </a:t>
            </a:r>
          </a:p>
          <a:p>
            <a:pPr algn="ctr"/>
            <a:r>
              <a:rPr lang="en-US" b="1" dirty="0">
                <a:latin typeface="+mn-lt"/>
              </a:rPr>
              <a:t>Example of Two Processes Competing for Reusable Resources </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xmlns:p14="http://schemas.microsoft.com/office/powerpoint/2010/mai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828800" y="609601"/>
            <a:ext cx="8534400" cy="1323975"/>
          </a:xfrm>
        </p:spPr>
        <p:txBody>
          <a:bodyPr/>
          <a:lstStyle/>
          <a:p>
            <a:pPr algn="ctr"/>
            <a:r>
              <a:rPr lang="en-US" b="1" dirty="0">
                <a:solidFill>
                  <a:schemeClr val="accent6">
                    <a:lumMod val="75000"/>
                  </a:schemeClr>
                </a:solidFill>
              </a:rPr>
              <a:t>Example 2:</a:t>
            </a:r>
            <a:br>
              <a:rPr lang="en-US" b="1" dirty="0">
                <a:solidFill>
                  <a:schemeClr val="accent6">
                    <a:lumMod val="75000"/>
                  </a:schemeClr>
                </a:solidFill>
              </a:rPr>
            </a:br>
            <a:r>
              <a:rPr lang="en-US" b="1" dirty="0">
                <a:solidFill>
                  <a:schemeClr val="accent6">
                    <a:lumMod val="75000"/>
                  </a:schemeClr>
                </a:solidFill>
              </a:rPr>
              <a:t>Memory Request</a:t>
            </a:r>
          </a:p>
        </p:txBody>
      </p:sp>
      <p:sp>
        <p:nvSpPr>
          <p:cNvPr id="3" name="Content Placeholder 2"/>
          <p:cNvSpPr>
            <a:spLocks noGrp="1"/>
          </p:cNvSpPr>
          <p:nvPr>
            <p:ph idx="4294967295"/>
          </p:nvPr>
        </p:nvSpPr>
        <p:spPr>
          <a:xfrm>
            <a:off x="1905000" y="2133600"/>
            <a:ext cx="8458200" cy="4953000"/>
          </a:xfrm>
        </p:spPr>
        <p:txBody>
          <a:bodyPr/>
          <a:lstStyle/>
          <a:p>
            <a:r>
              <a:rPr lang="en-US" sz="2800" dirty="0"/>
              <a:t>Space is available for allocation of 200Kbytes, and the following sequence of events occur:</a:t>
            </a:r>
          </a:p>
          <a:p>
            <a:endParaRPr lang="en-US" dirty="0"/>
          </a:p>
          <a:p>
            <a:endParaRPr lang="en-US" dirty="0"/>
          </a:p>
          <a:p>
            <a:pPr>
              <a:buNone/>
            </a:pPr>
            <a:endParaRPr lang="en-US" dirty="0"/>
          </a:p>
          <a:p>
            <a:endParaRPr lang="en-US" dirty="0"/>
          </a:p>
          <a:p>
            <a:r>
              <a:rPr lang="en-US" sz="2800" dirty="0"/>
              <a:t>Deadlock occurs if both processes progress to their second request</a:t>
            </a:r>
          </a:p>
          <a:p>
            <a:endParaRPr lang="en-US" dirty="0"/>
          </a:p>
        </p:txBody>
      </p:sp>
      <p:sp>
        <p:nvSpPr>
          <p:cNvPr id="6" name="Rectangle 4"/>
          <p:cNvSpPr>
            <a:spLocks noChangeArrowheads="1"/>
          </p:cNvSpPr>
          <p:nvPr/>
        </p:nvSpPr>
        <p:spPr bwMode="auto">
          <a:xfrm>
            <a:off x="3505200" y="3276600"/>
            <a:ext cx="2438400" cy="1524000"/>
          </a:xfrm>
          <a:prstGeom prst="rect">
            <a:avLst/>
          </a:prstGeom>
          <a:solidFill>
            <a:schemeClr val="tx2">
              <a:lumMod val="40000"/>
              <a:lumOff val="60000"/>
            </a:schemeClr>
          </a:solidFill>
          <a:ln w="12700">
            <a:solidFill>
              <a:schemeClr val="tx1"/>
            </a:solidFill>
            <a:miter lim="800000"/>
            <a:headEnd/>
            <a:tailEnd/>
          </a:ln>
          <a:effectLst/>
        </p:spPr>
        <p:txBody>
          <a:bodyPr wrap="none" anchor="ctr"/>
          <a:lstStyle/>
          <a:p>
            <a:endParaRPr lang="en-US" dirty="0"/>
          </a:p>
        </p:txBody>
      </p:sp>
      <p:sp>
        <p:nvSpPr>
          <p:cNvPr id="7" name="Rectangle 5"/>
          <p:cNvSpPr>
            <a:spLocks noChangeArrowheads="1"/>
          </p:cNvSpPr>
          <p:nvPr/>
        </p:nvSpPr>
        <p:spPr bwMode="auto">
          <a:xfrm>
            <a:off x="3733801" y="3276600"/>
            <a:ext cx="470857" cy="400752"/>
          </a:xfrm>
          <a:prstGeom prst="rect">
            <a:avLst/>
          </a:prstGeom>
          <a:noFill/>
          <a:ln w="9525">
            <a:noFill/>
            <a:miter lim="800000"/>
            <a:headEnd/>
            <a:tailEnd/>
          </a:ln>
          <a:effectLst/>
        </p:spPr>
        <p:txBody>
          <a:bodyPr wrap="none" lIns="92075" tIns="46038" rIns="92075" bIns="46038">
            <a:spAutoFit/>
          </a:bodyPr>
          <a:lstStyle/>
          <a:p>
            <a:pPr algn="ctr" eaLnBrk="0" hangingPunct="0"/>
            <a:r>
              <a:rPr lang="en-US" sz="2000" b="1" dirty="0">
                <a:latin typeface="Times New Roman" pitchFamily="18" charset="0"/>
              </a:rPr>
              <a:t>P1</a:t>
            </a:r>
          </a:p>
        </p:txBody>
      </p:sp>
      <p:sp>
        <p:nvSpPr>
          <p:cNvPr id="8" name="Rectangle 6"/>
          <p:cNvSpPr>
            <a:spLocks noChangeArrowheads="1"/>
          </p:cNvSpPr>
          <p:nvPr/>
        </p:nvSpPr>
        <p:spPr bwMode="auto">
          <a:xfrm>
            <a:off x="3657600" y="3581400"/>
            <a:ext cx="438150" cy="336550"/>
          </a:xfrm>
          <a:prstGeom prst="rect">
            <a:avLst/>
          </a:prstGeom>
          <a:noFill/>
          <a:ln w="9525">
            <a:noFill/>
            <a:miter lim="800000"/>
            <a:headEnd/>
            <a:tailEnd/>
          </a:ln>
          <a:effectLst/>
        </p:spPr>
        <p:txBody>
          <a:bodyPr wrap="none" lIns="92075" tIns="46038" rIns="92075" bIns="46038">
            <a:spAutoFit/>
          </a:bodyPr>
          <a:lstStyle/>
          <a:p>
            <a:pPr algn="ctr" eaLnBrk="0" hangingPunct="0"/>
            <a:r>
              <a:rPr lang="en-US" sz="1600" b="1" dirty="0">
                <a:latin typeface="Times New Roman" pitchFamily="18" charset="0"/>
              </a:rPr>
              <a:t>. . .</a:t>
            </a:r>
          </a:p>
        </p:txBody>
      </p:sp>
      <p:sp>
        <p:nvSpPr>
          <p:cNvPr id="9" name="Rectangle 7"/>
          <p:cNvSpPr>
            <a:spLocks noChangeArrowheads="1"/>
          </p:cNvSpPr>
          <p:nvPr/>
        </p:nvSpPr>
        <p:spPr bwMode="auto">
          <a:xfrm>
            <a:off x="3657600" y="4038600"/>
            <a:ext cx="438150" cy="336550"/>
          </a:xfrm>
          <a:prstGeom prst="rect">
            <a:avLst/>
          </a:prstGeom>
          <a:noFill/>
          <a:ln w="9525">
            <a:noFill/>
            <a:miter lim="800000"/>
            <a:headEnd/>
            <a:tailEnd/>
          </a:ln>
          <a:effectLst/>
        </p:spPr>
        <p:txBody>
          <a:bodyPr wrap="square" lIns="92075" tIns="46038" rIns="92075" bIns="46038">
            <a:spAutoFit/>
          </a:bodyPr>
          <a:lstStyle/>
          <a:p>
            <a:pPr algn="ctr" eaLnBrk="0" hangingPunct="0"/>
            <a:r>
              <a:rPr lang="en-US" sz="1600" b="1" dirty="0">
                <a:latin typeface="Times New Roman" pitchFamily="18" charset="0"/>
              </a:rPr>
              <a:t>. . .</a:t>
            </a:r>
          </a:p>
        </p:txBody>
      </p:sp>
      <p:sp>
        <p:nvSpPr>
          <p:cNvPr id="10" name="Rectangle 8"/>
          <p:cNvSpPr>
            <a:spLocks noChangeArrowheads="1"/>
          </p:cNvSpPr>
          <p:nvPr/>
        </p:nvSpPr>
        <p:spPr bwMode="auto">
          <a:xfrm>
            <a:off x="3581401" y="3810000"/>
            <a:ext cx="2274761" cy="400752"/>
          </a:xfrm>
          <a:prstGeom prst="rect">
            <a:avLst/>
          </a:prstGeom>
          <a:noFill/>
          <a:ln w="9525">
            <a:noFill/>
            <a:miter lim="800000"/>
            <a:headEnd/>
            <a:tailEnd/>
          </a:ln>
          <a:effectLst/>
        </p:spPr>
        <p:txBody>
          <a:bodyPr wrap="none" lIns="92075" tIns="46038" rIns="92075" bIns="46038">
            <a:spAutoFit/>
          </a:bodyPr>
          <a:lstStyle/>
          <a:p>
            <a:pPr algn="ctr" eaLnBrk="0" hangingPunct="0"/>
            <a:r>
              <a:rPr lang="en-US" sz="2000" b="1" dirty="0">
                <a:latin typeface="Times New Roman" pitchFamily="18" charset="0"/>
              </a:rPr>
              <a:t>Request 80 Kbytes</a:t>
            </a:r>
            <a:r>
              <a:rPr lang="en-US" sz="1200" b="1" dirty="0">
                <a:latin typeface="Times New Roman" pitchFamily="18" charset="0"/>
              </a:rPr>
              <a:t>;</a:t>
            </a:r>
          </a:p>
        </p:txBody>
      </p:sp>
      <p:sp>
        <p:nvSpPr>
          <p:cNvPr id="11" name="Rectangle 9"/>
          <p:cNvSpPr>
            <a:spLocks noChangeArrowheads="1"/>
          </p:cNvSpPr>
          <p:nvPr/>
        </p:nvSpPr>
        <p:spPr bwMode="auto">
          <a:xfrm>
            <a:off x="3505201" y="4267200"/>
            <a:ext cx="2360221" cy="400752"/>
          </a:xfrm>
          <a:prstGeom prst="rect">
            <a:avLst/>
          </a:prstGeom>
          <a:noFill/>
          <a:ln w="9525">
            <a:noFill/>
            <a:miter lim="800000"/>
            <a:headEnd/>
            <a:tailEnd/>
          </a:ln>
          <a:effectLst/>
        </p:spPr>
        <p:txBody>
          <a:bodyPr wrap="none" lIns="92075" tIns="46038" rIns="92075" bIns="46038">
            <a:spAutoFit/>
          </a:bodyPr>
          <a:lstStyle/>
          <a:p>
            <a:pPr algn="ctr" eaLnBrk="0" hangingPunct="0"/>
            <a:r>
              <a:rPr lang="en-US" sz="1200" b="1" dirty="0">
                <a:latin typeface="Times New Roman" pitchFamily="18" charset="0"/>
              </a:rPr>
              <a:t>  </a:t>
            </a:r>
            <a:r>
              <a:rPr lang="en-US" sz="2000" b="1" dirty="0">
                <a:latin typeface="Times New Roman" pitchFamily="18" charset="0"/>
              </a:rPr>
              <a:t>Request</a:t>
            </a:r>
            <a:r>
              <a:rPr lang="en-US" sz="1200" b="1" dirty="0">
                <a:latin typeface="Times New Roman" pitchFamily="18" charset="0"/>
              </a:rPr>
              <a:t> </a:t>
            </a:r>
            <a:r>
              <a:rPr lang="en-US" sz="2000" b="1" dirty="0">
                <a:latin typeface="Times New Roman" pitchFamily="18" charset="0"/>
              </a:rPr>
              <a:t>60 Kbytes;</a:t>
            </a:r>
          </a:p>
        </p:txBody>
      </p:sp>
      <p:sp>
        <p:nvSpPr>
          <p:cNvPr id="12" name="Rectangle 10"/>
          <p:cNvSpPr>
            <a:spLocks noChangeArrowheads="1"/>
          </p:cNvSpPr>
          <p:nvPr/>
        </p:nvSpPr>
        <p:spPr bwMode="auto">
          <a:xfrm>
            <a:off x="6553200" y="3276600"/>
            <a:ext cx="2438400" cy="1524000"/>
          </a:xfrm>
          <a:prstGeom prst="rect">
            <a:avLst/>
          </a:prstGeom>
          <a:solidFill>
            <a:schemeClr val="tx2">
              <a:lumMod val="40000"/>
              <a:lumOff val="60000"/>
            </a:schemeClr>
          </a:solidFill>
          <a:ln w="12700">
            <a:solidFill>
              <a:schemeClr val="tx1"/>
            </a:solidFill>
            <a:miter lim="800000"/>
            <a:headEnd/>
            <a:tailEnd/>
          </a:ln>
          <a:effectLst/>
        </p:spPr>
        <p:txBody>
          <a:bodyPr wrap="none" anchor="ctr"/>
          <a:lstStyle/>
          <a:p>
            <a:endParaRPr lang="en-US" dirty="0"/>
          </a:p>
        </p:txBody>
      </p:sp>
      <p:sp>
        <p:nvSpPr>
          <p:cNvPr id="13" name="Rectangle 11"/>
          <p:cNvSpPr>
            <a:spLocks noChangeArrowheads="1"/>
          </p:cNvSpPr>
          <p:nvPr/>
        </p:nvSpPr>
        <p:spPr bwMode="auto">
          <a:xfrm>
            <a:off x="6858001" y="3276600"/>
            <a:ext cx="470857" cy="400752"/>
          </a:xfrm>
          <a:prstGeom prst="rect">
            <a:avLst/>
          </a:prstGeom>
          <a:noFill/>
          <a:ln w="9525">
            <a:noFill/>
            <a:miter lim="800000"/>
            <a:headEnd/>
            <a:tailEnd/>
          </a:ln>
          <a:effectLst/>
        </p:spPr>
        <p:txBody>
          <a:bodyPr wrap="none" lIns="92075" tIns="46038" rIns="92075" bIns="46038">
            <a:spAutoFit/>
          </a:bodyPr>
          <a:lstStyle/>
          <a:p>
            <a:pPr algn="ctr" eaLnBrk="0" hangingPunct="0"/>
            <a:r>
              <a:rPr lang="en-US" sz="2000" b="1" dirty="0">
                <a:latin typeface="Times New Roman" pitchFamily="18" charset="0"/>
              </a:rPr>
              <a:t>P2</a:t>
            </a:r>
          </a:p>
        </p:txBody>
      </p:sp>
      <p:sp>
        <p:nvSpPr>
          <p:cNvPr id="14" name="Rectangle 12"/>
          <p:cNvSpPr>
            <a:spLocks noChangeArrowheads="1"/>
          </p:cNvSpPr>
          <p:nvPr/>
        </p:nvSpPr>
        <p:spPr bwMode="auto">
          <a:xfrm>
            <a:off x="6320974" y="3581400"/>
            <a:ext cx="750205" cy="339196"/>
          </a:xfrm>
          <a:prstGeom prst="rect">
            <a:avLst/>
          </a:prstGeom>
          <a:noFill/>
          <a:ln w="9525">
            <a:noFill/>
            <a:miter lim="800000"/>
            <a:headEnd/>
            <a:tailEnd/>
          </a:ln>
          <a:effectLst/>
        </p:spPr>
        <p:txBody>
          <a:bodyPr wrap="none" lIns="92075" tIns="46038" rIns="92075" bIns="46038">
            <a:spAutoFit/>
          </a:bodyPr>
          <a:lstStyle/>
          <a:p>
            <a:pPr algn="ctr" eaLnBrk="0" hangingPunct="0"/>
            <a:r>
              <a:rPr lang="en-US" sz="1600" b="1" dirty="0">
                <a:latin typeface="Times New Roman" pitchFamily="18" charset="0"/>
              </a:rPr>
              <a:t>      . . .</a:t>
            </a:r>
          </a:p>
        </p:txBody>
      </p:sp>
      <p:sp>
        <p:nvSpPr>
          <p:cNvPr id="15" name="Rectangle 13"/>
          <p:cNvSpPr>
            <a:spLocks noChangeArrowheads="1"/>
          </p:cNvSpPr>
          <p:nvPr/>
        </p:nvSpPr>
        <p:spPr bwMode="auto">
          <a:xfrm>
            <a:off x="6320974" y="4006850"/>
            <a:ext cx="750205" cy="339196"/>
          </a:xfrm>
          <a:prstGeom prst="rect">
            <a:avLst/>
          </a:prstGeom>
          <a:noFill/>
          <a:ln w="9525">
            <a:noFill/>
            <a:miter lim="800000"/>
            <a:headEnd/>
            <a:tailEnd/>
          </a:ln>
          <a:effectLst/>
        </p:spPr>
        <p:txBody>
          <a:bodyPr wrap="none" lIns="92075" tIns="46038" rIns="92075" bIns="46038">
            <a:spAutoFit/>
          </a:bodyPr>
          <a:lstStyle/>
          <a:p>
            <a:pPr algn="ctr" eaLnBrk="0" hangingPunct="0"/>
            <a:r>
              <a:rPr lang="en-US" sz="1600" b="1" dirty="0">
                <a:latin typeface="Times New Roman" pitchFamily="18" charset="0"/>
              </a:rPr>
              <a:t>      . . .</a:t>
            </a:r>
          </a:p>
        </p:txBody>
      </p:sp>
      <p:sp>
        <p:nvSpPr>
          <p:cNvPr id="16" name="Rectangle 14"/>
          <p:cNvSpPr>
            <a:spLocks noChangeArrowheads="1"/>
          </p:cNvSpPr>
          <p:nvPr/>
        </p:nvSpPr>
        <p:spPr bwMode="auto">
          <a:xfrm>
            <a:off x="6553200" y="3810000"/>
            <a:ext cx="2390178" cy="400752"/>
          </a:xfrm>
          <a:prstGeom prst="rect">
            <a:avLst/>
          </a:prstGeom>
          <a:noFill/>
          <a:ln w="9525">
            <a:noFill/>
            <a:miter lim="800000"/>
            <a:headEnd/>
            <a:tailEnd/>
          </a:ln>
          <a:effectLst/>
        </p:spPr>
        <p:txBody>
          <a:bodyPr wrap="square" lIns="92075" tIns="46038" rIns="92075" bIns="46038">
            <a:spAutoFit/>
          </a:bodyPr>
          <a:lstStyle/>
          <a:p>
            <a:pPr algn="ctr" eaLnBrk="0" hangingPunct="0"/>
            <a:r>
              <a:rPr lang="en-US" sz="2000" b="1" dirty="0">
                <a:latin typeface="Times New Roman" pitchFamily="18" charset="0"/>
              </a:rPr>
              <a:t>Request 70 Kbytes</a:t>
            </a:r>
            <a:r>
              <a:rPr lang="en-US" sz="1200" b="1" dirty="0">
                <a:latin typeface="Times New Roman" pitchFamily="18" charset="0"/>
              </a:rPr>
              <a:t>;</a:t>
            </a:r>
          </a:p>
        </p:txBody>
      </p:sp>
      <p:sp>
        <p:nvSpPr>
          <p:cNvPr id="17" name="Rectangle 15"/>
          <p:cNvSpPr>
            <a:spLocks noChangeArrowheads="1"/>
          </p:cNvSpPr>
          <p:nvPr/>
        </p:nvSpPr>
        <p:spPr bwMode="auto">
          <a:xfrm>
            <a:off x="6477001" y="4267200"/>
            <a:ext cx="2385869" cy="400752"/>
          </a:xfrm>
          <a:prstGeom prst="rect">
            <a:avLst/>
          </a:prstGeom>
          <a:noFill/>
          <a:ln w="9525">
            <a:noFill/>
            <a:miter lim="800000"/>
            <a:headEnd/>
            <a:tailEnd/>
          </a:ln>
          <a:effectLst/>
        </p:spPr>
        <p:txBody>
          <a:bodyPr wrap="none" lIns="92075" tIns="46038" rIns="92075" bIns="46038">
            <a:spAutoFit/>
          </a:bodyPr>
          <a:lstStyle/>
          <a:p>
            <a:pPr algn="ctr" eaLnBrk="0" hangingPunct="0"/>
            <a:r>
              <a:rPr lang="en-US" sz="1200" b="1" dirty="0">
                <a:latin typeface="Times New Roman" pitchFamily="18" charset="0"/>
              </a:rPr>
              <a:t>  </a:t>
            </a:r>
            <a:r>
              <a:rPr lang="en-US" sz="2000" b="1" dirty="0">
                <a:latin typeface="Times New Roman" pitchFamily="18" charset="0"/>
              </a:rPr>
              <a:t>Request 80 Kbytes;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828800" y="762001"/>
            <a:ext cx="8534400" cy="1323975"/>
          </a:xfrm>
        </p:spPr>
        <p:txBody>
          <a:bodyPr/>
          <a:lstStyle/>
          <a:p>
            <a:pPr algn="ctr"/>
            <a:r>
              <a:rPr lang="en-US" b="1" dirty="0">
                <a:ln w="1905"/>
                <a:solidFill>
                  <a:schemeClr val="accent6">
                    <a:lumMod val="75000"/>
                  </a:schemeClr>
                </a:solidFill>
                <a:effectLst>
                  <a:innerShdw blurRad="69850" dist="43180" dir="5400000">
                    <a:srgbClr val="000000">
                      <a:alpha val="65000"/>
                    </a:srgbClr>
                  </a:innerShdw>
                </a:effectLst>
              </a:rPr>
              <a:t>Consumable Resources Deadlock</a:t>
            </a:r>
          </a:p>
        </p:txBody>
      </p:sp>
      <p:sp>
        <p:nvSpPr>
          <p:cNvPr id="3" name="Content Placeholder 2"/>
          <p:cNvSpPr>
            <a:spLocks noGrp="1"/>
          </p:cNvSpPr>
          <p:nvPr>
            <p:ph idx="4294967295"/>
          </p:nvPr>
        </p:nvSpPr>
        <p:spPr>
          <a:xfrm>
            <a:off x="1905000" y="2438400"/>
            <a:ext cx="8382000" cy="4419600"/>
          </a:xfrm>
        </p:spPr>
        <p:txBody>
          <a:bodyPr>
            <a:noAutofit/>
          </a:bodyPr>
          <a:lstStyle/>
          <a:p>
            <a:r>
              <a:rPr lang="en-NZ" dirty="0"/>
              <a:t>Consider a pair of processes, in which each process attempts to receive a message from the other process and then send a message to the other process:</a:t>
            </a:r>
          </a:p>
          <a:p>
            <a:endParaRPr lang="en-NZ" dirty="0"/>
          </a:p>
          <a:p>
            <a:endParaRPr lang="en-NZ" dirty="0"/>
          </a:p>
          <a:p>
            <a:endParaRPr lang="en-NZ" dirty="0"/>
          </a:p>
          <a:p>
            <a:pPr>
              <a:buNone/>
            </a:pPr>
            <a:endParaRPr lang="en-NZ" dirty="0"/>
          </a:p>
          <a:p>
            <a:r>
              <a:rPr lang="en-NZ" dirty="0"/>
              <a:t>Deadlock occurs if the Receive is </a:t>
            </a:r>
            <a:r>
              <a:rPr lang="en-NZ" u="sng" dirty="0"/>
              <a:t>blocking</a:t>
            </a:r>
            <a:endParaRPr lang="en-US" u="sng" dirty="0"/>
          </a:p>
        </p:txBody>
      </p:sp>
      <p:pic>
        <p:nvPicPr>
          <p:cNvPr id="5122" name="Picture 2"/>
          <p:cNvPicPr>
            <a:picLocks noChangeAspect="1" noChangeArrowheads="1"/>
          </p:cNvPicPr>
          <p:nvPr/>
        </p:nvPicPr>
        <p:blipFill>
          <a:blip r:embed="rId3"/>
          <a:srcRect/>
          <a:stretch>
            <a:fillRect/>
          </a:stretch>
        </p:blipFill>
        <p:spPr bwMode="auto">
          <a:xfrm>
            <a:off x="3505200" y="3657601"/>
            <a:ext cx="5429250" cy="1724025"/>
          </a:xfrm>
          <a:prstGeom prst="rect">
            <a:avLst/>
          </a:prstGeom>
          <a:solidFill>
            <a:schemeClr val="bg1">
              <a:lumMod val="75000"/>
            </a:schemeClr>
          </a:solidFill>
          <a:ln w="9525">
            <a:noFill/>
            <a:miter lim="800000"/>
            <a:headEnd/>
            <a:tailEnd/>
          </a:ln>
          <a:effec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rcRect b="3110"/>
          <a:stretch>
            <a:fillRect/>
          </a:stretch>
        </p:blipFill>
        <p:spPr>
          <a:xfrm>
            <a:off x="1524000" y="9538"/>
            <a:ext cx="7315200" cy="6879659"/>
          </a:xfrm>
          <a:prstGeom prst="rect">
            <a:avLst/>
          </a:prstGeom>
          <a:ln>
            <a:solidFill>
              <a:schemeClr val="tx1"/>
            </a:solidFill>
          </a:ln>
        </p:spPr>
      </p:pic>
      <p:sp>
        <p:nvSpPr>
          <p:cNvPr id="6" name="TextBox 5"/>
          <p:cNvSpPr txBox="1"/>
          <p:nvPr/>
        </p:nvSpPr>
        <p:spPr>
          <a:xfrm>
            <a:off x="8991600" y="838201"/>
            <a:ext cx="1676401" cy="3803605"/>
          </a:xfrm>
          <a:prstGeom prst="rect">
            <a:avLst/>
          </a:prstGeom>
          <a:noFill/>
        </p:spPr>
        <p:txBody>
          <a:bodyPr wrap="square" rtlCol="0">
            <a:spAutoFit/>
          </a:bodyPr>
          <a:lstStyle/>
          <a:p>
            <a:endParaRPr lang="en-US" sz="2400" b="1" dirty="0">
              <a:latin typeface="+mn-lt"/>
            </a:endParaRPr>
          </a:p>
          <a:p>
            <a:pPr algn="ctr"/>
            <a:r>
              <a:rPr lang="en-US" sz="1600" b="1" dirty="0">
                <a:latin typeface="+mn-lt"/>
              </a:rPr>
              <a:t>Table 6.1  </a:t>
            </a:r>
          </a:p>
          <a:p>
            <a:pPr algn="ctr"/>
            <a:endParaRPr lang="en-US" sz="1600" b="1" dirty="0">
              <a:latin typeface="+mn-lt"/>
            </a:endParaRPr>
          </a:p>
          <a:p>
            <a:pPr algn="ctr">
              <a:lnSpc>
                <a:spcPct val="130000"/>
              </a:lnSpc>
              <a:spcBef>
                <a:spcPts val="0"/>
              </a:spcBef>
              <a:spcAft>
                <a:spcPts val="0"/>
              </a:spcAft>
            </a:pPr>
            <a:r>
              <a:rPr lang="en-US" sz="1600" b="1" dirty="0">
                <a:latin typeface="+mn-lt"/>
              </a:rPr>
              <a:t>Summary of Deadlock Detection, Prevention, and Avoidance</a:t>
            </a:r>
          </a:p>
          <a:p>
            <a:pPr algn="ctr">
              <a:lnSpc>
                <a:spcPct val="130000"/>
              </a:lnSpc>
              <a:spcBef>
                <a:spcPts val="0"/>
              </a:spcBef>
              <a:spcAft>
                <a:spcPts val="0"/>
              </a:spcAft>
            </a:pPr>
            <a:r>
              <a:rPr lang="en-US" sz="1600" b="1" dirty="0">
                <a:latin typeface="+mn-lt"/>
              </a:rPr>
              <a:t>Approaches for Operating Systems [ISLO80] </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xmlns:p14="http://schemas.microsoft.com/office/powerpoint/2010/mai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5.pdf"/>
          <p:cNvPicPr>
            <a:picLocks noChangeAspect="1"/>
          </p:cNvPicPr>
          <p:nvPr/>
        </p:nvPicPr>
        <p:blipFill>
          <a:blip r:embed="rId3"/>
          <a:srcRect t="11818" b="18182"/>
          <a:stretch>
            <a:fillRect/>
          </a:stretch>
        </p:blipFill>
        <p:spPr>
          <a:xfrm>
            <a:off x="2895600" y="685800"/>
            <a:ext cx="6509070" cy="58964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xmlns:p14="http://schemas.microsoft.com/office/powerpoint/2010/mai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6.pdf"/>
          <p:cNvPicPr>
            <a:picLocks noChangeAspect="1"/>
          </p:cNvPicPr>
          <p:nvPr/>
        </p:nvPicPr>
        <p:blipFill>
          <a:blip r:embed="rId3"/>
          <a:srcRect l="9412" t="30909" r="7059" b="18182"/>
          <a:stretch>
            <a:fillRect/>
          </a:stretch>
        </p:blipFill>
        <p:spPr>
          <a:xfrm>
            <a:off x="2514601" y="762001"/>
            <a:ext cx="7385071" cy="58250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xmlns:p14="http://schemas.microsoft.com/office/powerpoint/2010/mai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178010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7200"/>
            <a:ext cx="7824788" cy="1220148"/>
          </a:xfrm>
        </p:spPr>
        <p:txBody>
          <a:bodyPr/>
          <a:lstStyle/>
          <a:p>
            <a:r>
              <a:rPr lang="en-US" b="1" dirty="0">
                <a:solidFill>
                  <a:schemeClr val="accent1">
                    <a:lumMod val="50000"/>
                  </a:schemeClr>
                </a:solidFill>
              </a:rPr>
              <a:t>Conditions for Deadlock</a:t>
            </a:r>
          </a:p>
        </p:txBody>
      </p:sp>
      <p:sp>
        <p:nvSpPr>
          <p:cNvPr id="3" name="Content Placeholder 2"/>
          <p:cNvSpPr>
            <a:spLocks noGrp="1"/>
          </p:cNvSpPr>
          <p:nvPr>
            <p:ph idx="4294967295"/>
          </p:nvPr>
        </p:nvSpPr>
        <p:spPr>
          <a:xfrm>
            <a:off x="2362200" y="1295400"/>
            <a:ext cx="8305800" cy="5257800"/>
          </a:xfrm>
        </p:spPr>
        <p:txBody>
          <a:bodyPr/>
          <a:lstStyle/>
          <a:p>
            <a:pPr lvl="1"/>
            <a:endParaRPr lang="en-US" dirty="0"/>
          </a:p>
          <a:p>
            <a:endParaRPr lang="en-US" dirty="0"/>
          </a:p>
        </p:txBody>
      </p:sp>
      <p:graphicFrame>
        <p:nvGraphicFramePr>
          <p:cNvPr id="5" name="Diagram 4"/>
          <p:cNvGraphicFramePr/>
          <p:nvPr>
            <p:extLst>
              <p:ext uri="{D42A27DB-BD31-4B8C-83A1-F6EECF244321}">
                <p14:modId xmlns:p14="http://schemas.microsoft.com/office/powerpoint/2010/main" val="3421816917"/>
              </p:ext>
            </p:extLst>
          </p:nvPr>
        </p:nvGraphicFramePr>
        <p:xfrm>
          <a:off x="1981200" y="2209800"/>
          <a:ext cx="81534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28601"/>
            <a:ext cx="7824788" cy="1323041"/>
          </a:xfrm>
        </p:spPr>
        <p:txBody>
          <a:bodyPr/>
          <a:lstStyle/>
          <a:p>
            <a:r>
              <a:rPr lang="en-NZ" b="1" dirty="0">
                <a:solidFill>
                  <a:schemeClr val="accent6">
                    <a:lumMod val="75000"/>
                  </a:schemeClr>
                </a:solidFill>
              </a:rPr>
              <a:t>Dealing with Deadlock</a:t>
            </a:r>
          </a:p>
        </p:txBody>
      </p:sp>
      <p:sp>
        <p:nvSpPr>
          <p:cNvPr id="3" name="Content Placeholder 2"/>
          <p:cNvSpPr>
            <a:spLocks noGrp="1"/>
          </p:cNvSpPr>
          <p:nvPr>
            <p:ph idx="4294967295"/>
          </p:nvPr>
        </p:nvSpPr>
        <p:spPr>
          <a:xfrm>
            <a:off x="1981200" y="1981200"/>
            <a:ext cx="8305800" cy="2057400"/>
          </a:xfrm>
        </p:spPr>
        <p:txBody>
          <a:bodyPr>
            <a:normAutofit/>
          </a:bodyPr>
          <a:lstStyle/>
          <a:p>
            <a:r>
              <a:rPr lang="en-NZ" sz="2200" dirty="0"/>
              <a:t>Three general approaches exist for dealing with deadlock:</a:t>
            </a:r>
          </a:p>
        </p:txBody>
      </p:sp>
      <p:graphicFrame>
        <p:nvGraphicFramePr>
          <p:cNvPr id="4" name="Diagram 3"/>
          <p:cNvGraphicFramePr/>
          <p:nvPr/>
        </p:nvGraphicFramePr>
        <p:xfrm>
          <a:off x="2667000" y="2743200"/>
          <a:ext cx="7315200" cy="3581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Prevention Strategy</a:t>
            </a:r>
          </a:p>
        </p:txBody>
      </p:sp>
      <p:sp>
        <p:nvSpPr>
          <p:cNvPr id="3" name="Content Placeholder 2"/>
          <p:cNvSpPr>
            <a:spLocks noGrp="1"/>
          </p:cNvSpPr>
          <p:nvPr>
            <p:ph idx="4294967295"/>
          </p:nvPr>
        </p:nvSpPr>
        <p:spPr>
          <a:xfrm>
            <a:off x="2133600" y="2514600"/>
            <a:ext cx="8229600" cy="5105400"/>
          </a:xfrm>
        </p:spPr>
        <p:txBody>
          <a:bodyPr>
            <a:normAutofit/>
          </a:bodyPr>
          <a:lstStyle/>
          <a:p>
            <a:r>
              <a:rPr lang="en-NZ" sz="2200" dirty="0"/>
              <a:t>Design a system in such a way that the possibility of deadlock is excluded</a:t>
            </a:r>
          </a:p>
          <a:p>
            <a:r>
              <a:rPr lang="en-NZ" sz="2200" dirty="0"/>
              <a:t>Two main methods:</a:t>
            </a:r>
          </a:p>
          <a:p>
            <a:pPr lvl="1"/>
            <a:r>
              <a:rPr lang="en-NZ" sz="2000" dirty="0"/>
              <a:t>Indirect</a:t>
            </a:r>
          </a:p>
          <a:p>
            <a:pPr lvl="2"/>
            <a:r>
              <a:rPr lang="en-NZ" sz="2000" dirty="0"/>
              <a:t>prevent the occurrence of one of the three necessary conditions</a:t>
            </a:r>
          </a:p>
          <a:p>
            <a:pPr lvl="1"/>
            <a:r>
              <a:rPr lang="en-NZ" sz="2000" dirty="0"/>
              <a:t>Direct</a:t>
            </a:r>
          </a:p>
          <a:p>
            <a:pPr lvl="2"/>
            <a:r>
              <a:rPr lang="en-NZ" sz="2000" dirty="0"/>
              <a:t>prevent the occurrence of a circular wait</a:t>
            </a:r>
          </a:p>
        </p:txBody>
      </p:sp>
      <p:pic>
        <p:nvPicPr>
          <p:cNvPr id="5" name="Picture 4"/>
          <p:cNvPicPr>
            <a:picLocks noChangeAspect="1"/>
          </p:cNvPicPr>
          <p:nvPr/>
        </p:nvPicPr>
        <p:blipFill>
          <a:blip r:embed="rId3"/>
          <a:stretch>
            <a:fillRect/>
          </a:stretch>
        </p:blipFill>
        <p:spPr>
          <a:xfrm>
            <a:off x="7696200" y="4800600"/>
            <a:ext cx="2552700" cy="1778000"/>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1143001"/>
            <a:ext cx="7824788" cy="1323041"/>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Condition</a:t>
            </a:r>
            <a:b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Prevention </a:t>
            </a:r>
            <a:br>
              <a:rPr lang="en-US" dirty="0"/>
            </a:br>
            <a:endParaRPr lang="en-US" dirty="0"/>
          </a:p>
        </p:txBody>
      </p:sp>
      <p:graphicFrame>
        <p:nvGraphicFramePr>
          <p:cNvPr id="5" name="Diagram 4"/>
          <p:cNvGraphicFramePr/>
          <p:nvPr>
            <p:extLst>
              <p:ext uri="{D42A27DB-BD31-4B8C-83A1-F6EECF244321}">
                <p14:modId xmlns:p14="http://schemas.microsoft.com/office/powerpoint/2010/main" val="791627141"/>
              </p:ext>
            </p:extLst>
          </p:nvPr>
        </p:nvGraphicFramePr>
        <p:xfrm>
          <a:off x="2438400" y="2057400"/>
          <a:ext cx="70104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133600" y="2209800"/>
            <a:ext cx="8229600" cy="4953000"/>
          </a:xfrm>
        </p:spPr>
        <p:txBody>
          <a:bodyPr/>
          <a:lstStyle/>
          <a:p>
            <a:r>
              <a:rPr lang="en-US" sz="2200" dirty="0"/>
              <a:t>No Preemption</a:t>
            </a:r>
          </a:p>
          <a:p>
            <a:pPr lvl="1"/>
            <a:r>
              <a:rPr lang="en-US" sz="2000" dirty="0"/>
              <a:t>if a process holding certain resources is denied a further request, that process must release its original resources and request them again</a:t>
            </a:r>
          </a:p>
          <a:p>
            <a:pPr lvl="1"/>
            <a:r>
              <a:rPr lang="en-US" sz="2000" dirty="0"/>
              <a:t>OS may preempt the second process and require it to release its resources</a:t>
            </a:r>
          </a:p>
          <a:p>
            <a:r>
              <a:rPr lang="en-US" sz="2200" dirty="0"/>
              <a:t>Circular Wait</a:t>
            </a:r>
          </a:p>
          <a:p>
            <a:pPr lvl="1"/>
            <a:r>
              <a:rPr lang="en-US" sz="2000" dirty="0"/>
              <a:t>define a linear ordering of resource types</a:t>
            </a:r>
          </a:p>
          <a:p>
            <a:endParaRPr lang="en-US" dirty="0"/>
          </a:p>
        </p:txBody>
      </p:sp>
      <p:sp>
        <p:nvSpPr>
          <p:cNvPr id="5" name="TextBox 4"/>
          <p:cNvSpPr txBox="1"/>
          <p:nvPr/>
        </p:nvSpPr>
        <p:spPr>
          <a:xfrm>
            <a:off x="1981200" y="381000"/>
            <a:ext cx="8229600" cy="1569660"/>
          </a:xfrm>
          <a:prstGeom prst="rect">
            <a:avLst/>
          </a:prstGeom>
          <a:noFill/>
        </p:spPr>
        <p:txBody>
          <a:bodyPr wrap="square" rtlCol="0">
            <a:spAutoFit/>
          </a:bodyPr>
          <a:lstStyle/>
          <a:p>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lt"/>
              </a:rPr>
              <a:t>Deadlock Condition Prevention</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Avoidance</a:t>
            </a:r>
          </a:p>
        </p:txBody>
      </p:sp>
      <p:sp>
        <p:nvSpPr>
          <p:cNvPr id="3" name="Content Placeholder 2"/>
          <p:cNvSpPr>
            <a:spLocks noGrp="1"/>
          </p:cNvSpPr>
          <p:nvPr>
            <p:ph idx="4294967295"/>
          </p:nvPr>
        </p:nvSpPr>
        <p:spPr>
          <a:xfrm>
            <a:off x="2362200" y="2514600"/>
            <a:ext cx="7696200" cy="4648200"/>
          </a:xfrm>
        </p:spPr>
        <p:txBody>
          <a:bodyPr/>
          <a:lstStyle/>
          <a:p>
            <a:r>
              <a:rPr lang="en-US" sz="2300" dirty="0"/>
              <a:t>A decision is made dynamically whether the current resource allocation request will, if granted, potentially lead to a deadlock</a:t>
            </a:r>
          </a:p>
          <a:p>
            <a:r>
              <a:rPr lang="en-US" sz="2300" dirty="0"/>
              <a:t>Requires knowledge of future process requests</a:t>
            </a:r>
          </a:p>
          <a:p>
            <a:endParaRPr lang="en-US" dirty="0"/>
          </a:p>
        </p:txBody>
      </p:sp>
      <p:pic>
        <p:nvPicPr>
          <p:cNvPr id="4" name="Picture 3"/>
          <p:cNvPicPr>
            <a:picLocks noChangeAspect="1"/>
          </p:cNvPicPr>
          <p:nvPr/>
        </p:nvPicPr>
        <p:blipFill>
          <a:blip r:embed="rId3"/>
          <a:stretch>
            <a:fillRect/>
          </a:stretch>
        </p:blipFill>
        <p:spPr>
          <a:xfrm>
            <a:off x="5638800" y="4724401"/>
            <a:ext cx="1371600" cy="1496291"/>
          </a:xfrm>
          <a:prstGeom prst="rect">
            <a:avLst/>
          </a:prstGeom>
        </p:spPr>
      </p:pic>
      <p:pic>
        <p:nvPicPr>
          <p:cNvPr id="6" name="Picture 5"/>
          <p:cNvPicPr>
            <a:picLocks noChangeAspect="1"/>
          </p:cNvPicPr>
          <p:nvPr/>
        </p:nvPicPr>
        <p:blipFill>
          <a:blip r:embed="rId4"/>
          <a:stretch>
            <a:fillRect/>
          </a:stretch>
        </p:blipFill>
        <p:spPr>
          <a:xfrm>
            <a:off x="2362200" y="1"/>
            <a:ext cx="1676400" cy="1652451"/>
          </a:xfrm>
          <a:prstGeom prst="rect">
            <a:avLst/>
          </a:prstGeo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Two Approaches to </a:t>
            </a:r>
            <a:b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Avoidance</a:t>
            </a:r>
          </a:p>
        </p:txBody>
      </p:sp>
      <p:graphicFrame>
        <p:nvGraphicFramePr>
          <p:cNvPr id="5" name="Diagram 4"/>
          <p:cNvGraphicFramePr/>
          <p:nvPr>
            <p:extLst>
              <p:ext uri="{D42A27DB-BD31-4B8C-83A1-F6EECF244321}">
                <p14:modId xmlns:p14="http://schemas.microsoft.com/office/powerpoint/2010/main" val="275610918"/>
              </p:ext>
            </p:extLst>
          </p:nvPr>
        </p:nvGraphicFramePr>
        <p:xfrm>
          <a:off x="2133600" y="1905000"/>
          <a:ext cx="7848600" cy="472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Picture 8"/>
          <p:cNvPicPr>
            <a:picLocks noChangeAspect="1"/>
          </p:cNvPicPr>
          <p:nvPr/>
        </p:nvPicPr>
        <p:blipFill>
          <a:blip r:embed="rId8"/>
          <a:stretch>
            <a:fillRect/>
          </a:stretch>
        </p:blipFill>
        <p:spPr>
          <a:xfrm>
            <a:off x="5638800" y="4635500"/>
            <a:ext cx="1371600" cy="1371600"/>
          </a:xfrm>
          <a:prstGeom prst="rect">
            <a:avLst/>
          </a:prstGeo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Resource Allocation Denial</a:t>
            </a:r>
          </a:p>
        </p:txBody>
      </p:sp>
      <p:sp>
        <p:nvSpPr>
          <p:cNvPr id="3" name="Content Placeholder 2"/>
          <p:cNvSpPr>
            <a:spLocks noGrp="1"/>
          </p:cNvSpPr>
          <p:nvPr>
            <p:ph idx="4294967295"/>
          </p:nvPr>
        </p:nvSpPr>
        <p:spPr>
          <a:xfrm>
            <a:off x="2286000" y="2209800"/>
            <a:ext cx="7620000" cy="4953000"/>
          </a:xfrm>
        </p:spPr>
        <p:txBody>
          <a:bodyPr/>
          <a:lstStyle/>
          <a:p>
            <a:r>
              <a:rPr lang="en-US" sz="2200" dirty="0"/>
              <a:t>Referred to as the </a:t>
            </a:r>
            <a:r>
              <a:rPr lang="en-US" sz="2200" i="1" dirty="0"/>
              <a:t>banker’s algorithm</a:t>
            </a:r>
          </a:p>
          <a:p>
            <a:r>
              <a:rPr lang="en-US" sz="2200" b="1" i="1" dirty="0"/>
              <a:t>State</a:t>
            </a:r>
            <a:r>
              <a:rPr lang="en-US" sz="2200" dirty="0"/>
              <a:t> of the system reflects the current allocation of resources to processes</a:t>
            </a:r>
          </a:p>
          <a:p>
            <a:r>
              <a:rPr lang="en-US" sz="2200" b="1" i="1" dirty="0"/>
              <a:t>Safe state </a:t>
            </a:r>
            <a:r>
              <a:rPr lang="en-US" sz="2200" dirty="0"/>
              <a:t>is one in which there is at least one sequence of resource allocations to processes that does not result in a deadlock</a:t>
            </a:r>
          </a:p>
          <a:p>
            <a:r>
              <a:rPr lang="en-US" sz="2200" b="1" i="1" dirty="0"/>
              <a:t>Unsafe state </a:t>
            </a:r>
            <a:r>
              <a:rPr lang="en-US" sz="2200" dirty="0"/>
              <a:t>is a state that is not safe</a:t>
            </a:r>
          </a:p>
          <a:p>
            <a:endParaRPr lang="en-US" dirty="0"/>
          </a:p>
        </p:txBody>
      </p:sp>
      <p:pic>
        <p:nvPicPr>
          <p:cNvPr id="8" name="Picture 7"/>
          <p:cNvPicPr>
            <a:picLocks noChangeAspect="1"/>
          </p:cNvPicPr>
          <p:nvPr/>
        </p:nvPicPr>
        <p:blipFill>
          <a:blip r:embed="rId3"/>
          <a:stretch>
            <a:fillRect/>
          </a:stretch>
        </p:blipFill>
        <p:spPr>
          <a:xfrm>
            <a:off x="7848600" y="4876800"/>
            <a:ext cx="1600200" cy="1600200"/>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1752601" y="1600200"/>
            <a:ext cx="8500057" cy="2514600"/>
          </a:xfrm>
          <a:prstGeom prst="rect">
            <a:avLst/>
          </a:prstGeom>
        </p:spPr>
      </p:pic>
      <p:sp>
        <p:nvSpPr>
          <p:cNvPr id="9" name="TextBox 8"/>
          <p:cNvSpPr txBox="1"/>
          <p:nvPr/>
        </p:nvSpPr>
        <p:spPr>
          <a:xfrm>
            <a:off x="1905001" y="5566833"/>
            <a:ext cx="8458199" cy="369332"/>
          </a:xfrm>
          <a:prstGeom prst="rect">
            <a:avLst/>
          </a:prstGeom>
          <a:noFill/>
        </p:spPr>
        <p:txBody>
          <a:bodyPr wrap="square" rtlCol="0">
            <a:spAutoFit/>
          </a:bodyPr>
          <a:lstStyle/>
          <a:p>
            <a:pPr algn="ctr"/>
            <a:r>
              <a:rPr lang="en-US" b="1" dirty="0">
                <a:latin typeface="+mn-lt"/>
              </a:rPr>
              <a:t>Figure 6.7  Determination of a Safe State </a:t>
            </a:r>
          </a:p>
        </p:txBody>
      </p:sp>
      <p:sp>
        <p:nvSpPr>
          <p:cNvPr id="2" name="TextBox 1">
            <a:extLst>
              <a:ext uri="{FF2B5EF4-FFF2-40B4-BE49-F238E27FC236}">
                <a16:creationId xmlns:a16="http://schemas.microsoft.com/office/drawing/2014/main" id="{8A788CD7-DF3E-C045-9ADD-4B0F74B376CD}"/>
              </a:ext>
            </a:extLst>
          </p:cNvPr>
          <p:cNvSpPr txBox="1"/>
          <p:nvPr/>
        </p:nvSpPr>
        <p:spPr>
          <a:xfrm>
            <a:off x="2057400" y="4724401"/>
            <a:ext cx="8195257" cy="646331"/>
          </a:xfrm>
          <a:prstGeom prst="rect">
            <a:avLst/>
          </a:prstGeom>
          <a:noFill/>
        </p:spPr>
        <p:txBody>
          <a:bodyPr wrap="square" rtlCol="0">
            <a:spAutoFit/>
          </a:bodyPr>
          <a:lstStyle/>
          <a:p>
            <a:r>
              <a:rPr lang="en-US" dirty="0"/>
              <a:t>Can </a:t>
            </a:r>
            <a:r>
              <a:rPr lang="en-US" b="1" dirty="0"/>
              <a:t>any of the four processes be run to completion </a:t>
            </a:r>
            <a:r>
              <a:rPr lang="en-US" dirty="0"/>
              <a:t>with the resources available? </a:t>
            </a:r>
          </a:p>
        </p:txBody>
      </p:sp>
      <p:sp>
        <p:nvSpPr>
          <p:cNvPr id="3" name="TextBox 2">
            <a:extLst>
              <a:ext uri="{FF2B5EF4-FFF2-40B4-BE49-F238E27FC236}">
                <a16:creationId xmlns:a16="http://schemas.microsoft.com/office/drawing/2014/main" id="{04FC9A52-78DC-0145-8DC0-E876CB36FC89}"/>
              </a:ext>
            </a:extLst>
          </p:cNvPr>
          <p:cNvSpPr txBox="1"/>
          <p:nvPr/>
        </p:nvSpPr>
        <p:spPr>
          <a:xfrm>
            <a:off x="8458200" y="948151"/>
            <a:ext cx="1447800" cy="369332"/>
          </a:xfrm>
          <a:prstGeom prst="rect">
            <a:avLst/>
          </a:prstGeom>
          <a:noFill/>
        </p:spPr>
        <p:txBody>
          <a:bodyPr wrap="square" rtlCol="0">
            <a:spAutoFit/>
          </a:bodyPr>
          <a:lstStyle/>
          <a:p>
            <a:r>
              <a:rPr lang="en-US" dirty="0"/>
              <a:t>Need matrix</a:t>
            </a:r>
          </a:p>
        </p:txBody>
      </p:sp>
      <p:sp>
        <p:nvSpPr>
          <p:cNvPr id="10" name="Right Arrow 9">
            <a:extLst>
              <a:ext uri="{FF2B5EF4-FFF2-40B4-BE49-F238E27FC236}">
                <a16:creationId xmlns:a16="http://schemas.microsoft.com/office/drawing/2014/main" id="{01B6F53B-3DEE-8641-8882-53CCC0B64FAA}"/>
              </a:ext>
            </a:extLst>
          </p:cNvPr>
          <p:cNvSpPr/>
          <p:nvPr/>
        </p:nvSpPr>
        <p:spPr>
          <a:xfrm>
            <a:off x="7391400" y="2057400"/>
            <a:ext cx="533400" cy="3048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49B6F8B7-3E5A-5D48-A5F8-0932CCEE5D3D}"/>
              </a:ext>
            </a:extLst>
          </p:cNvPr>
          <p:cNvCxnSpPr>
            <a:cxnSpLocks/>
          </p:cNvCxnSpPr>
          <p:nvPr/>
        </p:nvCxnSpPr>
        <p:spPr>
          <a:xfrm>
            <a:off x="7391400" y="2133600"/>
            <a:ext cx="0" cy="99060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752600" y="1676400"/>
            <a:ext cx="8382000" cy="2514600"/>
          </a:xfrm>
          <a:prstGeom prst="rect">
            <a:avLst/>
          </a:prstGeom>
        </p:spPr>
      </p:pic>
      <p:sp>
        <p:nvSpPr>
          <p:cNvPr id="5" name="TextBox 4"/>
          <p:cNvSpPr txBox="1"/>
          <p:nvPr/>
        </p:nvSpPr>
        <p:spPr>
          <a:xfrm>
            <a:off x="1905001" y="5566833"/>
            <a:ext cx="8458199" cy="369332"/>
          </a:xfrm>
          <a:prstGeom prst="rect">
            <a:avLst/>
          </a:prstGeom>
          <a:noFill/>
        </p:spPr>
        <p:txBody>
          <a:bodyPr wrap="square" rtlCol="0">
            <a:spAutoFit/>
          </a:bodyPr>
          <a:lstStyle/>
          <a:p>
            <a:pPr algn="ctr"/>
            <a:r>
              <a:rPr lang="en-US" b="1" dirty="0">
                <a:latin typeface="+mn-lt"/>
              </a:rPr>
              <a:t>Figure 6.7  Determination of a Safe State </a:t>
            </a:r>
          </a:p>
        </p:txBody>
      </p:sp>
      <p:sp>
        <p:nvSpPr>
          <p:cNvPr id="6" name="TextBox 5">
            <a:extLst>
              <a:ext uri="{FF2B5EF4-FFF2-40B4-BE49-F238E27FC236}">
                <a16:creationId xmlns:a16="http://schemas.microsoft.com/office/drawing/2014/main" id="{421CEAB6-209D-3541-883F-978F4597CA2D}"/>
              </a:ext>
            </a:extLst>
          </p:cNvPr>
          <p:cNvSpPr txBox="1"/>
          <p:nvPr/>
        </p:nvSpPr>
        <p:spPr>
          <a:xfrm>
            <a:off x="2057400" y="4724401"/>
            <a:ext cx="8195257" cy="646331"/>
          </a:xfrm>
          <a:prstGeom prst="rect">
            <a:avLst/>
          </a:prstGeom>
          <a:noFill/>
        </p:spPr>
        <p:txBody>
          <a:bodyPr wrap="square" rtlCol="0">
            <a:spAutoFit/>
          </a:bodyPr>
          <a:lstStyle/>
          <a:p>
            <a:r>
              <a:rPr lang="en-US" dirty="0"/>
              <a:t>Can </a:t>
            </a:r>
            <a:r>
              <a:rPr lang="en-US" b="1" dirty="0"/>
              <a:t>any of the four processes be run to completion </a:t>
            </a:r>
            <a:r>
              <a:rPr lang="en-US" dirty="0"/>
              <a:t>with the resources available? </a:t>
            </a:r>
          </a:p>
        </p:txBody>
      </p:sp>
      <p:sp>
        <p:nvSpPr>
          <p:cNvPr id="7" name="Right Arrow 6">
            <a:extLst>
              <a:ext uri="{FF2B5EF4-FFF2-40B4-BE49-F238E27FC236}">
                <a16:creationId xmlns:a16="http://schemas.microsoft.com/office/drawing/2014/main" id="{8A593F18-4810-D84A-B5A4-3CFED106D838}"/>
              </a:ext>
            </a:extLst>
          </p:cNvPr>
          <p:cNvSpPr/>
          <p:nvPr/>
        </p:nvSpPr>
        <p:spPr>
          <a:xfrm>
            <a:off x="7391400" y="1905000"/>
            <a:ext cx="533400" cy="3048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CE64A265-BD8E-0E4C-BACF-6AA2B0A2EB6F}"/>
              </a:ext>
            </a:extLst>
          </p:cNvPr>
          <p:cNvCxnSpPr>
            <a:cxnSpLocks/>
          </p:cNvCxnSpPr>
          <p:nvPr/>
        </p:nvCxnSpPr>
        <p:spPr>
          <a:xfrm>
            <a:off x="7391400" y="2015836"/>
            <a:ext cx="0" cy="11083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10D74CA3-7601-4F44-8750-7E51297879A4}"/>
              </a:ext>
            </a:extLst>
          </p:cNvPr>
          <p:cNvCxnSpPr>
            <a:cxnSpLocks/>
          </p:cNvCxnSpPr>
          <p:nvPr/>
        </p:nvCxnSpPr>
        <p:spPr>
          <a:xfrm>
            <a:off x="7391400" y="2743200"/>
            <a:ext cx="533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929114" y="2150746"/>
            <a:ext cx="8281686" cy="2726055"/>
          </a:xfrm>
          <a:prstGeom prst="rect">
            <a:avLst/>
          </a:prstGeom>
        </p:spPr>
      </p:pic>
      <p:sp>
        <p:nvSpPr>
          <p:cNvPr id="5" name="TextBox 4"/>
          <p:cNvSpPr txBox="1"/>
          <p:nvPr/>
        </p:nvSpPr>
        <p:spPr>
          <a:xfrm>
            <a:off x="1905001" y="5566833"/>
            <a:ext cx="8458199" cy="369332"/>
          </a:xfrm>
          <a:prstGeom prst="rect">
            <a:avLst/>
          </a:prstGeom>
          <a:noFill/>
        </p:spPr>
        <p:txBody>
          <a:bodyPr wrap="square" rtlCol="0">
            <a:spAutoFit/>
          </a:bodyPr>
          <a:lstStyle/>
          <a:p>
            <a:pPr algn="ctr"/>
            <a:r>
              <a:rPr lang="en-US" b="1" dirty="0">
                <a:latin typeface="+mn-lt"/>
              </a:rPr>
              <a:t>Figure 6.7  Determination of a Safe State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rcRect b="13846"/>
          <a:stretch>
            <a:fillRect/>
          </a:stretch>
        </p:blipFill>
        <p:spPr>
          <a:xfrm>
            <a:off x="1828800" y="1828800"/>
            <a:ext cx="8411308" cy="2355164"/>
          </a:xfrm>
          <a:prstGeom prst="rect">
            <a:avLst/>
          </a:prstGeom>
        </p:spPr>
      </p:pic>
      <p:sp>
        <p:nvSpPr>
          <p:cNvPr id="7" name="Rectangle 6"/>
          <p:cNvSpPr/>
          <p:nvPr/>
        </p:nvSpPr>
        <p:spPr>
          <a:xfrm>
            <a:off x="1828800" y="4495801"/>
            <a:ext cx="8534400" cy="307777"/>
          </a:xfrm>
          <a:prstGeom prst="rect">
            <a:avLst/>
          </a:prstGeom>
        </p:spPr>
        <p:txBody>
          <a:bodyPr wrap="square">
            <a:spAutoFit/>
          </a:bodyPr>
          <a:lstStyle/>
          <a:p>
            <a:pPr algn="ctr"/>
            <a:r>
              <a:rPr lang="en-US" sz="1400" dirty="0">
                <a:latin typeface="+mn-lt"/>
              </a:rPr>
              <a:t>(</a:t>
            </a:r>
            <a:r>
              <a:rPr lang="en-US" sz="1400" dirty="0" err="1">
                <a:latin typeface="+mn-lt"/>
              </a:rPr>
              <a:t>d</a:t>
            </a:r>
            <a:r>
              <a:rPr lang="en-US" sz="1400" dirty="0">
                <a:latin typeface="+mn-lt"/>
              </a:rPr>
              <a:t>) P3 runs to completion </a:t>
            </a:r>
          </a:p>
        </p:txBody>
      </p:sp>
      <p:sp>
        <p:nvSpPr>
          <p:cNvPr id="8" name="TextBox 7"/>
          <p:cNvSpPr txBox="1"/>
          <p:nvPr/>
        </p:nvSpPr>
        <p:spPr>
          <a:xfrm>
            <a:off x="1905001" y="5566833"/>
            <a:ext cx="8458199" cy="369332"/>
          </a:xfrm>
          <a:prstGeom prst="rect">
            <a:avLst/>
          </a:prstGeom>
          <a:noFill/>
        </p:spPr>
        <p:txBody>
          <a:bodyPr wrap="square" rtlCol="0">
            <a:spAutoFit/>
          </a:bodyPr>
          <a:lstStyle/>
          <a:p>
            <a:pPr algn="ctr"/>
            <a:r>
              <a:rPr lang="en-US" b="1" dirty="0">
                <a:latin typeface="+mn-lt"/>
              </a:rPr>
              <a:t>Figure 6.7  Determination of a Safe State </a:t>
            </a: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xmlns:p14="http://schemas.microsoft.com/office/powerpoint/2010/mai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rcRect b="7042"/>
          <a:stretch>
            <a:fillRect/>
          </a:stretch>
        </p:blipFill>
        <p:spPr>
          <a:xfrm>
            <a:off x="2819400" y="838200"/>
            <a:ext cx="6324600" cy="5009594"/>
          </a:xfrm>
          <a:prstGeom prst="rect">
            <a:avLst/>
          </a:prstGeom>
        </p:spPr>
      </p:pic>
      <p:sp>
        <p:nvSpPr>
          <p:cNvPr id="6" name="TextBox 5"/>
          <p:cNvSpPr txBox="1"/>
          <p:nvPr/>
        </p:nvSpPr>
        <p:spPr>
          <a:xfrm>
            <a:off x="1828800" y="6096001"/>
            <a:ext cx="8458200" cy="646331"/>
          </a:xfrm>
          <a:prstGeom prst="rect">
            <a:avLst/>
          </a:prstGeom>
          <a:noFill/>
        </p:spPr>
        <p:txBody>
          <a:bodyPr wrap="square" rtlCol="0">
            <a:spAutoFit/>
          </a:bodyPr>
          <a:lstStyle/>
          <a:p>
            <a:pPr algn="ctr"/>
            <a:r>
              <a:rPr lang="en-US" b="1" dirty="0">
                <a:latin typeface="+mn-lt"/>
              </a:rPr>
              <a:t>Figure 6.8  PREQUEL: Determination of an Unsafe State - </a:t>
            </a:r>
            <a:r>
              <a:rPr lang="en-US" dirty="0"/>
              <a:t>the </a:t>
            </a:r>
            <a:r>
              <a:rPr lang="en-US" b="1" dirty="0"/>
              <a:t>request by P1 should be denied and P1 should be blocked</a:t>
            </a:r>
            <a:r>
              <a:rPr lang="en-US" dirty="0"/>
              <a:t>.</a:t>
            </a:r>
            <a:r>
              <a:rPr lang="en-US" b="1" dirty="0">
                <a:latin typeface="+mn-lt"/>
              </a:rPr>
              <a:t> </a:t>
            </a:r>
          </a:p>
        </p:txBody>
      </p:sp>
      <p:sp>
        <p:nvSpPr>
          <p:cNvPr id="2" name="Down Arrow 1">
            <a:extLst>
              <a:ext uri="{FF2B5EF4-FFF2-40B4-BE49-F238E27FC236}">
                <a16:creationId xmlns:a16="http://schemas.microsoft.com/office/drawing/2014/main" id="{92C15C81-BF3A-014D-AE7B-F1A03C5285FC}"/>
              </a:ext>
            </a:extLst>
          </p:cNvPr>
          <p:cNvSpPr/>
          <p:nvPr/>
        </p:nvSpPr>
        <p:spPr>
          <a:xfrm>
            <a:off x="6400800" y="4552400"/>
            <a:ext cx="76200" cy="2482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97BD0E00-860D-8B4A-AC67-B5986CE39E96}"/>
              </a:ext>
            </a:extLst>
          </p:cNvPr>
          <p:cNvCxnSpPr/>
          <p:nvPr/>
        </p:nvCxnSpPr>
        <p:spPr>
          <a:xfrm>
            <a:off x="6477000" y="4558145"/>
            <a:ext cx="1219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70BE1B3B-D388-0445-9D03-F8E2536678F7}"/>
              </a:ext>
            </a:extLst>
          </p:cNvPr>
          <p:cNvCxnSpPr/>
          <p:nvPr/>
        </p:nvCxnSpPr>
        <p:spPr>
          <a:xfrm flipV="1">
            <a:off x="7696200" y="4419600"/>
            <a:ext cx="0" cy="132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6CE9CC1-D3F8-A645-AC21-F4236E41ECA8}"/>
              </a:ext>
            </a:extLst>
          </p:cNvPr>
          <p:cNvCxnSpPr/>
          <p:nvPr/>
        </p:nvCxnSpPr>
        <p:spPr>
          <a:xfrm>
            <a:off x="5410200" y="3657600"/>
            <a:ext cx="304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1910A16-FCA7-974E-9635-E850C22EC6E2}"/>
              </a:ext>
            </a:extLst>
          </p:cNvPr>
          <p:cNvCxnSpPr>
            <a:cxnSpLocks/>
          </p:cNvCxnSpPr>
          <p:nvPr/>
        </p:nvCxnSpPr>
        <p:spPr>
          <a:xfrm flipH="1">
            <a:off x="6629400" y="3200400"/>
            <a:ext cx="381000" cy="381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b="5125"/>
          <a:stretch>
            <a:fillRect/>
          </a:stretch>
        </p:blipFill>
        <p:spPr>
          <a:xfrm>
            <a:off x="2133601" y="685800"/>
            <a:ext cx="5121855" cy="5835364"/>
          </a:xfrm>
          <a:prstGeom prst="rect">
            <a:avLst/>
          </a:prstGeom>
        </p:spPr>
      </p:pic>
      <p:sp>
        <p:nvSpPr>
          <p:cNvPr id="9" name="TextBox 8"/>
          <p:cNvSpPr txBox="1"/>
          <p:nvPr/>
        </p:nvSpPr>
        <p:spPr>
          <a:xfrm>
            <a:off x="7467600" y="1828801"/>
            <a:ext cx="2743200" cy="2246769"/>
          </a:xfrm>
          <a:prstGeom prst="rect">
            <a:avLst/>
          </a:prstGeom>
          <a:noFill/>
        </p:spPr>
        <p:txBody>
          <a:bodyPr wrap="square" rtlCol="0">
            <a:spAutoFit/>
          </a:bodyPr>
          <a:lstStyle/>
          <a:p>
            <a:pPr algn="ctr"/>
            <a:r>
              <a:rPr lang="en-US" sz="2800" b="1" dirty="0">
                <a:latin typeface="+mn-lt"/>
              </a:rPr>
              <a:t>Figure 6.9  </a:t>
            </a:r>
          </a:p>
          <a:p>
            <a:pPr algn="ctr"/>
            <a:endParaRPr lang="en-US" sz="2800" b="1" dirty="0">
              <a:latin typeface="+mn-lt"/>
            </a:endParaRPr>
          </a:p>
          <a:p>
            <a:pPr algn="ctr"/>
            <a:r>
              <a:rPr lang="en-US" sz="2800" b="1" dirty="0">
                <a:latin typeface="+mn-lt"/>
              </a:rPr>
              <a:t>Deadlock Avoidance Logic</a:t>
            </a:r>
            <a:r>
              <a:rPr lang="en-US" sz="2800" dirty="0">
                <a:latin typeface="+mn-lt"/>
              </a:rPr>
              <a:t> </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xmlns:p14="http://schemas.microsoft.com/office/powerpoint/2010/mai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Avoidance Advantages</a:t>
            </a:r>
          </a:p>
        </p:txBody>
      </p:sp>
      <p:sp>
        <p:nvSpPr>
          <p:cNvPr id="3" name="Content Placeholder 2"/>
          <p:cNvSpPr>
            <a:spLocks noGrp="1"/>
          </p:cNvSpPr>
          <p:nvPr>
            <p:ph idx="4294967295"/>
          </p:nvPr>
        </p:nvSpPr>
        <p:spPr>
          <a:xfrm>
            <a:off x="1905000" y="2133600"/>
            <a:ext cx="8229600" cy="5181600"/>
          </a:xfrm>
        </p:spPr>
        <p:txBody>
          <a:bodyPr>
            <a:normAutofit/>
          </a:bodyPr>
          <a:lstStyle/>
          <a:p>
            <a:r>
              <a:rPr lang="en-NZ" sz="2200" dirty="0"/>
              <a:t>It is not necessary to preempt and rollback processes, as in deadlock detection </a:t>
            </a:r>
          </a:p>
          <a:p>
            <a:r>
              <a:rPr lang="en-NZ" sz="2200" dirty="0"/>
              <a:t>It is less restrictive than deadlock prevention</a:t>
            </a:r>
            <a:endParaRPr lang="en-US" sz="2200" dirty="0"/>
          </a:p>
        </p:txBody>
      </p:sp>
      <p:pic>
        <p:nvPicPr>
          <p:cNvPr id="5" name="Picture 4"/>
          <p:cNvPicPr>
            <a:picLocks noChangeAspect="1"/>
          </p:cNvPicPr>
          <p:nvPr/>
        </p:nvPicPr>
        <p:blipFill>
          <a:blip r:embed="rId3"/>
          <a:stretch>
            <a:fillRect/>
          </a:stretch>
        </p:blipFill>
        <p:spPr>
          <a:xfrm>
            <a:off x="6019800" y="4038600"/>
            <a:ext cx="2667000" cy="1959430"/>
          </a:xfrm>
          <a:prstGeom prst="rect">
            <a:avLst/>
          </a:prstGeom>
        </p:spPr>
      </p:pic>
      <p:pic>
        <p:nvPicPr>
          <p:cNvPr id="9" name="Picture 8"/>
          <p:cNvPicPr>
            <a:picLocks noChangeAspect="1"/>
          </p:cNvPicPr>
          <p:nvPr/>
        </p:nvPicPr>
        <p:blipFill>
          <a:blip r:embed="rId4"/>
          <a:stretch>
            <a:fillRect/>
          </a:stretch>
        </p:blipFill>
        <p:spPr>
          <a:xfrm>
            <a:off x="3429000" y="4191000"/>
            <a:ext cx="1371600" cy="1775566"/>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Avoidance Restrictions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3411862056"/>
              </p:ext>
            </p:extLst>
          </p:nvPr>
        </p:nvGraphicFramePr>
        <p:xfrm>
          <a:off x="2133600" y="2209800"/>
          <a:ext cx="7848600"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9432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8"/>
          </a:xfrm>
        </p:spPr>
        <p:txBody>
          <a:bodyPr/>
          <a:lstStyle/>
          <a:p>
            <a:pPr algn="ctr"/>
            <a:r>
              <a:rPr lang="en-NZ" b="1" dirty="0">
                <a:solidFill>
                  <a:schemeClr val="accent6">
                    <a:lumMod val="75000"/>
                  </a:schemeClr>
                </a:solidFill>
              </a:rPr>
              <a:t>Deadlock Strategies</a:t>
            </a:r>
          </a:p>
        </p:txBody>
      </p:sp>
      <p:graphicFrame>
        <p:nvGraphicFramePr>
          <p:cNvPr id="4" name="Diagram 3"/>
          <p:cNvGraphicFramePr/>
          <p:nvPr/>
        </p:nvGraphicFramePr>
        <p:xfrm>
          <a:off x="2133600" y="2362200"/>
          <a:ext cx="8077200" cy="391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NZ" b="1" dirty="0">
                <a:solidFill>
                  <a:schemeClr val="accent1">
                    <a:lumMod val="75000"/>
                  </a:schemeClr>
                </a:solidFill>
              </a:rPr>
              <a:t>Deadline Detection Algorithms</a:t>
            </a:r>
          </a:p>
        </p:txBody>
      </p:sp>
      <p:sp>
        <p:nvSpPr>
          <p:cNvPr id="3" name="Content Placeholder 2"/>
          <p:cNvSpPr>
            <a:spLocks noGrp="1"/>
          </p:cNvSpPr>
          <p:nvPr>
            <p:ph idx="4294967295"/>
          </p:nvPr>
        </p:nvSpPr>
        <p:spPr>
          <a:xfrm>
            <a:off x="2133600" y="2209800"/>
            <a:ext cx="3505200" cy="5943600"/>
          </a:xfrm>
        </p:spPr>
        <p:txBody>
          <a:bodyPr/>
          <a:lstStyle/>
          <a:p>
            <a:pPr>
              <a:buNone/>
            </a:pPr>
            <a:endParaRPr lang="en-NZ" dirty="0"/>
          </a:p>
          <a:p>
            <a:pPr>
              <a:buSzPct val="135000"/>
              <a:buFont typeface="Wingdings" charset="2"/>
              <a:buChar char="§"/>
            </a:pPr>
            <a:r>
              <a:rPr lang="en-NZ" sz="2200" dirty="0"/>
              <a:t>A check for deadlock can be made as frequently as each resource request or, less frequently, depending on how likely it is for a deadlock to occur</a:t>
            </a:r>
          </a:p>
        </p:txBody>
      </p:sp>
      <p:graphicFrame>
        <p:nvGraphicFramePr>
          <p:cNvPr id="4" name="Diagram 3"/>
          <p:cNvGraphicFramePr/>
          <p:nvPr>
            <p:extLst>
              <p:ext uri="{D42A27DB-BD31-4B8C-83A1-F6EECF244321}">
                <p14:modId xmlns:p14="http://schemas.microsoft.com/office/powerpoint/2010/main" val="4116526767"/>
              </p:ext>
            </p:extLst>
          </p:nvPr>
        </p:nvGraphicFramePr>
        <p:xfrm>
          <a:off x="5715000" y="2133600"/>
          <a:ext cx="5215022"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1828800" y="685800"/>
            <a:ext cx="8484124" cy="3429000"/>
          </a:xfrm>
          <a:prstGeom prst="rect">
            <a:avLst/>
          </a:prstGeom>
        </p:spPr>
      </p:pic>
      <p:sp>
        <p:nvSpPr>
          <p:cNvPr id="2" name="TextBox 1">
            <a:extLst>
              <a:ext uri="{FF2B5EF4-FFF2-40B4-BE49-F238E27FC236}">
                <a16:creationId xmlns:a16="http://schemas.microsoft.com/office/drawing/2014/main" id="{F587298F-A464-5741-8624-5198DF1D053E}"/>
              </a:ext>
            </a:extLst>
          </p:cNvPr>
          <p:cNvSpPr txBox="1"/>
          <p:nvPr/>
        </p:nvSpPr>
        <p:spPr>
          <a:xfrm>
            <a:off x="2209800" y="4267201"/>
            <a:ext cx="7467600" cy="2585323"/>
          </a:xfrm>
          <a:prstGeom prst="rect">
            <a:avLst/>
          </a:prstGeom>
          <a:noFill/>
        </p:spPr>
        <p:txBody>
          <a:bodyPr wrap="square" rtlCol="0">
            <a:spAutoFit/>
          </a:bodyPr>
          <a:lstStyle/>
          <a:p>
            <a:r>
              <a:rPr lang="en-NZ" sz="1600" dirty="0"/>
              <a:t>1.  </a:t>
            </a:r>
            <a:r>
              <a:rPr lang="en-NZ" sz="1600" u="sng" dirty="0"/>
              <a:t>Mark</a:t>
            </a:r>
            <a:r>
              <a:rPr lang="en-NZ" sz="1600" dirty="0"/>
              <a:t> P4, because P4 has no allocated resources.</a:t>
            </a:r>
          </a:p>
          <a:p>
            <a:r>
              <a:rPr lang="pl-PL" sz="1600" dirty="0"/>
              <a:t>2. Set temp </a:t>
            </a:r>
            <a:r>
              <a:rPr lang="pl-PL" sz="1600" dirty="0" err="1"/>
              <a:t>vector</a:t>
            </a:r>
            <a:r>
              <a:rPr lang="pl-PL" sz="1600" dirty="0"/>
              <a:t> to </a:t>
            </a:r>
            <a:r>
              <a:rPr lang="pl-PL" sz="1600" dirty="0" err="1"/>
              <a:t>initial</a:t>
            </a:r>
            <a:r>
              <a:rPr lang="pl-PL" sz="1600" dirty="0"/>
              <a:t> </a:t>
            </a:r>
            <a:r>
              <a:rPr lang="pl-PL" sz="1600" dirty="0" err="1"/>
              <a:t>allocation</a:t>
            </a:r>
            <a:r>
              <a:rPr lang="pl-PL" sz="1600" dirty="0"/>
              <a:t> </a:t>
            </a:r>
            <a:r>
              <a:rPr lang="pl-PL" sz="1600" dirty="0" err="1"/>
              <a:t>vector</a:t>
            </a:r>
            <a:r>
              <a:rPr lang="pl-PL" sz="1600" dirty="0"/>
              <a:t> </a:t>
            </a:r>
            <a:r>
              <a:rPr lang="pl-PL" sz="1600" b="1" dirty="0"/>
              <a:t>W</a:t>
            </a:r>
            <a:r>
              <a:rPr lang="en-NZ" sz="1600" b="1" dirty="0"/>
              <a:t> </a:t>
            </a:r>
            <a:r>
              <a:rPr lang="en-NZ" sz="1600" dirty="0"/>
              <a:t>=</a:t>
            </a:r>
            <a:r>
              <a:rPr lang="pl-PL" sz="1600" dirty="0"/>
              <a:t> (0 0 0 0 1).</a:t>
            </a:r>
            <a:endParaRPr lang="en-NZ" sz="1600" dirty="0"/>
          </a:p>
          <a:p>
            <a:r>
              <a:rPr lang="en-NZ" sz="1600" dirty="0"/>
              <a:t>3. The </a:t>
            </a:r>
            <a:r>
              <a:rPr lang="en-NZ" sz="1600" b="1" dirty="0"/>
              <a:t>request</a:t>
            </a:r>
            <a:r>
              <a:rPr lang="en-NZ" sz="1600" dirty="0"/>
              <a:t> of process P3 is less than or equal to </a:t>
            </a:r>
            <a:r>
              <a:rPr lang="en-NZ" sz="1600" b="1" dirty="0"/>
              <a:t>W</a:t>
            </a:r>
            <a:r>
              <a:rPr lang="en-NZ" sz="1600" dirty="0"/>
              <a:t>, so </a:t>
            </a:r>
            <a:r>
              <a:rPr lang="en-NZ" sz="1600" u="sng" dirty="0"/>
              <a:t>Mark</a:t>
            </a:r>
            <a:r>
              <a:rPr lang="en-NZ" sz="1600" dirty="0"/>
              <a:t> P3</a:t>
            </a:r>
          </a:p>
          <a:p>
            <a:r>
              <a:rPr lang="en-NZ" sz="1600" dirty="0"/>
              <a:t>     set W=W + (0 0 0 1 0) = (0 0 0 1 1).</a:t>
            </a:r>
          </a:p>
          <a:p>
            <a:r>
              <a:rPr lang="en-NZ" sz="1600" dirty="0"/>
              <a:t>4. No other unmarked process has a row in Q that is less than or equal to W.</a:t>
            </a:r>
          </a:p>
          <a:p>
            <a:pPr lvl="1"/>
            <a:r>
              <a:rPr lang="en-NZ" sz="1600" dirty="0"/>
              <a:t>Therefore, terminate the algorithm.</a:t>
            </a:r>
          </a:p>
          <a:p>
            <a:pPr lvl="1"/>
            <a:endParaRPr lang="en-NZ" sz="1600" dirty="0"/>
          </a:p>
          <a:p>
            <a:r>
              <a:rPr lang="en-NZ" sz="1600" dirty="0"/>
              <a:t>The algorithm concludes with P1 and P2 unmarked, indicating that these processes are </a:t>
            </a:r>
            <a:r>
              <a:rPr lang="en-NZ" sz="1600" b="1" dirty="0">
                <a:solidFill>
                  <a:srgbClr val="FF0000"/>
                </a:solidFill>
              </a:rPr>
              <a:t>deadlocked</a:t>
            </a:r>
            <a:r>
              <a:rPr lang="en-NZ" sz="1600" dirty="0"/>
              <a:t>.</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xmlns:p14="http://schemas.microsoft.com/office/powerpoint/2010/mai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447800"/>
            <a:ext cx="8001000" cy="685800"/>
          </a:xfrm>
        </p:spPr>
        <p:txBody>
          <a:bodyPr/>
          <a:lstStyle/>
          <a:p>
            <a:r>
              <a:rPr lang="en-US" b="1" dirty="0">
                <a:solidFill>
                  <a:schemeClr val="accent1">
                    <a:lumMod val="75000"/>
                  </a:schemeClr>
                </a:solidFill>
              </a:rPr>
              <a:t>Recovery Strategies </a:t>
            </a:r>
            <a:br>
              <a:rPr lang="en-US" dirty="0"/>
            </a:br>
            <a:endParaRPr lang="en-US" dirty="0"/>
          </a:p>
        </p:txBody>
      </p:sp>
      <p:sp>
        <p:nvSpPr>
          <p:cNvPr id="3" name="Content Placeholder 2"/>
          <p:cNvSpPr>
            <a:spLocks noGrp="1"/>
          </p:cNvSpPr>
          <p:nvPr>
            <p:ph idx="4294967295"/>
          </p:nvPr>
        </p:nvSpPr>
        <p:spPr>
          <a:xfrm>
            <a:off x="1828800" y="2362200"/>
            <a:ext cx="8229600" cy="4876800"/>
          </a:xfrm>
        </p:spPr>
        <p:txBody>
          <a:bodyPr>
            <a:normAutofit/>
          </a:bodyPr>
          <a:lstStyle/>
          <a:p>
            <a:r>
              <a:rPr lang="en-US" sz="2200" dirty="0"/>
              <a:t>Abort all deadlocked processes</a:t>
            </a:r>
          </a:p>
          <a:p>
            <a:r>
              <a:rPr lang="en-US" sz="2200" dirty="0"/>
              <a:t>Back up each deadlocked process to some previously defined checkpoint and restart all processes</a:t>
            </a:r>
          </a:p>
          <a:p>
            <a:r>
              <a:rPr lang="en-NZ" sz="2200" dirty="0"/>
              <a:t>Successively abort deadlocked </a:t>
            </a:r>
            <a:r>
              <a:rPr lang="en-NZ" sz="2200" u="sng" dirty="0"/>
              <a:t>processes</a:t>
            </a:r>
            <a:r>
              <a:rPr lang="en-NZ" sz="2200" dirty="0"/>
              <a:t> until deadlock no longer exists</a:t>
            </a:r>
          </a:p>
          <a:p>
            <a:r>
              <a:rPr lang="en-NZ" sz="2200" dirty="0"/>
              <a:t>Successively preempt </a:t>
            </a:r>
            <a:r>
              <a:rPr lang="en-NZ" sz="2200" u="sng" dirty="0"/>
              <a:t>resources</a:t>
            </a:r>
            <a:r>
              <a:rPr lang="en-NZ" sz="2200" dirty="0"/>
              <a:t> until deadlock no longer exists</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rcRect b="3110"/>
          <a:stretch>
            <a:fillRect/>
          </a:stretch>
        </p:blipFill>
        <p:spPr>
          <a:xfrm>
            <a:off x="1981200" y="685801"/>
            <a:ext cx="6057900" cy="5697217"/>
          </a:xfrm>
          <a:prstGeom prst="rect">
            <a:avLst/>
          </a:prstGeom>
          <a:ln>
            <a:solidFill>
              <a:schemeClr val="tx1"/>
            </a:solidFill>
          </a:ln>
        </p:spPr>
      </p:pic>
      <p:sp>
        <p:nvSpPr>
          <p:cNvPr id="6" name="TextBox 5"/>
          <p:cNvSpPr txBox="1"/>
          <p:nvPr/>
        </p:nvSpPr>
        <p:spPr>
          <a:xfrm>
            <a:off x="8229600" y="685801"/>
            <a:ext cx="1981200" cy="4459683"/>
          </a:xfrm>
          <a:prstGeom prst="rect">
            <a:avLst/>
          </a:prstGeom>
          <a:noFill/>
        </p:spPr>
        <p:txBody>
          <a:bodyPr wrap="square" rtlCol="0">
            <a:spAutoFit/>
          </a:bodyPr>
          <a:lstStyle/>
          <a:p>
            <a:pPr algn="ctr"/>
            <a:endParaRPr lang="en-US" sz="2400" b="1" dirty="0">
              <a:latin typeface="+mn-lt"/>
            </a:endParaRPr>
          </a:p>
          <a:p>
            <a:pPr algn="ctr"/>
            <a:endParaRPr lang="en-US" sz="2400" b="1" dirty="0">
              <a:latin typeface="+mn-lt"/>
            </a:endParaRPr>
          </a:p>
          <a:p>
            <a:pPr algn="ctr"/>
            <a:r>
              <a:rPr lang="en-US" sz="2400" b="1" dirty="0">
                <a:latin typeface="+mn-lt"/>
              </a:rPr>
              <a:t>Table 6.1</a:t>
            </a:r>
          </a:p>
          <a:p>
            <a:pPr algn="ctr"/>
            <a:endParaRPr lang="en-US" b="1" dirty="0">
              <a:latin typeface="+mn-lt"/>
            </a:endParaRPr>
          </a:p>
          <a:p>
            <a:pPr algn="ctr">
              <a:lnSpc>
                <a:spcPct val="120000"/>
              </a:lnSpc>
              <a:spcBef>
                <a:spcPts val="0"/>
              </a:spcBef>
            </a:pPr>
            <a:r>
              <a:rPr lang="en-US" b="1" dirty="0">
                <a:latin typeface="+mn-lt"/>
              </a:rPr>
              <a:t>  Summary of Deadlock Detection, Prevention, and Avoidance</a:t>
            </a:r>
          </a:p>
          <a:p>
            <a:pPr algn="ctr">
              <a:lnSpc>
                <a:spcPct val="120000"/>
              </a:lnSpc>
              <a:spcBef>
                <a:spcPts val="0"/>
              </a:spcBef>
            </a:pPr>
            <a:r>
              <a:rPr lang="en-US" b="1" dirty="0">
                <a:latin typeface="+mn-lt"/>
              </a:rPr>
              <a:t>Approaches for Operating Systems [ISLO80]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58136744"/>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228601"/>
            <a:ext cx="7824788" cy="1068387"/>
          </a:xfrm>
        </p:spPr>
        <p:txBody>
          <a:bodyPr/>
          <a:lstStyle/>
          <a:p>
            <a:pPr algn="ctr"/>
            <a:r>
              <a:rPr lang="en-US" sz="4000" b="1" dirty="0">
                <a:solidFill>
                  <a:schemeClr val="accent1">
                    <a:lumMod val="75000"/>
                  </a:schemeClr>
                </a:solidFill>
              </a:rPr>
              <a:t>Dining Philosophers Problem</a:t>
            </a:r>
          </a:p>
        </p:txBody>
      </p:sp>
      <p:sp>
        <p:nvSpPr>
          <p:cNvPr id="6" name="TextBox 5"/>
          <p:cNvSpPr txBox="1"/>
          <p:nvPr/>
        </p:nvSpPr>
        <p:spPr>
          <a:xfrm>
            <a:off x="1676400" y="1676401"/>
            <a:ext cx="2819400" cy="4524315"/>
          </a:xfrm>
          <a:prstGeom prst="rect">
            <a:avLst/>
          </a:prstGeom>
          <a:noFill/>
        </p:spPr>
        <p:txBody>
          <a:bodyPr wrap="square" rtlCol="0">
            <a:spAutoFit/>
          </a:bodyPr>
          <a:lstStyle/>
          <a:p>
            <a:pPr lvl="1">
              <a:buClr>
                <a:schemeClr val="accent1"/>
              </a:buClr>
              <a:buFont typeface="Wingdings" charset="2"/>
              <a:buChar char="§"/>
            </a:pPr>
            <a:r>
              <a:rPr lang="en-NZ" sz="2400" dirty="0">
                <a:latin typeface="+mn-lt"/>
              </a:rPr>
              <a:t>No two philosophers can use the same fork at the same time (mutual exclusion)</a:t>
            </a:r>
          </a:p>
          <a:p>
            <a:pPr lvl="1">
              <a:buClr>
                <a:schemeClr val="accent1"/>
              </a:buClr>
              <a:buFont typeface="Wingdings" charset="2"/>
              <a:buChar char="§"/>
            </a:pPr>
            <a:endParaRPr lang="en-NZ" sz="2400" dirty="0">
              <a:latin typeface="+mn-lt"/>
            </a:endParaRPr>
          </a:p>
          <a:p>
            <a:pPr lvl="1">
              <a:buClr>
                <a:schemeClr val="accent1"/>
              </a:buClr>
              <a:buFont typeface="Wingdings" charset="2"/>
              <a:buChar char="§"/>
            </a:pPr>
            <a:r>
              <a:rPr lang="en-NZ" sz="2400" dirty="0">
                <a:latin typeface="+mn-lt"/>
              </a:rPr>
              <a:t>No philosopher must starve to death (avoid deadlock and starvation)</a:t>
            </a:r>
          </a:p>
        </p:txBody>
      </p:sp>
      <p:pic>
        <p:nvPicPr>
          <p:cNvPr id="5" name="Picture 4" descr="f11.pdf"/>
          <p:cNvPicPr>
            <a:picLocks noChangeAspect="1"/>
          </p:cNvPicPr>
          <p:nvPr/>
        </p:nvPicPr>
        <p:blipFill>
          <a:blip r:embed="rId3"/>
          <a:srcRect t="5455" b="5455"/>
          <a:stretch>
            <a:fillRect/>
          </a:stretch>
        </p:blipFill>
        <p:spPr>
          <a:xfrm>
            <a:off x="5486400" y="1282272"/>
            <a:ext cx="4613564" cy="531901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xmlns:p14="http://schemas.microsoft.com/office/powerpoint/2010/mai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a:fillRect/>
          </a:stretch>
        </p:blipFill>
        <p:spPr>
          <a:xfrm>
            <a:off x="1981200" y="685800"/>
            <a:ext cx="8245176" cy="4909472"/>
          </a:xfrm>
          <a:prstGeom prst="rect">
            <a:avLst/>
          </a:prstGeom>
        </p:spPr>
      </p:pic>
      <p:sp>
        <p:nvSpPr>
          <p:cNvPr id="14" name="TextBox 13"/>
          <p:cNvSpPr txBox="1"/>
          <p:nvPr/>
        </p:nvSpPr>
        <p:spPr>
          <a:xfrm>
            <a:off x="1828800" y="5791200"/>
            <a:ext cx="8534400" cy="369332"/>
          </a:xfrm>
          <a:prstGeom prst="rect">
            <a:avLst/>
          </a:prstGeom>
          <a:noFill/>
        </p:spPr>
        <p:txBody>
          <a:bodyPr wrap="square" rtlCol="0">
            <a:spAutoFit/>
          </a:bodyPr>
          <a:lstStyle/>
          <a:p>
            <a:pPr algn="ctr"/>
            <a:r>
              <a:rPr lang="en-US" b="1" dirty="0">
                <a:latin typeface="+mn-lt"/>
              </a:rPr>
              <a:t>Figure 6.12      A First Solution to the Dining Philosophers Problem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133600" y="685800"/>
            <a:ext cx="7848600" cy="5145556"/>
          </a:xfrm>
          <a:prstGeom prst="rect">
            <a:avLst/>
          </a:prstGeom>
        </p:spPr>
      </p:pic>
      <p:sp>
        <p:nvSpPr>
          <p:cNvPr id="7" name="TextBox 6"/>
          <p:cNvSpPr txBox="1"/>
          <p:nvPr/>
        </p:nvSpPr>
        <p:spPr>
          <a:xfrm>
            <a:off x="1828800" y="6096000"/>
            <a:ext cx="8458200" cy="369332"/>
          </a:xfrm>
          <a:prstGeom prst="rect">
            <a:avLst/>
          </a:prstGeom>
          <a:noFill/>
        </p:spPr>
        <p:txBody>
          <a:bodyPr wrap="square" rtlCol="0">
            <a:spAutoFit/>
          </a:bodyPr>
          <a:lstStyle/>
          <a:p>
            <a:pPr algn="ctr"/>
            <a:r>
              <a:rPr lang="en-US" b="1" dirty="0">
                <a:latin typeface="+mn-lt"/>
              </a:rPr>
              <a:t>Figure 6.13   A Second Solution to the Dining Philosophers Problem </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xmlns:p14="http://schemas.microsoft.com/office/powerpoint/2010/mai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1" y="456253"/>
            <a:ext cx="3809999" cy="1067748"/>
          </a:xfrm>
        </p:spPr>
        <p:txBody>
          <a:bodyPr/>
          <a:lstStyle/>
          <a:p>
            <a:r>
              <a:rPr lang="en-NZ" b="1" dirty="0">
                <a:solidFill>
                  <a:schemeClr val="accent6">
                    <a:lumMod val="50000"/>
                  </a:schemeClr>
                </a:solidFill>
              </a:rPr>
              <a:t>Semaphores</a:t>
            </a:r>
          </a:p>
        </p:txBody>
      </p:sp>
      <p:sp>
        <p:nvSpPr>
          <p:cNvPr id="3" name="Content Placeholder 2"/>
          <p:cNvSpPr>
            <a:spLocks noGrp="1"/>
          </p:cNvSpPr>
          <p:nvPr>
            <p:ph idx="4294967295"/>
          </p:nvPr>
        </p:nvSpPr>
        <p:spPr>
          <a:xfrm>
            <a:off x="1981200" y="2133600"/>
            <a:ext cx="8305800" cy="5029200"/>
          </a:xfrm>
        </p:spPr>
        <p:txBody>
          <a:bodyPr/>
          <a:lstStyle/>
          <a:p>
            <a:r>
              <a:rPr lang="en-NZ" dirty="0"/>
              <a:t>User level:</a:t>
            </a:r>
          </a:p>
          <a:p>
            <a:pPr marL="917575" lvl="2" indent="-288925">
              <a:buSzPct val="119000"/>
              <a:buFont typeface="Wingdings" charset="2"/>
              <a:buChar char="§"/>
            </a:pPr>
            <a:r>
              <a:rPr lang="en-NZ" sz="2000" dirty="0"/>
              <a:t>Linux provides a semaphore interface corresponding to that in UNIX SVR4</a:t>
            </a:r>
          </a:p>
          <a:p>
            <a:pPr marL="282575" lvl="1" indent="-282575">
              <a:spcBef>
                <a:spcPts val="1800"/>
              </a:spcBef>
            </a:pPr>
            <a:r>
              <a:rPr lang="en-NZ" sz="2000" dirty="0"/>
              <a:t>Internally:</a:t>
            </a:r>
          </a:p>
          <a:p>
            <a:pPr marL="917575" lvl="2" indent="-288925">
              <a:buSzPct val="119000"/>
              <a:buFont typeface="Wingdings" charset="2"/>
              <a:buChar char="§"/>
            </a:pPr>
            <a:r>
              <a:rPr lang="en-NZ" sz="2000" dirty="0"/>
              <a:t>implemented as functions within the kernel and are more efficient than user-visable semaphores</a:t>
            </a:r>
          </a:p>
          <a:p>
            <a:pPr marL="282575" lvl="1" indent="-282575">
              <a:spcBef>
                <a:spcPts val="1800"/>
              </a:spcBef>
            </a:pPr>
            <a:r>
              <a:rPr lang="en-NZ" sz="2000" dirty="0"/>
              <a:t>Three types of kernel semaphores:</a:t>
            </a:r>
          </a:p>
          <a:p>
            <a:pPr marL="855663" lvl="1" indent="-227013"/>
            <a:r>
              <a:rPr lang="en-NZ" sz="2000" dirty="0"/>
              <a:t> binary semaphores</a:t>
            </a:r>
          </a:p>
          <a:p>
            <a:pPr marL="855663" lvl="1" indent="-227013"/>
            <a:r>
              <a:rPr lang="en-NZ" sz="2000" dirty="0"/>
              <a:t> counting semaphores</a:t>
            </a:r>
          </a:p>
          <a:p>
            <a:pPr marL="855663" lvl="1" indent="-227013"/>
            <a:r>
              <a:rPr lang="en-NZ" sz="2000" dirty="0"/>
              <a:t> reader-writer semaphores</a:t>
            </a:r>
          </a:p>
          <a:p>
            <a:pPr lvl="1"/>
            <a:endParaRPr lang="en-NZ" sz="2400" dirty="0"/>
          </a:p>
        </p:txBody>
      </p:sp>
      <p:pic>
        <p:nvPicPr>
          <p:cNvPr id="4" name="Picture 3"/>
          <p:cNvPicPr>
            <a:picLocks noChangeAspect="1"/>
          </p:cNvPicPr>
          <p:nvPr/>
        </p:nvPicPr>
        <p:blipFill>
          <a:blip r:embed="rId3"/>
          <a:stretch>
            <a:fillRect/>
          </a:stretch>
        </p:blipFill>
        <p:spPr>
          <a:xfrm>
            <a:off x="7543800" y="4648200"/>
            <a:ext cx="1955800" cy="1689100"/>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2201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Summary</a:t>
            </a:r>
          </a:p>
        </p:txBody>
      </p:sp>
      <p:sp>
        <p:nvSpPr>
          <p:cNvPr id="3" name="Content Placeholder 2"/>
          <p:cNvSpPr>
            <a:spLocks noGrp="1"/>
          </p:cNvSpPr>
          <p:nvPr>
            <p:ph sz="half" idx="1"/>
          </p:nvPr>
        </p:nvSpPr>
        <p:spPr>
          <a:xfrm>
            <a:off x="2057400" y="2133600"/>
            <a:ext cx="7391400" cy="4572000"/>
          </a:xfrm>
        </p:spPr>
        <p:txBody>
          <a:bodyPr>
            <a:normAutofit fontScale="62500" lnSpcReduction="20000"/>
          </a:bodyPr>
          <a:lstStyle/>
          <a:p>
            <a:pPr>
              <a:lnSpc>
                <a:spcPct val="70000"/>
              </a:lnSpc>
              <a:spcAft>
                <a:spcPts val="400"/>
              </a:spcAft>
            </a:pPr>
            <a:r>
              <a:rPr lang="en-US" sz="2800" dirty="0"/>
              <a:t>Principles of deadlock</a:t>
            </a:r>
          </a:p>
          <a:p>
            <a:pPr marL="804863" lvl="1" indent="-288925">
              <a:lnSpc>
                <a:spcPct val="70000"/>
              </a:lnSpc>
              <a:spcAft>
                <a:spcPts val="400"/>
              </a:spcAft>
            </a:pPr>
            <a:r>
              <a:rPr lang="en-US" sz="2595" dirty="0"/>
              <a:t>Reusable/consumable resources</a:t>
            </a:r>
            <a:endParaRPr lang="en-US" dirty="0"/>
          </a:p>
          <a:p>
            <a:pPr marL="804863" lvl="1" indent="-288925">
              <a:lnSpc>
                <a:spcPct val="70000"/>
              </a:lnSpc>
              <a:spcAft>
                <a:spcPts val="400"/>
              </a:spcAft>
            </a:pPr>
            <a:r>
              <a:rPr lang="en-US" sz="2800" dirty="0"/>
              <a:t>Resource allocation graphs</a:t>
            </a:r>
          </a:p>
          <a:p>
            <a:pPr marL="804863" lvl="1" indent="-288925">
              <a:lnSpc>
                <a:spcPct val="70000"/>
              </a:lnSpc>
              <a:spcAft>
                <a:spcPts val="400"/>
              </a:spcAft>
            </a:pPr>
            <a:r>
              <a:rPr lang="en-US" sz="2800" dirty="0"/>
              <a:t>Conditions for deadlock</a:t>
            </a:r>
          </a:p>
          <a:p>
            <a:pPr>
              <a:lnSpc>
                <a:spcPct val="70000"/>
              </a:lnSpc>
              <a:spcAft>
                <a:spcPts val="400"/>
              </a:spcAft>
            </a:pPr>
            <a:r>
              <a:rPr lang="en-US" sz="2811" dirty="0"/>
              <a:t>Deadlock prevention</a:t>
            </a:r>
          </a:p>
          <a:p>
            <a:pPr lvl="2">
              <a:lnSpc>
                <a:spcPct val="70000"/>
              </a:lnSpc>
              <a:spcAft>
                <a:spcPts val="400"/>
              </a:spcAft>
            </a:pPr>
            <a:r>
              <a:rPr lang="en-US" sz="2811" dirty="0"/>
              <a:t>Mutual exclusion</a:t>
            </a:r>
          </a:p>
          <a:p>
            <a:pPr lvl="2">
              <a:lnSpc>
                <a:spcPct val="70000"/>
              </a:lnSpc>
              <a:spcAft>
                <a:spcPts val="400"/>
              </a:spcAft>
            </a:pPr>
            <a:r>
              <a:rPr lang="en-US" sz="2811" dirty="0"/>
              <a:t>Hold and wait</a:t>
            </a:r>
          </a:p>
          <a:p>
            <a:pPr lvl="2">
              <a:lnSpc>
                <a:spcPct val="70000"/>
              </a:lnSpc>
              <a:spcAft>
                <a:spcPts val="400"/>
              </a:spcAft>
            </a:pPr>
            <a:r>
              <a:rPr lang="en-US" sz="2811" dirty="0"/>
              <a:t>No preemption</a:t>
            </a:r>
          </a:p>
          <a:p>
            <a:pPr lvl="2">
              <a:lnSpc>
                <a:spcPct val="70000"/>
              </a:lnSpc>
              <a:spcAft>
                <a:spcPts val="400"/>
              </a:spcAft>
            </a:pPr>
            <a:r>
              <a:rPr lang="en-US" sz="2811" dirty="0"/>
              <a:t>Circular wait</a:t>
            </a:r>
          </a:p>
          <a:p>
            <a:pPr marL="282575" lvl="2">
              <a:lnSpc>
                <a:spcPct val="70000"/>
              </a:lnSpc>
              <a:spcBef>
                <a:spcPts val="1800"/>
              </a:spcBef>
              <a:spcAft>
                <a:spcPts val="400"/>
              </a:spcAft>
            </a:pPr>
            <a:r>
              <a:rPr lang="en-US" sz="2727" dirty="0"/>
              <a:t>Deadlock avoidance</a:t>
            </a:r>
          </a:p>
          <a:p>
            <a:pPr lvl="2">
              <a:lnSpc>
                <a:spcPct val="70000"/>
              </a:lnSpc>
              <a:spcAft>
                <a:spcPts val="400"/>
              </a:spcAft>
            </a:pPr>
            <a:r>
              <a:rPr lang="en-US" sz="2811" dirty="0"/>
              <a:t>Process initiation denial</a:t>
            </a:r>
          </a:p>
          <a:p>
            <a:pPr lvl="2">
              <a:lnSpc>
                <a:spcPct val="70000"/>
              </a:lnSpc>
              <a:spcAft>
                <a:spcPts val="400"/>
              </a:spcAft>
            </a:pPr>
            <a:r>
              <a:rPr lang="en-US" sz="2811" dirty="0"/>
              <a:t>Resource allocation denial</a:t>
            </a:r>
          </a:p>
          <a:p>
            <a:pPr marL="282575" lvl="2">
              <a:lnSpc>
                <a:spcPct val="70000"/>
              </a:lnSpc>
              <a:spcBef>
                <a:spcPts val="1800"/>
              </a:spcBef>
              <a:spcAft>
                <a:spcPts val="400"/>
              </a:spcAft>
            </a:pPr>
            <a:r>
              <a:rPr lang="en-US" sz="2737" dirty="0"/>
              <a:t>Deadlock detection</a:t>
            </a:r>
          </a:p>
          <a:p>
            <a:pPr lvl="2">
              <a:lnSpc>
                <a:spcPct val="70000"/>
              </a:lnSpc>
              <a:spcAft>
                <a:spcPts val="400"/>
              </a:spcAft>
            </a:pPr>
            <a:r>
              <a:rPr lang="en-US" sz="2811" dirty="0"/>
              <a:t>Deadlock detection algorithm</a:t>
            </a:r>
          </a:p>
          <a:p>
            <a:pPr lvl="2">
              <a:lnSpc>
                <a:spcPct val="70000"/>
              </a:lnSpc>
              <a:spcAft>
                <a:spcPts val="400"/>
              </a:spcAft>
            </a:pPr>
            <a:r>
              <a:rPr lang="en-US" sz="2811" dirty="0"/>
              <a:t>Recovery</a:t>
            </a:r>
          </a:p>
          <a:p>
            <a:pPr lvl="2"/>
            <a:endParaRPr lang="en-US" sz="2811" dirty="0"/>
          </a:p>
        </p:txBody>
      </p:sp>
    </p:spTree>
  </p:cSld>
  <p:clrMapOvr>
    <a:masterClrMapping/>
  </p:clrMapOv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6931</Words>
  <Application>Microsoft Office PowerPoint</Application>
  <PresentationFormat>Widescreen</PresentationFormat>
  <Paragraphs>488</Paragraphs>
  <Slides>43</Slides>
  <Notes>40</Notes>
  <HiddenSlides>1</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43</vt:i4>
      </vt:variant>
    </vt:vector>
  </HeadingPairs>
  <TitlesOfParts>
    <vt:vector size="51" baseType="lpstr">
      <vt:lpstr>Arial</vt:lpstr>
      <vt:lpstr>Calibri</vt:lpstr>
      <vt:lpstr>Calisto MT</vt:lpstr>
      <vt:lpstr>Times New Roman</vt:lpstr>
      <vt:lpstr>Wingdings</vt:lpstr>
      <vt:lpstr>Custom Design</vt:lpstr>
      <vt:lpstr>Codex</vt:lpstr>
      <vt:lpstr>1_Custom Design</vt:lpstr>
      <vt:lpstr>Chapter 6 Concurrency: Deadlock and Starvation</vt:lpstr>
      <vt:lpstr>Deadlock</vt:lpstr>
      <vt:lpstr>PowerPoint Presentation</vt:lpstr>
      <vt:lpstr>PowerPoint Presentation</vt:lpstr>
      <vt:lpstr>PowerPoint Presentation</vt:lpstr>
      <vt:lpstr>PowerPoint Presentation</vt:lpstr>
      <vt:lpstr>PowerPoint Presentation</vt:lpstr>
      <vt:lpstr>Resource Categories</vt:lpstr>
      <vt:lpstr>PowerPoint Presentation</vt:lpstr>
      <vt:lpstr>Example 2: Memory Request</vt:lpstr>
      <vt:lpstr>Consumable Resources Deadlock</vt:lpstr>
      <vt:lpstr>PowerPoint Presentation</vt:lpstr>
      <vt:lpstr>PowerPoint Presentation</vt:lpstr>
      <vt:lpstr>PowerPoint Presentation</vt:lpstr>
      <vt:lpstr>PowerPoint Presentation</vt:lpstr>
      <vt:lpstr>Conditions for Deadlock</vt:lpstr>
      <vt:lpstr>Dealing with Deadlock</vt:lpstr>
      <vt:lpstr>Deadlock Prevention Strategy</vt:lpstr>
      <vt:lpstr>Deadlock Condition Prevention  </vt:lpstr>
      <vt:lpstr>PowerPoint Presentation</vt:lpstr>
      <vt:lpstr>Deadlock Avoidance</vt:lpstr>
      <vt:lpstr>Two Approaches to  Deadlock Avoidance</vt:lpstr>
      <vt:lpstr>Resource Allocation Denial</vt:lpstr>
      <vt:lpstr>PowerPoint Presentation</vt:lpstr>
      <vt:lpstr>PowerPoint Presentation</vt:lpstr>
      <vt:lpstr>PowerPoint Presentation</vt:lpstr>
      <vt:lpstr>PowerPoint Presentation</vt:lpstr>
      <vt:lpstr>PowerPoint Presentation</vt:lpstr>
      <vt:lpstr>PowerPoint Presentation</vt:lpstr>
      <vt:lpstr>Deadlock Avoidance Advantages</vt:lpstr>
      <vt:lpstr>Deadlock Avoidance Restrictions</vt:lpstr>
      <vt:lpstr>PowerPoint Presentation</vt:lpstr>
      <vt:lpstr>Deadlock Strategies</vt:lpstr>
      <vt:lpstr>Deadline Detection Algorithms</vt:lpstr>
      <vt:lpstr>PowerPoint Presentation</vt:lpstr>
      <vt:lpstr>Recovery Strategies  </vt:lpstr>
      <vt:lpstr>PowerPoint Presentation</vt:lpstr>
      <vt:lpstr>PowerPoint Presentation</vt:lpstr>
      <vt:lpstr>Dining Philosophers Problem</vt:lpstr>
      <vt:lpstr>PowerPoint Presentation</vt:lpstr>
      <vt:lpstr>PowerPoint Presentation</vt:lpstr>
      <vt:lpstr>Semaphores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2014-01-22T14:40:25Z</dcterms:created>
  <dcterms:modified xsi:type="dcterms:W3CDTF">2024-07-08T09:29:49Z</dcterms:modified>
</cp:coreProperties>
</file>